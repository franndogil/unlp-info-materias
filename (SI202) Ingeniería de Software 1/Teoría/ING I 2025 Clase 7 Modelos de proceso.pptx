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797675" cy="98742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ja2OmpTql3W2TKgAdnLx9NsTjC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DDFE37-8278-411E-9254-FB3EDE016CCE}">
  <a:tblStyle styleId="{19DDFE37-8278-411E-9254-FB3EDE016CC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DE7E7"/>
          </a:solidFill>
        </a:fill>
      </a:tcStyle>
    </a:wholeTbl>
    <a:band1H>
      <a:tcTxStyle/>
      <a:tcStyle>
        <a:tcBdr/>
        <a:fill>
          <a:solidFill>
            <a:srgbClr val="DACA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ACA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  <p:sp>
        <p:nvSpPr>
          <p:cNvPr id="282" name="Google Shape;282;p1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283" name="Google Shape;283;p1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284" name="Google Shape;284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saco para la venta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saco a medida (sabiendo el modelo pero ajustando las medidas)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saco a medida (no sabiendo claramente el modelo)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ES"/>
              <a:t>Cocer un traje (saco, chaleco, pantalón)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91" name="Google Shape;291;p1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292" name="Google Shape;292;p19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293" name="Google Shape;293;p19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294" name="Google Shape;294;p19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20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6" name="Google Shape;326;p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5" name="Google Shape;335;p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p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3" name="Google Shape;353;p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2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2" name="Google Shape;382;p2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383" name="Google Shape;383;p22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384" name="Google Shape;384;p22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385" name="Google Shape;385;p22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4" name="Google Shape;3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6" name="Google Shape;406;p2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7" name="Google Shape;407;p2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408" name="Google Shape;408;p24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409" name="Google Shape;409;p24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410" name="Google Shape;410;p24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0" name="Google Shape;420;p2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21" name="Google Shape;421;p2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422" name="Google Shape;422;p25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423" name="Google Shape;423;p25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424" name="Google Shape;424;p25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6" name="Google Shape;446;p2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7" name="Google Shape;447;p2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448" name="Google Shape;448;p27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449" name="Google Shape;449;p27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450" name="Google Shape;450;p27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0" name="Google Shape;460;p2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1" name="Google Shape;461;p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462" name="Google Shape;462;p28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463" name="Google Shape;463;p28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464" name="Google Shape;464;p28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2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4" name="Google Shape;474;p2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475" name="Google Shape;475;p29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476" name="Google Shape;476;p29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477" name="Google Shape;477;p29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30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p3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000000"/>
                </a:solidFill>
              </a:rPr>
              <a:t>Ingeniería de Software I </a:t>
            </a:r>
            <a:endParaRPr/>
          </a:p>
        </p:txBody>
      </p:sp>
      <p:sp>
        <p:nvSpPr>
          <p:cNvPr id="488" name="Google Shape;488;p30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000000"/>
                </a:solidFill>
              </a:rPr>
              <a:t>2013</a:t>
            </a:r>
            <a:endParaRPr/>
          </a:p>
        </p:txBody>
      </p:sp>
      <p:sp>
        <p:nvSpPr>
          <p:cNvPr id="489" name="Google Shape;489;p30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>
                <a:solidFill>
                  <a:srgbClr val="000000"/>
                </a:solidFill>
              </a:rPr>
              <a:t>Facultad de Informática UNLP</a:t>
            </a:r>
            <a:endParaRPr/>
          </a:p>
        </p:txBody>
      </p:sp>
      <p:sp>
        <p:nvSpPr>
          <p:cNvPr id="490" name="Google Shape;490;p30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>
                <a:solidFill>
                  <a:srgbClr val="000000"/>
                </a:solidFill>
              </a:rPr>
              <a:t>19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0" name="Google Shape;500;p31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1" name="Google Shape;501;p3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02" name="Google Shape;502;p31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03" name="Google Shape;503;p31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504" name="Google Shape;504;p31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p32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5" name="Google Shape;515;p32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16" name="Google Shape;516;p32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17" name="Google Shape;517;p32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518" name="Google Shape;518;p32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p12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9" name="Google Shape;529;p12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30" name="Google Shape;530;p128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31" name="Google Shape;531;p128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532" name="Google Shape;532;p128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1" name="Google Shape;541;p3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2" name="Google Shape;542;p3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43" name="Google Shape;543;p33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44" name="Google Shape;544;p33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545" name="Google Shape;545;p33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5" name="Google Shape;555;p34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6" name="Google Shape;556;p3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57" name="Google Shape;557;p34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58" name="Google Shape;558;p34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559" name="Google Shape;559;p34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p35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0" name="Google Shape;570;p3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71" name="Google Shape;571;p35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72" name="Google Shape;572;p35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573" name="Google Shape;573;p35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p36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4" name="Google Shape;584;p3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85" name="Google Shape;585;p36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86" name="Google Shape;586;p36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587" name="Google Shape;587;p36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6" name="Google Shape;596;p37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7" name="Google Shape;597;p37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598" name="Google Shape;598;p37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599" name="Google Shape;599;p37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600" name="Google Shape;600;p37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38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1" name="Google Shape;621;p38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622" name="Google Shape;622;p38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623" name="Google Shape;623;p38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624" name="Google Shape;624;p38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p129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5" name="Google Shape;635;p129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Ingeniería de Software I </a:t>
            </a:r>
            <a:endParaRPr/>
          </a:p>
        </p:txBody>
      </p:sp>
      <p:sp>
        <p:nvSpPr>
          <p:cNvPr id="636" name="Google Shape;636;p129:notes"/>
          <p:cNvSpPr txBox="1">
            <a:spLocks noGrp="1"/>
          </p:cNvSpPr>
          <p:nvPr>
            <p:ph type="dt" idx="10"/>
          </p:nvPr>
        </p:nvSpPr>
        <p:spPr>
          <a:xfrm>
            <a:off x="3849688" y="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2013</a:t>
            </a:r>
            <a:endParaRPr/>
          </a:p>
        </p:txBody>
      </p:sp>
      <p:sp>
        <p:nvSpPr>
          <p:cNvPr id="637" name="Google Shape;637;p129:notes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Facultad de Informática UNLP</a:t>
            </a:r>
            <a:endParaRPr/>
          </a:p>
        </p:txBody>
      </p:sp>
      <p:sp>
        <p:nvSpPr>
          <p:cNvPr id="638" name="Google Shape;638;p129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9538" y="741363"/>
            <a:ext cx="6578600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8" name="Google Shape;648;p43:notes"/>
          <p:cNvSpPr txBox="1">
            <a:spLocks noGrp="1"/>
          </p:cNvSpPr>
          <p:nvPr>
            <p:ph type="body" idx="1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9" name="Google Shape;649;p43:notes"/>
          <p:cNvSpPr txBox="1">
            <a:spLocks noGrp="1"/>
          </p:cNvSpPr>
          <p:nvPr>
            <p:ph type="sldNum" idx="12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n con título">
  <p:cSld name="1_Imagen con títul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 txBox="1">
            <a:spLocks noGrp="1"/>
          </p:cNvSpPr>
          <p:nvPr>
            <p:ph type="title"/>
          </p:nvPr>
        </p:nvSpPr>
        <p:spPr>
          <a:xfrm>
            <a:off x="653977" y="4737548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  <a:defRPr sz="3287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" name="Google Shape;19;p32"/>
          <p:cNvSpPr txBox="1">
            <a:spLocks noGrp="1"/>
          </p:cNvSpPr>
          <p:nvPr>
            <p:ph type="body" idx="1"/>
          </p:nvPr>
        </p:nvSpPr>
        <p:spPr>
          <a:xfrm>
            <a:off x="653976" y="5487888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227686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0742" lvl="1" indent="-227686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66114" lvl="2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1485" lvl="3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76856" lvl="4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32227" lvl="5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187598" lvl="6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42970" lvl="7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098341" lvl="8" indent="-227686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Google Shape;22;p3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pic>
        <p:nvPicPr>
          <p:cNvPr id="23" name="Google Shape;23;p32" descr="2"/>
          <p:cNvPicPr preferRelativeResize="0"/>
          <p:nvPr/>
        </p:nvPicPr>
        <p:blipFill rotWithShape="1">
          <a:blip r:embed="rId2">
            <a:alphaModFix/>
          </a:blip>
          <a:srcRect l="8462"/>
          <a:stretch/>
        </p:blipFill>
        <p:spPr>
          <a:xfrm>
            <a:off x="23664" y="0"/>
            <a:ext cx="12144672" cy="4277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307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9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23" name="Google Shape;123;p39"/>
          <p:cNvSpPr txBox="1">
            <a:spLocks noGrp="1"/>
          </p:cNvSpPr>
          <p:nvPr>
            <p:ph type="body" idx="1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1485" lvl="3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76856" lvl="4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32227" lvl="5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187598" lvl="6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42970" lvl="7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098341" lvl="8" indent="-341528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4" name="Google Shape;124;p39"/>
          <p:cNvSpPr txBox="1">
            <a:spLocks noGrp="1"/>
          </p:cNvSpPr>
          <p:nvPr>
            <p:ph type="body" idx="2"/>
          </p:nvPr>
        </p:nvSpPr>
        <p:spPr>
          <a:xfrm>
            <a:off x="6217921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1485" lvl="3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76856" lvl="4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32227" lvl="5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187598" lvl="6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42970" lvl="7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098341" lvl="8" indent="-341528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7" name="Google Shape;127;p39"/>
          <p:cNvSpPr txBox="1">
            <a:spLocks noGrp="1"/>
          </p:cNvSpPr>
          <p:nvPr>
            <p:ph type="sldNum" idx="12"/>
          </p:nvPr>
        </p:nvSpPr>
        <p:spPr>
          <a:xfrm>
            <a:off x="10879975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0276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0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30" name="Google Shape;130;p40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5371" lvl="0" indent="-227686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0742" lvl="1" indent="-227686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66114" lvl="2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1485" lvl="3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76856" lvl="4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32227" lvl="5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187598" lvl="6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42970" lvl="7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098341" lvl="8" indent="-227686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1" name="Google Shape;131;p40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1485" lvl="3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76856" lvl="4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32227" lvl="5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187598" lvl="6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42970" lvl="7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098341" lvl="8" indent="-341528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2" name="Google Shape;132;p40"/>
          <p:cNvSpPr txBox="1">
            <a:spLocks noGrp="1"/>
          </p:cNvSpPr>
          <p:nvPr>
            <p:ph type="body" idx="3"/>
          </p:nvPr>
        </p:nvSpPr>
        <p:spPr>
          <a:xfrm>
            <a:off x="6217921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5371" lvl="0" indent="-227686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  <a:defRPr sz="1992" b="0" cap="none">
                <a:solidFill>
                  <a:schemeClr val="dk2"/>
                </a:solidFill>
              </a:defRPr>
            </a:lvl1pPr>
            <a:lvl2pPr marL="910742" lvl="1" indent="-227686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000"/>
              <a:buNone/>
              <a:defRPr sz="1992" b="1"/>
            </a:lvl2pPr>
            <a:lvl3pPr marL="1366114" lvl="2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None/>
              <a:defRPr sz="1793" b="1"/>
            </a:lvl3pPr>
            <a:lvl4pPr marL="1821485" lvl="3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4pPr>
            <a:lvl5pPr marL="2276856" lvl="4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5pPr>
            <a:lvl6pPr marL="2732227" lvl="5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6pPr>
            <a:lvl7pPr marL="3187598" lvl="6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7pPr>
            <a:lvl8pPr marL="3642970" lvl="7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600"/>
              <a:buNone/>
              <a:defRPr sz="1594" b="1"/>
            </a:lvl8pPr>
            <a:lvl9pPr marL="4098341" lvl="8" indent="-227686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600"/>
              <a:buNone/>
              <a:defRPr sz="1594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3" name="Google Shape;133;p40"/>
          <p:cNvSpPr txBox="1">
            <a:spLocks noGrp="1"/>
          </p:cNvSpPr>
          <p:nvPr>
            <p:ph type="body" idx="4"/>
          </p:nvPr>
        </p:nvSpPr>
        <p:spPr>
          <a:xfrm>
            <a:off x="6217921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1485" lvl="3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76856" lvl="4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32227" lvl="5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187598" lvl="6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42970" lvl="7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098341" lvl="8" indent="-341528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6" name="Google Shape;136;p40"/>
          <p:cNvSpPr txBox="1">
            <a:spLocks noGrp="1"/>
          </p:cNvSpPr>
          <p:nvPr>
            <p:ph type="sldNum" idx="12"/>
          </p:nvPr>
        </p:nvSpPr>
        <p:spPr>
          <a:xfrm>
            <a:off x="10879975" y="648025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7853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Contenido con título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2"/>
          <p:cNvSpPr/>
          <p:nvPr/>
        </p:nvSpPr>
        <p:spPr>
          <a:xfrm>
            <a:off x="17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7" tIns="91057" rIns="91057" bIns="9105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2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7" tIns="91057" rIns="91057" bIns="9105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2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586" b="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49" name="Google Shape;149;p42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1485" lvl="3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76856" lvl="4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32227" lvl="5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187598" lvl="6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42970" lvl="7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098341" lvl="8" indent="-341528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0" name="Google Shape;150;p42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5371" lvl="0" indent="-227686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500"/>
              <a:buNone/>
              <a:defRPr sz="1494">
                <a:solidFill>
                  <a:srgbClr val="FFFFFF"/>
                </a:solidFill>
              </a:defRPr>
            </a:lvl1pPr>
            <a:lvl2pPr marL="910742" lvl="1" indent="-227686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200"/>
              <a:buNone/>
              <a:defRPr sz="1195"/>
            </a:lvl2pPr>
            <a:lvl3pPr marL="1366114" lvl="2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000"/>
              <a:buNone/>
              <a:defRPr sz="996"/>
            </a:lvl3pPr>
            <a:lvl4pPr marL="1821485" lvl="3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4pPr>
            <a:lvl5pPr marL="2276856" lvl="4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5pPr>
            <a:lvl6pPr marL="2732227" lvl="5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6pPr>
            <a:lvl7pPr marL="3187598" lvl="6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7pPr>
            <a:lvl8pPr marL="3642970" lvl="7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900"/>
              <a:buNone/>
              <a:defRPr sz="896"/>
            </a:lvl8pPr>
            <a:lvl9pPr marL="4098341" lvl="8" indent="-227686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900"/>
              <a:buNone/>
              <a:defRPr sz="89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1" name="Google Shape;151;p42"/>
          <p:cNvSpPr txBox="1">
            <a:spLocks noGrp="1"/>
          </p:cNvSpPr>
          <p:nvPr>
            <p:ph type="dt" idx="10"/>
          </p:nvPr>
        </p:nvSpPr>
        <p:spPr>
          <a:xfrm>
            <a:off x="465512" y="6459787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sp>
        <p:nvSpPr>
          <p:cNvPr id="152" name="Google Shape;152;p42"/>
          <p:cNvSpPr txBox="1">
            <a:spLocks noGrp="1"/>
          </p:cNvSpPr>
          <p:nvPr>
            <p:ph type="ftr" idx="11"/>
          </p:nvPr>
        </p:nvSpPr>
        <p:spPr>
          <a:xfrm>
            <a:off x="4800600" y="6459787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53" name="Google Shape;153;p42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92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4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65" name="Google Shape;165;p44"/>
          <p:cNvSpPr txBox="1">
            <a:spLocks noGrp="1"/>
          </p:cNvSpPr>
          <p:nvPr>
            <p:ph type="body" idx="1"/>
          </p:nvPr>
        </p:nvSpPr>
        <p:spPr>
          <a:xfrm rot="5400000">
            <a:off x="4114799" y="-1171785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1485" lvl="3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76856" lvl="4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32227" lvl="5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187598" lvl="6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42970" lvl="7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098341" lvl="8" indent="-341528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8" name="Google Shape;168;p44"/>
          <p:cNvSpPr txBox="1">
            <a:spLocks noGrp="1"/>
          </p:cNvSpPr>
          <p:nvPr>
            <p:ph type="sldNum" idx="12"/>
          </p:nvPr>
        </p:nvSpPr>
        <p:spPr>
          <a:xfrm>
            <a:off x="10879975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765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Título vertical y texto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5"/>
          <p:cNvSpPr/>
          <p:nvPr userDrawn="1"/>
        </p:nvSpPr>
        <p:spPr>
          <a:xfrm>
            <a:off x="3176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7" tIns="91057" rIns="91057" bIns="9105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5"/>
          <p:cNvSpPr/>
          <p:nvPr/>
        </p:nvSpPr>
        <p:spPr>
          <a:xfrm>
            <a:off x="16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7" tIns="91057" rIns="91057" bIns="9105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5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3" name="Google Shape;173;p45"/>
          <p:cNvSpPr txBox="1">
            <a:spLocks noGrp="1"/>
          </p:cNvSpPr>
          <p:nvPr>
            <p:ph type="body" idx="1"/>
          </p:nvPr>
        </p:nvSpPr>
        <p:spPr>
          <a:xfrm rot="5400000">
            <a:off x="1825402" y="-574898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Char char=" 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3pPr>
            <a:lvl4pPr marL="1821485" lvl="3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4pPr>
            <a:lvl5pPr marL="2276856" lvl="4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5pPr>
            <a:lvl6pPr marL="2732227" lvl="5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187598" lvl="6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42970" lvl="7" indent="-34152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098341" lvl="8" indent="-341528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4" name="Google Shape;174;p45"/>
          <p:cNvSpPr txBox="1">
            <a:spLocks noGrp="1"/>
          </p:cNvSpPr>
          <p:nvPr>
            <p:ph type="dt" idx="10"/>
          </p:nvPr>
        </p:nvSpPr>
        <p:spPr>
          <a:xfrm>
            <a:off x="1097281" y="6459787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sp>
        <p:nvSpPr>
          <p:cNvPr id="175" name="Google Shape;175;p45"/>
          <p:cNvSpPr txBox="1">
            <a:spLocks noGrp="1"/>
          </p:cNvSpPr>
          <p:nvPr>
            <p:ph type="ftr" idx="11"/>
          </p:nvPr>
        </p:nvSpPr>
        <p:spPr>
          <a:xfrm>
            <a:off x="3686185" y="6459787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s-AR"/>
          </a:p>
        </p:txBody>
      </p:sp>
      <p:sp>
        <p:nvSpPr>
          <p:cNvPr id="176" name="Google Shape;176;p45"/>
          <p:cNvSpPr txBox="1">
            <a:spLocks noGrp="1"/>
          </p:cNvSpPr>
          <p:nvPr>
            <p:ph type="sldNum" idx="12"/>
          </p:nvPr>
        </p:nvSpPr>
        <p:spPr>
          <a:xfrm>
            <a:off x="10876799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4458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on ">
  <p:cSld name="Encabezado de Seccion 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6"/>
          <p:cNvSpPr txBox="1">
            <a:spLocks noGrp="1"/>
          </p:cNvSpPr>
          <p:nvPr>
            <p:ph type="title"/>
          </p:nvPr>
        </p:nvSpPr>
        <p:spPr>
          <a:xfrm>
            <a:off x="551384" y="2051019"/>
            <a:ext cx="10780776" cy="61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Calibri"/>
              <a:buNone/>
              <a:defRPr sz="5378" b="0">
                <a:solidFill>
                  <a:srgbClr val="C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79" name="Google Shape;179;p46"/>
          <p:cNvSpPr txBox="1">
            <a:spLocks noGrp="1"/>
          </p:cNvSpPr>
          <p:nvPr>
            <p:ph type="body" idx="1"/>
          </p:nvPr>
        </p:nvSpPr>
        <p:spPr>
          <a:xfrm>
            <a:off x="551384" y="4359587"/>
            <a:ext cx="9229344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227686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1800"/>
              <a:buNone/>
              <a:defRPr sz="1793">
                <a:solidFill>
                  <a:srgbClr val="C00000"/>
                </a:solidFill>
              </a:defRPr>
            </a:lvl1pPr>
            <a:lvl2pPr marL="910742" lvl="1" indent="-227686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900"/>
              <a:buNone/>
              <a:defRPr sz="896"/>
            </a:lvl2pPr>
            <a:lvl3pPr marL="1366114" lvl="2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750"/>
              <a:buNone/>
              <a:defRPr sz="747"/>
            </a:lvl3pPr>
            <a:lvl4pPr marL="1821485" lvl="3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4pPr>
            <a:lvl5pPr marL="2276856" lvl="4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5pPr>
            <a:lvl6pPr marL="2732227" lvl="5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6pPr>
            <a:lvl7pPr marL="3187598" lvl="6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7pPr>
            <a:lvl8pPr marL="3642970" lvl="7" indent="-227686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675"/>
              <a:buNone/>
              <a:defRPr sz="672"/>
            </a:lvl8pPr>
            <a:lvl9pPr marL="4098341" lvl="8" indent="-227686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675"/>
              <a:buNone/>
              <a:defRPr sz="67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2" name="Google Shape;182;p46"/>
          <p:cNvSpPr txBox="1">
            <a:spLocks noGrp="1"/>
          </p:cNvSpPr>
          <p:nvPr>
            <p:ph type="sldNum" idx="12"/>
          </p:nvPr>
        </p:nvSpPr>
        <p:spPr>
          <a:xfrm>
            <a:off x="9900459" y="6459787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050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 userDrawn="1">
  <p:cSld name="1_Dos objeto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7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5" name="Google Shape;185;p47"/>
          <p:cNvSpPr txBox="1">
            <a:spLocks noGrp="1"/>
          </p:cNvSpPr>
          <p:nvPr>
            <p:ph type="body" idx="1"/>
          </p:nvPr>
        </p:nvSpPr>
        <p:spPr>
          <a:xfrm>
            <a:off x="676656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0742" lvl="1" indent="-322555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66114" lvl="2" indent="-31306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1485" lvl="3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76856" lvl="4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32227" lvl="5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187598" lvl="6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42970" lvl="7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098341" lvl="8" indent="-303581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6" name="Google Shape;186;p47"/>
          <p:cNvSpPr txBox="1">
            <a:spLocks noGrp="1"/>
          </p:cNvSpPr>
          <p:nvPr>
            <p:ph type="body" idx="2"/>
          </p:nvPr>
        </p:nvSpPr>
        <p:spPr>
          <a:xfrm>
            <a:off x="6011331" y="1998134"/>
            <a:ext cx="4663440" cy="376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4152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1800"/>
              <a:buFont typeface="Arial"/>
              <a:buChar char="»"/>
              <a:defRPr sz="1793"/>
            </a:lvl1pPr>
            <a:lvl2pPr marL="910742" lvl="1" indent="-322555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 "/>
              <a:defRPr sz="1494"/>
            </a:lvl2pPr>
            <a:lvl3pPr marL="1366114" lvl="2" indent="-313068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350"/>
              <a:buFont typeface="Arial"/>
              <a:buChar char=" "/>
              <a:defRPr sz="1345"/>
            </a:lvl3pPr>
            <a:lvl4pPr marL="1821485" lvl="3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4pPr>
            <a:lvl5pPr marL="2276856" lvl="4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Clr>
                <a:srgbClr val="C00000"/>
              </a:buClr>
              <a:buSzPts val="1200"/>
              <a:buFont typeface="Arial"/>
              <a:buChar char=" "/>
              <a:defRPr sz="1195"/>
            </a:lvl5pPr>
            <a:lvl6pPr marL="2732227" lvl="5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6pPr>
            <a:lvl7pPr marL="3187598" lvl="6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7pPr>
            <a:lvl8pPr marL="3642970" lvl="7" indent="-303581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200"/>
              <a:buChar char="◦"/>
              <a:defRPr sz="1195"/>
            </a:lvl8pPr>
            <a:lvl9pPr marL="4098341" lvl="8" indent="-303581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200"/>
              <a:buChar char="◦"/>
              <a:defRPr sz="119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7" name="Google Shape;187;p47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36D6AE04-730D-8D96-8875-F8ADD0C2D273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5524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rmal con fuente ">
  <p:cSld name="2_Normal con fuente ">
    <p:bg>
      <p:bgPr>
        <a:solidFill>
          <a:schemeClr val="lt1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0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93" name="Google Shape;193;p160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195" name="Google Shape;195;p160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6" name="Google Shape;196;p160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160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8D9DC38F-EFB6-E1A9-1B2E-60071A6B4485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993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Normal con fuente ">
  <p:cSld name="3_Normal con fuente ">
    <p:bg>
      <p:bgPr>
        <a:solidFill>
          <a:schemeClr val="lt1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1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03" name="Google Shape;203;p161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05" name="Google Shape;205;p161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06" name="Google Shape;206;p161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161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31EA1E44-136C-7C8A-7775-B47B2B9CC70D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60662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Normal con fuente ">
  <p:cSld name="4_Normal con fuente "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2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13" name="Google Shape;213;p162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15" name="Google Shape;215;p162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16" name="Google Shape;216;p162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0" name="Google Shape;220;p162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F68C87A1-A419-25CE-07C8-9387E340C4A6}"/>
              </a:ext>
            </a:extLst>
          </p:cNvPr>
          <p:cNvSpPr txBox="1">
            <a:spLocks/>
          </p:cNvSpPr>
          <p:nvPr userDrawn="1"/>
        </p:nvSpPr>
        <p:spPr>
          <a:xfrm>
            <a:off x="10879975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9283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Normal con fuente ">
  <p:cSld name="5_Normal con fuente "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3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23" name="Google Shape;223;p163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25" name="Google Shape;225;p163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26" name="Google Shape;226;p163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163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56E9D513-CE0A-28F1-18EF-B61A37C9ACCD}"/>
              </a:ext>
            </a:extLst>
          </p:cNvPr>
          <p:cNvSpPr txBox="1">
            <a:spLocks/>
          </p:cNvSpPr>
          <p:nvPr userDrawn="1"/>
        </p:nvSpPr>
        <p:spPr>
          <a:xfrm>
            <a:off x="10879975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6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Normal con fuente ">
  <p:cSld name="6_Normal con fuente ">
    <p:bg>
      <p:bgPr>
        <a:solidFill>
          <a:schemeClr val="lt1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4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33" name="Google Shape;233;p164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35" name="Google Shape;235;p164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36" name="Google Shape;236;p164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7" name="Google Shape;237;p164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46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cxnSp>
        <p:nvCxnSpPr>
          <p:cNvPr id="240" name="Google Shape;240;p164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D327A05B-3FBF-6C3B-03DC-24C6B1F1B610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88706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7111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Normal con fuente ">
  <p:cSld name="7_Normal con fuente ">
    <p:bg>
      <p:bgPr>
        <a:solidFill>
          <a:schemeClr val="lt1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5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43" name="Google Shape;243;p165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45" name="Google Shape;245;p165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46" name="Google Shape;246;p165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7" name="Google Shape;247;p165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46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cxnSp>
        <p:nvCxnSpPr>
          <p:cNvPr id="250" name="Google Shape;250;p165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D1476121-9906-A6E0-2C1F-75C5C0607BD1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795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Normal con fuente ">
  <p:cSld name="9_Normal con fuente 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6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53" name="Google Shape;253;p166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55" name="Google Shape;255;p166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56" name="Google Shape;256;p166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" name="Google Shape;257;p166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46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cxnSp>
        <p:nvCxnSpPr>
          <p:cNvPr id="260" name="Google Shape;260;p166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2716D7E6-DBE7-16DD-FC13-D3A7A5A14D49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354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Normal con fuente ">
  <p:cSld name="10_Normal con fuente "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7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63" name="Google Shape;263;p167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65" name="Google Shape;265;p167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66" name="Google Shape;266;p167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167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46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cxnSp>
        <p:nvCxnSpPr>
          <p:cNvPr id="270" name="Google Shape;270;p167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6E55BA1F-E807-D148-CD7A-BAF47342A837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88706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5789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Normal con fuente ">
  <p:cSld name="11_Normal con fuente "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8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73" name="Google Shape;273;p168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75" name="Google Shape;275;p168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76" name="Google Shape;276;p168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168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46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cxnSp>
        <p:nvCxnSpPr>
          <p:cNvPr id="280" name="Google Shape;280;p168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AEF022FD-B2C0-D59D-AF08-2D3921C63E3E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098939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Normal con fuente ">
  <p:cSld name="15_Normal con fuente ">
    <p:bg>
      <p:bgPr>
        <a:solidFill>
          <a:schemeClr val="lt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9"/>
          <p:cNvSpPr txBox="1">
            <a:spLocks noGrp="1"/>
          </p:cNvSpPr>
          <p:nvPr>
            <p:ph type="title"/>
          </p:nvPr>
        </p:nvSpPr>
        <p:spPr>
          <a:xfrm>
            <a:off x="623395" y="643372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283" name="Google Shape;283;p169"/>
          <p:cNvSpPr txBox="1">
            <a:spLocks noGrp="1"/>
          </p:cNvSpPr>
          <p:nvPr>
            <p:ph type="sldNum" idx="12"/>
          </p:nvPr>
        </p:nvSpPr>
        <p:spPr>
          <a:xfrm>
            <a:off x="9249399" y="2852616"/>
            <a:ext cx="2926080" cy="10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sp>
        <p:nvSpPr>
          <p:cNvPr id="285" name="Google Shape;285;p169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9793088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5371" lvl="0" indent="-354178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0742" lvl="1" indent="-341528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66114" lvl="2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1485" lvl="3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76856" lvl="4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32227" lvl="5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6pPr>
            <a:lvl7pPr marL="3187598" lvl="6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7pPr>
            <a:lvl8pPr marL="3642970" lvl="7" indent="-31623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8pPr>
            <a:lvl9pPr marL="4098341" lvl="8" indent="-31623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400"/>
              <a:buChar char="◦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286" name="Google Shape;286;p169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69"/>
          <p:cNvSpPr txBox="1">
            <a:spLocks noGrp="1"/>
          </p:cNvSpPr>
          <p:nvPr>
            <p:ph type="dt" idx="10"/>
          </p:nvPr>
        </p:nvSpPr>
        <p:spPr>
          <a:xfrm>
            <a:off x="2567609" y="6543225"/>
            <a:ext cx="825989" cy="256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46" b="0" i="0" u="none" strike="noStrike" cap="non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9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AR"/>
          </a:p>
        </p:txBody>
      </p:sp>
      <p:cxnSp>
        <p:nvCxnSpPr>
          <p:cNvPr id="290" name="Google Shape;290;p169"/>
          <p:cNvCxnSpPr/>
          <p:nvPr/>
        </p:nvCxnSpPr>
        <p:spPr>
          <a:xfrm>
            <a:off x="623396" y="1772816"/>
            <a:ext cx="10772775" cy="0"/>
          </a:xfrm>
          <a:prstGeom prst="straightConnector1">
            <a:avLst/>
          </a:prstGeom>
          <a:noFill/>
          <a:ln w="9525" cap="flat" cmpd="sng">
            <a:solidFill>
              <a:srgbClr val="5171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747B80E1-B288-864A-26CF-55456D82ACE5}"/>
              </a:ext>
            </a:extLst>
          </p:cNvPr>
          <p:cNvSpPr txBox="1">
            <a:spLocks/>
          </p:cNvSpPr>
          <p:nvPr userDrawn="1"/>
        </p:nvSpPr>
        <p:spPr>
          <a:xfrm>
            <a:off x="10863454" y="6488706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98153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rmal con fuente " userDrawn="1">
  <p:cSld name="1_Normal con fuente 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2"/>
          <p:cNvSpPr txBox="1">
            <a:spLocks noGrp="1"/>
          </p:cNvSpPr>
          <p:nvPr>
            <p:ph type="title"/>
          </p:nvPr>
        </p:nvSpPr>
        <p:spPr>
          <a:xfrm>
            <a:off x="623394" y="643372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2"/>
          <p:cNvSpPr txBox="1">
            <a:spLocks noGrp="1"/>
          </p:cNvSpPr>
          <p:nvPr>
            <p:ph type="sldNum" idx="12"/>
          </p:nvPr>
        </p:nvSpPr>
        <p:spPr>
          <a:xfrm>
            <a:off x="9249399" y="285261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29" name="Google Shape;29;p132"/>
          <p:cNvSpPr txBox="1">
            <a:spLocks noGrp="1"/>
          </p:cNvSpPr>
          <p:nvPr>
            <p:ph type="body" idx="2"/>
          </p:nvPr>
        </p:nvSpPr>
        <p:spPr>
          <a:xfrm>
            <a:off x="623392" y="190257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»"/>
              <a:defRPr/>
            </a:lvl1pPr>
            <a:lvl2pPr marL="914400" lvl="1" indent="-342900" algn="l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3pPr>
            <a:lvl4pPr marL="1828800" lvl="3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4pPr>
            <a:lvl5pPr marL="2286000" lvl="4" indent="-3175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4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398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398"/>
              </a:spcBef>
              <a:spcAft>
                <a:spcPts val="398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" name="Google Shape;127;p39">
            <a:extLst>
              <a:ext uri="{FF2B5EF4-FFF2-40B4-BE49-F238E27FC236}">
                <a16:creationId xmlns:a16="http://schemas.microsoft.com/office/drawing/2014/main" id="{0C92BBF5-B430-44CF-2D92-0142E5B97751}"/>
              </a:ext>
            </a:extLst>
          </p:cNvPr>
          <p:cNvSpPr txBox="1">
            <a:spLocks/>
          </p:cNvSpPr>
          <p:nvPr userDrawn="1"/>
        </p:nvSpPr>
        <p:spPr>
          <a:xfrm>
            <a:off x="10879975" y="649287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25395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057" tIns="91057" rIns="91057" bIns="9105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AR" sz="10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Ingeniería de software 2025</a:t>
            </a:r>
            <a:endParaRPr sz="10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1"/>
          <p:cNvSpPr/>
          <p:nvPr/>
        </p:nvSpPr>
        <p:spPr>
          <a:xfrm>
            <a:off x="16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057" tIns="91057" rIns="91057" bIns="91057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39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1"/>
          <p:cNvSpPr txBox="1"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10879975" y="6470853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sz="1046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Google Shape;16;p3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8C4BB1B-ABD3-4156-C6D9-BD7BC91AFF3F}"/>
              </a:ext>
            </a:extLst>
          </p:cNvPr>
          <p:cNvSpPr txBox="1"/>
          <p:nvPr/>
        </p:nvSpPr>
        <p:spPr>
          <a:xfrm>
            <a:off x="6096000" y="6499526"/>
            <a:ext cx="615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1000" dirty="0">
                <a:solidFill>
                  <a:schemeClr val="bg1"/>
                </a:solidFill>
              </a:rPr>
              <a:t>Fuente:</a:t>
            </a:r>
          </a:p>
        </p:txBody>
      </p:sp>
    </p:spTree>
    <p:extLst>
      <p:ext uri="{BB962C8B-B14F-4D97-AF65-F5344CB8AC3E}">
        <p14:creationId xmlns:p14="http://schemas.microsoft.com/office/powerpoint/2010/main" val="22384956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39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Calibri"/>
              <a:buNone/>
            </a:pPr>
            <a:r>
              <a:rPr lang="es-ES">
                <a:solidFill>
                  <a:schemeClr val="dk2"/>
                </a:solidFill>
              </a:rPr>
              <a:t>Ingeniería de Software I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87" name="Google Shape;287;p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975"/>
              </a:spcBef>
              <a:spcAft>
                <a:spcPts val="0"/>
              </a:spcAft>
              <a:buSzPts val="1700"/>
              <a:buNone/>
            </a:pPr>
            <a:r>
              <a:rPr lang="es-ES">
                <a:solidFill>
                  <a:schemeClr val="dk2"/>
                </a:solidFill>
              </a:rPr>
              <a:t>Modelos de Proceso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 sz="4400"/>
              <a:t>Proceso</a:t>
            </a:r>
            <a:endParaRPr sz="4400"/>
          </a:p>
        </p:txBody>
      </p:sp>
      <p:sp>
        <p:nvSpPr>
          <p:cNvPr id="297" name="Google Shape;297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  <p:sp>
        <p:nvSpPr>
          <p:cNvPr id="299" name="Google Shape;299;p19"/>
          <p:cNvSpPr txBox="1">
            <a:spLocks noGrp="1"/>
          </p:cNvSpPr>
          <p:nvPr>
            <p:ph type="body" idx="4294967295"/>
          </p:nvPr>
        </p:nvSpPr>
        <p:spPr>
          <a:xfrm>
            <a:off x="623392" y="1902579"/>
            <a:ext cx="8425074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5720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❑"/>
            </a:pPr>
            <a:r>
              <a:rPr lang="es-ES" sz="2800"/>
              <a:t>Cuando proveemos un servicio o creamos un producto, siempre seguimos una secuencia de pasos para realizar un conjunto de tareas.</a:t>
            </a:r>
            <a:endParaRPr sz="2800"/>
          </a:p>
          <a:p>
            <a:pPr marL="457200" lvl="0" indent="-45720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❑"/>
            </a:pPr>
            <a:r>
              <a:rPr lang="es-ES" sz="2800"/>
              <a:t>Las tareas son realizadas usualmente en el mismo orden.</a:t>
            </a:r>
            <a:endParaRPr sz="2800"/>
          </a:p>
          <a:p>
            <a:pPr marL="457200" lvl="0" indent="-45720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❑"/>
            </a:pPr>
            <a:r>
              <a:rPr lang="es-ES" sz="2800"/>
              <a:t>Por ejemplo, no se puede cocinar una torta antes de que todos los ingredientes sean mezclados.</a:t>
            </a:r>
            <a:endParaRPr sz="2800"/>
          </a:p>
          <a:p>
            <a:pPr marL="457200" lvl="0" indent="-45720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❑"/>
            </a:pPr>
            <a:r>
              <a:rPr lang="es-ES" sz="2800"/>
              <a:t>Se puede pensar que un “conjunto ordenado de tareas” como un proceso.</a:t>
            </a:r>
            <a:endParaRPr sz="2800"/>
          </a:p>
        </p:txBody>
      </p:sp>
      <p:pic>
        <p:nvPicPr>
          <p:cNvPr id="301" name="Google Shape;30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9266" y="16281"/>
            <a:ext cx="2836333" cy="2836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 sz="4400"/>
              <a:t>¿Qué es un proceso de software?</a:t>
            </a:r>
            <a:endParaRPr sz="4400"/>
          </a:p>
        </p:txBody>
      </p:sp>
      <p:sp>
        <p:nvSpPr>
          <p:cNvPr id="308" name="Google Shape;308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  <p:sp>
        <p:nvSpPr>
          <p:cNvPr id="309" name="Google Shape;309;p20"/>
          <p:cNvSpPr txBox="1">
            <a:spLocks noGrp="1"/>
          </p:cNvSpPr>
          <p:nvPr>
            <p:ph type="body" idx="4294967295"/>
          </p:nvPr>
        </p:nvSpPr>
        <p:spPr>
          <a:xfrm>
            <a:off x="6836405" y="6440824"/>
            <a:ext cx="2971271" cy="37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/>
              <a:t>Sommerville – Capítulo 2</a:t>
            </a:r>
            <a:endParaRPr dirty="0"/>
          </a:p>
        </p:txBody>
      </p:sp>
      <p:sp>
        <p:nvSpPr>
          <p:cNvPr id="310" name="Google Shape;310;p20"/>
          <p:cNvSpPr txBox="1">
            <a:spLocks noGrp="1"/>
          </p:cNvSpPr>
          <p:nvPr>
            <p:ph type="body" idx="4294967295"/>
          </p:nvPr>
        </p:nvSpPr>
        <p:spPr>
          <a:xfrm>
            <a:off x="623392" y="1902579"/>
            <a:ext cx="1036545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4480" lvl="0" indent="-284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Char char="❑"/>
            </a:pPr>
            <a:r>
              <a:rPr lang="es-ES" sz="2000" dirty="0"/>
              <a:t>Es un conjunto de actividades y resultados asociados que producen un producto de software.</a:t>
            </a:r>
            <a:endParaRPr dirty="0"/>
          </a:p>
          <a:p>
            <a:pPr marL="473329" lvl="1" indent="-21590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Noto Sans Symbols"/>
              <a:buNone/>
            </a:pPr>
            <a:endParaRPr sz="2000" dirty="0"/>
          </a:p>
        </p:txBody>
      </p:sp>
      <p:pic>
        <p:nvPicPr>
          <p:cNvPr id="312" name="Google Shape;312;p20" descr="http://blog.utm.edu.ec/maricelapinargote/files/2009/10/proceso-del-software1.png"/>
          <p:cNvPicPr preferRelativeResize="0"/>
          <p:nvPr/>
        </p:nvPicPr>
        <p:blipFill rotWithShape="1">
          <a:blip r:embed="rId3">
            <a:alphaModFix/>
          </a:blip>
          <a:srcRect l="3046" t="32594" r="-7644" b="405"/>
          <a:stretch/>
        </p:blipFill>
        <p:spPr>
          <a:xfrm>
            <a:off x="1372928" y="2473377"/>
            <a:ext cx="9043664" cy="358821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0"/>
          <p:cNvSpPr/>
          <p:nvPr/>
        </p:nvSpPr>
        <p:spPr>
          <a:xfrm>
            <a:off x="4452912" y="5445224"/>
            <a:ext cx="202928" cy="216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8688288" y="5517232"/>
            <a:ext cx="202928" cy="1440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 sz="4400"/>
              <a:t>¿Qué es un proceso de software?</a:t>
            </a:r>
            <a:endParaRPr sz="4400"/>
          </a:p>
        </p:txBody>
      </p:sp>
      <p:sp>
        <p:nvSpPr>
          <p:cNvPr id="321" name="Google Shape;321;p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 sz="2800" dirty="0">
                <a:solidFill>
                  <a:schemeClr val="dk1"/>
                </a:solidFill>
              </a:rPr>
              <a:t>Actividades fundamentales de los procesos: </a:t>
            </a:r>
            <a:endParaRPr dirty="0"/>
          </a:p>
          <a:p>
            <a:pPr marL="68580" lvl="0" indent="0" algn="l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800"/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346329" lvl="1" indent="-342900" algn="l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Especificación del software</a:t>
            </a:r>
            <a:endParaRPr dirty="0"/>
          </a:p>
          <a:p>
            <a:pPr marL="346329" lvl="1" indent="-342900" algn="l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Desarrollo del software</a:t>
            </a:r>
            <a:endParaRPr dirty="0"/>
          </a:p>
          <a:p>
            <a:pPr marL="346329" lvl="1" indent="-342900" algn="l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Validación del software</a:t>
            </a:r>
            <a:endParaRPr dirty="0"/>
          </a:p>
          <a:p>
            <a:pPr marL="346329" lvl="1" indent="-342900" algn="l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Evolución del software</a:t>
            </a:r>
            <a:endParaRPr dirty="0"/>
          </a:p>
          <a:p>
            <a:pPr marL="260604" lvl="1" indent="-116204" algn="l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400"/>
              <a:buNone/>
            </a:pP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323" name="Google Shape;3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46754" y="3222885"/>
            <a:ext cx="3121333" cy="2724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 sz="4400"/>
              <a:t>Actividades fundamentales de los procesos</a:t>
            </a:r>
            <a:endParaRPr sz="4400"/>
          </a:p>
        </p:txBody>
      </p:sp>
      <p:sp>
        <p:nvSpPr>
          <p:cNvPr id="330" name="Google Shape;330;p123"/>
          <p:cNvSpPr txBox="1">
            <a:spLocks noGrp="1"/>
          </p:cNvSpPr>
          <p:nvPr>
            <p:ph type="body" idx="1"/>
          </p:nvPr>
        </p:nvSpPr>
        <p:spPr>
          <a:xfrm>
            <a:off x="623391" y="1902581"/>
            <a:ext cx="7092862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6329" lvl="1" indent="-34290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❑"/>
            </a:pPr>
            <a:r>
              <a:rPr lang="es-ES" sz="2800" b="1" dirty="0">
                <a:solidFill>
                  <a:schemeClr val="dk1"/>
                </a:solidFill>
              </a:rPr>
              <a:t>Especificación del software</a:t>
            </a:r>
            <a:endParaRPr b="1" dirty="0"/>
          </a:p>
          <a:p>
            <a:pPr marL="346329" lvl="1" indent="-18288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3429" lvl="1" indent="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s-ES" sz="2800" dirty="0">
                <a:solidFill>
                  <a:schemeClr val="dk1"/>
                </a:solidFill>
              </a:rPr>
              <a:t>Consiste en el proceso de comprender y definir qué servicios se requieren del sistema, así como la identificación de las restricciones sobre la operación y desarrollo del sistema.</a:t>
            </a:r>
          </a:p>
          <a:p>
            <a:pPr marL="3429" lvl="1" indent="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endParaRPr sz="2000" dirty="0"/>
          </a:p>
          <a:p>
            <a:pPr marL="3429" lvl="1" indent="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s-ES" sz="2800" dirty="0">
                <a:solidFill>
                  <a:schemeClr val="dk1"/>
                </a:solidFill>
              </a:rPr>
              <a:t>También llamada </a:t>
            </a:r>
            <a:r>
              <a:rPr lang="es-ES" sz="2800" i="1" dirty="0">
                <a:solidFill>
                  <a:schemeClr val="dk1"/>
                </a:solidFill>
              </a:rPr>
              <a:t>Ingeniería de Requerimientos. </a:t>
            </a:r>
            <a:endParaRPr sz="2800" i="1" dirty="0"/>
          </a:p>
          <a:p>
            <a:pPr marL="260604" lvl="1" indent="-116204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400"/>
              <a:buNone/>
            </a:pP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332" name="Google Shape;332;p123" descr="Papel reciclado"/>
          <p:cNvPicPr preferRelativeResize="0"/>
          <p:nvPr/>
        </p:nvPicPr>
        <p:blipFill rotWithShape="1">
          <a:blip r:embed="rId3">
            <a:alphaModFix/>
          </a:blip>
          <a:srcRect l="6010" t="5569" r="5572" b="6703"/>
          <a:stretch/>
        </p:blipFill>
        <p:spPr>
          <a:xfrm>
            <a:off x="7924801" y="3176338"/>
            <a:ext cx="4149522" cy="2534944"/>
          </a:xfrm>
          <a:prstGeom prst="rect">
            <a:avLst/>
          </a:prstGeom>
          <a:solidFill>
            <a:srgbClr val="FF3F40"/>
          </a:solidFill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 sz="4400"/>
              <a:t>Actividades fundamentales de los procesos</a:t>
            </a:r>
            <a:endParaRPr sz="4400"/>
          </a:p>
        </p:txBody>
      </p:sp>
      <p:sp>
        <p:nvSpPr>
          <p:cNvPr id="339" name="Google Shape;339;p124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10772774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6329" lvl="1" indent="-34290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520"/>
              <a:buFont typeface="Noto Sans Symbols"/>
              <a:buChar char="❑"/>
            </a:pPr>
            <a:r>
              <a:rPr lang="es-ES" sz="2800" b="1" dirty="0">
                <a:solidFill>
                  <a:schemeClr val="dk1"/>
                </a:solidFill>
              </a:rPr>
              <a:t>Desarrollo del software</a:t>
            </a:r>
            <a:endParaRPr sz="2000" b="1" dirty="0"/>
          </a:p>
          <a:p>
            <a:pPr marL="0" indent="-310971" algn="just">
              <a:buSzPts val="2400"/>
              <a:buNone/>
            </a:pPr>
            <a:r>
              <a:rPr lang="es-ES" sz="2600" dirty="0">
                <a:solidFill>
                  <a:schemeClr val="dk1"/>
                </a:solidFill>
              </a:rPr>
              <a:t>Corresponde al proceso de convertir una especificación del sistema en un sistema ejecutable.</a:t>
            </a:r>
            <a:endParaRPr dirty="0"/>
          </a:p>
          <a:p>
            <a:pPr marL="0" indent="-310971" algn="just">
              <a:spcBef>
                <a:spcPts val="199"/>
              </a:spcBef>
              <a:buSzPts val="2400"/>
              <a:buNone/>
            </a:pPr>
            <a:r>
              <a:rPr lang="es-ES" sz="2600" dirty="0">
                <a:solidFill>
                  <a:schemeClr val="dk1"/>
                </a:solidFill>
              </a:rPr>
              <a:t>Incluye los procesos de diseño y programación. </a:t>
            </a:r>
            <a:endParaRPr dirty="0"/>
          </a:p>
          <a:p>
            <a:pPr marL="0" indent="-310971" algn="just">
              <a:spcBef>
                <a:spcPts val="199"/>
              </a:spcBef>
              <a:buSzPts val="2400"/>
              <a:buNone/>
            </a:pPr>
            <a:r>
              <a:rPr lang="es-ES" sz="2600" dirty="0">
                <a:solidFill>
                  <a:schemeClr val="dk1"/>
                </a:solidFill>
              </a:rPr>
              <a:t>Se crea una descripción de la estructura del software que se va a implementar, los modelos y estructuras de datos, las interfaces, etc.  </a:t>
            </a:r>
            <a:endParaRPr sz="2600" dirty="0">
              <a:solidFill>
                <a:schemeClr val="dk1"/>
              </a:solidFill>
            </a:endParaRPr>
          </a:p>
        </p:txBody>
      </p:sp>
      <p:pic>
        <p:nvPicPr>
          <p:cNvPr id="341" name="Google Shape;341;p124"/>
          <p:cNvPicPr preferRelativeResize="0"/>
          <p:nvPr/>
        </p:nvPicPr>
        <p:blipFill rotWithShape="1">
          <a:blip r:embed="rId3">
            <a:alphaModFix/>
          </a:blip>
          <a:srcRect l="15036" t="3326" r="6690" b="5691"/>
          <a:stretch/>
        </p:blipFill>
        <p:spPr>
          <a:xfrm>
            <a:off x="4457855" y="4393989"/>
            <a:ext cx="2124162" cy="1820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 sz="4400"/>
              <a:t>Actividades fundamentales de los procesos</a:t>
            </a:r>
            <a:endParaRPr sz="4400"/>
          </a:p>
        </p:txBody>
      </p:sp>
      <p:sp>
        <p:nvSpPr>
          <p:cNvPr id="348" name="Google Shape;348;p125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10991092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6329" lvl="1" indent="-34290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❑"/>
            </a:pPr>
            <a:r>
              <a:rPr lang="es-ES" sz="2400" b="1" dirty="0">
                <a:solidFill>
                  <a:schemeClr val="dk1"/>
                </a:solidFill>
              </a:rPr>
              <a:t>Validación del software</a:t>
            </a:r>
            <a:endParaRPr b="1" dirty="0"/>
          </a:p>
          <a:p>
            <a:pPr marL="0" indent="-310971" algn="just">
              <a:spcBef>
                <a:spcPts val="199"/>
              </a:spcBef>
              <a:buSzPts val="2400"/>
              <a:buNone/>
            </a:pPr>
            <a:r>
              <a:rPr lang="es-ES" sz="2600" dirty="0">
                <a:solidFill>
                  <a:schemeClr val="dk1"/>
                </a:solidFill>
              </a:rPr>
              <a:t>Se realiza para mostrar que un sistema cumple tanto con sus especificaciones como con las expectativas del cliente.</a:t>
            </a:r>
            <a:endParaRPr dirty="0"/>
          </a:p>
          <a:p>
            <a:pPr marL="0" indent="-310971" algn="just">
              <a:spcBef>
                <a:spcPts val="199"/>
              </a:spcBef>
              <a:buSzPts val="2400"/>
              <a:buNone/>
            </a:pPr>
            <a:r>
              <a:rPr lang="es-ES" sz="2600" dirty="0">
                <a:solidFill>
                  <a:schemeClr val="dk1"/>
                </a:solidFill>
              </a:rPr>
              <a:t>La prueba del sistema con datos de prueba simulados es una de las formas de validación. </a:t>
            </a:r>
            <a:endParaRPr dirty="0"/>
          </a:p>
          <a:p>
            <a:pPr marL="0" indent="-310971" algn="just">
              <a:spcBef>
                <a:spcPts val="199"/>
              </a:spcBef>
              <a:buSzPts val="2400"/>
              <a:buNone/>
            </a:pPr>
            <a:r>
              <a:rPr lang="es-ES" sz="2600" dirty="0">
                <a:solidFill>
                  <a:schemeClr val="dk1"/>
                </a:solidFill>
              </a:rPr>
              <a:t>Pero tambien incluye inspecciones y revisiones en distintas etapas.</a:t>
            </a:r>
            <a:endParaRPr sz="2600" dirty="0">
              <a:solidFill>
                <a:schemeClr val="dk1"/>
              </a:solidFill>
            </a:endParaRPr>
          </a:p>
        </p:txBody>
      </p:sp>
      <p:pic>
        <p:nvPicPr>
          <p:cNvPr id="350" name="Google Shape;350;p125"/>
          <p:cNvPicPr preferRelativeResize="0"/>
          <p:nvPr/>
        </p:nvPicPr>
        <p:blipFill rotWithShape="1">
          <a:blip r:embed="rId3">
            <a:alphaModFix/>
          </a:blip>
          <a:srcRect b="1928"/>
          <a:stretch/>
        </p:blipFill>
        <p:spPr>
          <a:xfrm>
            <a:off x="9129286" y="4409768"/>
            <a:ext cx="2926080" cy="1871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s-ES" sz="4400"/>
              <a:t>Actividades fundamentales de los procesos</a:t>
            </a:r>
            <a:endParaRPr sz="4400"/>
          </a:p>
        </p:txBody>
      </p:sp>
      <p:sp>
        <p:nvSpPr>
          <p:cNvPr id="357" name="Google Shape;357;p126"/>
          <p:cNvSpPr txBox="1">
            <a:spLocks noGrp="1"/>
          </p:cNvSpPr>
          <p:nvPr>
            <p:ph type="body" idx="1"/>
          </p:nvPr>
        </p:nvSpPr>
        <p:spPr>
          <a:xfrm>
            <a:off x="623392" y="1902581"/>
            <a:ext cx="10772774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6329" lvl="1" indent="-34290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Font typeface="Noto Sans Symbols"/>
              <a:buChar char="❑"/>
            </a:pPr>
            <a:r>
              <a:rPr lang="es-ES" sz="2400" b="1" dirty="0">
                <a:solidFill>
                  <a:schemeClr val="dk1"/>
                </a:solidFill>
              </a:rPr>
              <a:t>Evolución del software</a:t>
            </a:r>
            <a:endParaRPr dirty="0"/>
          </a:p>
          <a:p>
            <a:pPr marL="3429" lvl="1" indent="0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s-ES" sz="2400" dirty="0">
                <a:solidFill>
                  <a:schemeClr val="dk1"/>
                </a:solidFill>
              </a:rPr>
              <a:t>El mantenimiento es una actividad para tener en cuenta en el proceso de desarrollo de software. Eso implica también cambios y mejoras.</a:t>
            </a:r>
            <a:endParaRPr dirty="0"/>
          </a:p>
          <a:p>
            <a:pPr marL="260604" lvl="1" indent="-116204" algn="just" rtl="0">
              <a:lnSpc>
                <a:spcPct val="90000"/>
              </a:lnSpc>
              <a:spcBef>
                <a:spcPts val="199"/>
              </a:spcBef>
              <a:spcAft>
                <a:spcPts val="0"/>
              </a:spcAft>
              <a:buSzPts val="2400"/>
              <a:buNone/>
            </a:pP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359" name="Google Shape;359;p1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3733" y="3144594"/>
            <a:ext cx="4466010" cy="2959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</a:pPr>
            <a:r>
              <a:rPr lang="es-ES" sz="4400"/>
              <a:t>¿Qué es un modelo de proceso de software?</a:t>
            </a:r>
            <a:endParaRPr sz="4400"/>
          </a:p>
        </p:txBody>
      </p:sp>
      <p:sp>
        <p:nvSpPr>
          <p:cNvPr id="365" name="Google Shape;365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  <p:sp>
        <p:nvSpPr>
          <p:cNvPr id="366" name="Google Shape;366;p4"/>
          <p:cNvSpPr txBox="1">
            <a:spLocks noGrp="1"/>
          </p:cNvSpPr>
          <p:nvPr>
            <p:ph type="body" idx="1"/>
          </p:nvPr>
        </p:nvSpPr>
        <p:spPr>
          <a:xfrm>
            <a:off x="623392" y="1902582"/>
            <a:ext cx="10926924" cy="1658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9080" lvl="0" indent="-25908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2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Es una representación simplificada de un proceso de software que presenta una visión de ese proceso.</a:t>
            </a:r>
            <a:endParaRPr dirty="0"/>
          </a:p>
          <a:p>
            <a:pPr marL="259080" lvl="0" indent="-259080" algn="just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Clr>
                <a:schemeClr val="dk1"/>
              </a:buClr>
              <a:buSzPts val="1872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Estos modelos pueden incluir actividades que son partes de los procesos y productos de software, y el papel de las personas involucradas.</a:t>
            </a:r>
            <a:endParaRPr dirty="0"/>
          </a:p>
        </p:txBody>
      </p:sp>
      <p:pic>
        <p:nvPicPr>
          <p:cNvPr id="368" name="Google Shape;368;p4"/>
          <p:cNvPicPr preferRelativeResize="0"/>
          <p:nvPr/>
        </p:nvPicPr>
        <p:blipFill rotWithShape="1">
          <a:blip r:embed="rId3">
            <a:alphaModFix/>
          </a:blip>
          <a:srcRect l="2428" t="4505" r="2341" b="2521"/>
          <a:stretch>
            <a:fillRect/>
          </a:stretch>
        </p:blipFill>
        <p:spPr>
          <a:xfrm>
            <a:off x="7548010" y="3561347"/>
            <a:ext cx="4234376" cy="2731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</a:pPr>
            <a:r>
              <a:rPr lang="es-ES" sz="4400"/>
              <a:t>¿Qué es un modelo de proceso de software?</a:t>
            </a:r>
            <a:endParaRPr sz="4400"/>
          </a:p>
        </p:txBody>
      </p:sp>
      <p:sp>
        <p:nvSpPr>
          <p:cNvPr id="374" name="Google Shape;374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  <p:sp>
        <p:nvSpPr>
          <p:cNvPr id="375" name="Google Shape;375;p21"/>
          <p:cNvSpPr txBox="1">
            <a:spLocks noGrp="1"/>
          </p:cNvSpPr>
          <p:nvPr>
            <p:ph type="body" idx="4294967295"/>
          </p:nvPr>
        </p:nvSpPr>
        <p:spPr>
          <a:xfrm>
            <a:off x="6644547" y="6509538"/>
            <a:ext cx="3015646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/>
              <a:t>Sommerville – Capítulo 1</a:t>
            </a:r>
            <a:endParaRPr dirty="0"/>
          </a:p>
        </p:txBody>
      </p:sp>
      <p:sp>
        <p:nvSpPr>
          <p:cNvPr id="376" name="Google Shape;376;p21"/>
          <p:cNvSpPr txBox="1">
            <a:spLocks noGrp="1"/>
          </p:cNvSpPr>
          <p:nvPr>
            <p:ph type="body" idx="4294967295"/>
          </p:nvPr>
        </p:nvSpPr>
        <p:spPr>
          <a:xfrm>
            <a:off x="391262" y="1735928"/>
            <a:ext cx="7155618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01600" lvl="0" indent="0" algn="just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sz="2800" b="0" u="none" strike="noStrike" dirty="0">
                <a:latin typeface="Calibri"/>
                <a:ea typeface="Calibri"/>
                <a:cs typeface="Calibri"/>
                <a:sym typeface="Calibri"/>
              </a:rPr>
              <a:t>Marco de referencia que contiene los procesos, las actividades y las tareas involucradas en el desarrollo, la explotación y el mantenimiento de un producto de software, abarcando la vida del sistema desde la definición de los requisitos hasta la finalización de su uso </a:t>
            </a:r>
          </a:p>
          <a:p>
            <a:pPr marL="101600" lvl="0" indent="0" algn="just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sz="2400" b="0" i="1" u="none" strike="noStrike" dirty="0">
                <a:latin typeface="Calibri"/>
                <a:ea typeface="Calibri"/>
                <a:cs typeface="Calibri"/>
                <a:sym typeface="Calibri"/>
              </a:rPr>
              <a:t>(norma ISO 12207-1) [ISO/IEC, 1995]</a:t>
            </a:r>
            <a:endParaRPr sz="2800" b="0" i="1" u="none" strike="noStrike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8" name="Google Shape;37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49494" y="2067782"/>
            <a:ext cx="3725839" cy="397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388" name="Google Shape;388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  <p:sp>
        <p:nvSpPr>
          <p:cNvPr id="389" name="Google Shape;389;p22"/>
          <p:cNvSpPr txBox="1">
            <a:spLocks noGrp="1"/>
          </p:cNvSpPr>
          <p:nvPr>
            <p:ph type="body" idx="4294967295"/>
          </p:nvPr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68580" lvl="0" indent="-685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s-ES" dirty="0"/>
              <a:t>Pfleeger</a:t>
            </a:r>
            <a:endParaRPr dirty="0"/>
          </a:p>
        </p:txBody>
      </p:sp>
      <p:sp>
        <p:nvSpPr>
          <p:cNvPr id="390" name="Google Shape;390;p22"/>
          <p:cNvSpPr txBox="1">
            <a:spLocks noGrp="1"/>
          </p:cNvSpPr>
          <p:nvPr>
            <p:ph type="body" idx="4294967295"/>
          </p:nvPr>
        </p:nvSpPr>
        <p:spPr>
          <a:xfrm>
            <a:off x="394642" y="1879276"/>
            <a:ext cx="11187757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" lvl="1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r>
              <a:rPr lang="es-ES" sz="3200" dirty="0"/>
              <a:t>Características</a:t>
            </a:r>
            <a:endParaRPr dirty="0"/>
          </a:p>
          <a:p>
            <a:pPr marL="260604" lvl="1" indent="-793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Noto Sans Symbols"/>
              <a:buChar char="❑"/>
            </a:pPr>
            <a:r>
              <a:rPr lang="es-ES" sz="2400" dirty="0"/>
              <a:t>Establece todas las actividades.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Noto Sans Symbols"/>
              <a:buChar char="❑"/>
            </a:pPr>
            <a:r>
              <a:rPr lang="es-ES" sz="2400" dirty="0"/>
              <a:t>Utiliza recursos, está sujeto a restricciones y genera productos intermedios y finales.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Noto Sans Symbols"/>
              <a:buChar char="❑"/>
            </a:pPr>
            <a:r>
              <a:rPr lang="es-ES" sz="2400" dirty="0"/>
              <a:t>Puede estar compuesto por subprocesos.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Noto Sans Symbols"/>
              <a:buChar char="❑"/>
            </a:pPr>
            <a:r>
              <a:rPr lang="es-ES" sz="2400" dirty="0"/>
              <a:t>Cada actividad tiene entradas y salidas definidas.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Noto Sans Symbols"/>
              <a:buChar char="❑"/>
            </a:pPr>
            <a:r>
              <a:rPr lang="es-ES" sz="2400" dirty="0"/>
              <a:t>Las actividades se organizan en una secuencia.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Noto Sans Symbols"/>
              <a:buChar char="❑"/>
            </a:pPr>
            <a:r>
              <a:rPr lang="es-ES" sz="2400" dirty="0"/>
              <a:t>Existen principios que orientan sobre las metas de cada actividad.</a:t>
            </a:r>
            <a:endParaRPr dirty="0"/>
          </a:p>
          <a:p>
            <a:pPr marL="411480" lvl="2" indent="-41148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160"/>
              <a:buFont typeface="Noto Sans Symbols"/>
              <a:buChar char="❑"/>
            </a:pPr>
            <a:r>
              <a:rPr lang="es-ES" sz="2400" dirty="0"/>
              <a:t>Las restricciones pueden aplicarse a una actividad, recurso o producto.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"/>
          <p:cNvSpPr txBox="1">
            <a:spLocks noGrp="1"/>
          </p:cNvSpPr>
          <p:nvPr>
            <p:ph type="title"/>
          </p:nvPr>
        </p:nvSpPr>
        <p:spPr>
          <a:xfrm>
            <a:off x="565636" y="563361"/>
            <a:ext cx="10772700" cy="11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397" name="Google Shape;397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  <p:sp>
        <p:nvSpPr>
          <p:cNvPr id="399" name="Google Shape;399;p23"/>
          <p:cNvSpPr txBox="1">
            <a:spLocks noGrp="1"/>
          </p:cNvSpPr>
          <p:nvPr>
            <p:ph type="body" idx="4294967295"/>
          </p:nvPr>
        </p:nvSpPr>
        <p:spPr>
          <a:xfrm>
            <a:off x="391904" y="1779149"/>
            <a:ext cx="11408191" cy="246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-ES" sz="2400" b="1" dirty="0"/>
              <a:t>Ciclo de vida </a:t>
            </a:r>
            <a:endParaRPr sz="2400" dirty="0"/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400" dirty="0"/>
              <a:t>Proceso que implica la construcción de un producto</a:t>
            </a:r>
            <a:endParaRPr sz="2000" dirty="0"/>
          </a:p>
          <a:p>
            <a:pPr marL="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000"/>
              <a:buNone/>
            </a:pPr>
            <a:r>
              <a:rPr lang="es-ES" sz="2400" b="1" dirty="0"/>
              <a:t>Ciclo de vida del Software</a:t>
            </a:r>
            <a:endParaRPr sz="2400" dirty="0"/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400" dirty="0"/>
              <a:t>Describe la vida del producto de software desde su concepción hasta su implementación, entrega, utilización y mantenimiento</a:t>
            </a:r>
            <a:endParaRPr sz="2000" dirty="0"/>
          </a:p>
          <a:p>
            <a:pPr marL="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000"/>
              <a:buNone/>
            </a:pPr>
            <a:r>
              <a:rPr lang="es-ES" sz="2400" b="1" dirty="0"/>
              <a:t>Modelos de proceso de software</a:t>
            </a:r>
            <a:endParaRPr sz="2400" dirty="0"/>
          </a:p>
          <a:p>
            <a:pPr marL="3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400" dirty="0"/>
              <a:t>Es una representación abstracta de un proceso del software</a:t>
            </a:r>
            <a:endParaRPr dirty="0"/>
          </a:p>
          <a:p>
            <a:pPr marL="101600" lvl="2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endParaRPr sz="1800" dirty="0"/>
          </a:p>
          <a:p>
            <a:pPr marL="130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400" dirty="0"/>
          </a:p>
        </p:txBody>
      </p:sp>
      <p:sp>
        <p:nvSpPr>
          <p:cNvPr id="401" name="Google Shape;401;p23"/>
          <p:cNvSpPr txBox="1"/>
          <p:nvPr/>
        </p:nvSpPr>
        <p:spPr>
          <a:xfrm>
            <a:off x="5303911" y="5049670"/>
            <a:ext cx="307559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E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Términos Equivalentes 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3"/>
          <p:cNvSpPr/>
          <p:nvPr/>
        </p:nvSpPr>
        <p:spPr>
          <a:xfrm>
            <a:off x="767408" y="4714226"/>
            <a:ext cx="60960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proceso 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Paradigma de software          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E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Ciclo de vida del software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3"/>
          <p:cNvSpPr/>
          <p:nvPr/>
        </p:nvSpPr>
        <p:spPr>
          <a:xfrm>
            <a:off x="4871864" y="4688817"/>
            <a:ext cx="144016" cy="1091038"/>
          </a:xfrm>
          <a:prstGeom prst="rightBrace">
            <a:avLst>
              <a:gd name="adj1" fmla="val 8333"/>
              <a:gd name="adj2" fmla="val 50000"/>
            </a:avLst>
          </a:prstGeom>
          <a:gradFill>
            <a:gsLst>
              <a:gs pos="0">
                <a:srgbClr val="E98A8A"/>
              </a:gs>
              <a:gs pos="50000">
                <a:srgbClr val="F0B8B8"/>
              </a:gs>
              <a:gs pos="100000">
                <a:srgbClr val="F6DDDD"/>
              </a:gs>
            </a:gsLst>
            <a:lin ang="10800000" scaled="0"/>
          </a:gra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89;p22">
            <a:extLst>
              <a:ext uri="{FF2B5EF4-FFF2-40B4-BE49-F238E27FC236}">
                <a16:creationId xmlns:a16="http://schemas.microsoft.com/office/drawing/2014/main" id="{5C65F35C-AE30-50C8-6A09-5536CFA6FC3C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413" name="Google Shape;413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sp>
        <p:nvSpPr>
          <p:cNvPr id="415" name="Google Shape;415;p24"/>
          <p:cNvSpPr txBox="1">
            <a:spLocks noGrp="1"/>
          </p:cNvSpPr>
          <p:nvPr>
            <p:ph type="body" idx="4294967295"/>
          </p:nvPr>
        </p:nvSpPr>
        <p:spPr>
          <a:xfrm>
            <a:off x="623391" y="1902579"/>
            <a:ext cx="10940251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s-ES" sz="2400" dirty="0"/>
              <a:t>Modelos </a:t>
            </a:r>
            <a:r>
              <a:rPr lang="es-ES" sz="2400" b="1" dirty="0"/>
              <a:t>prescriptivos</a:t>
            </a:r>
            <a:endParaRPr sz="2400" dirty="0"/>
          </a:p>
          <a:p>
            <a:pPr marL="3429" lvl="1" indent="0" algn="just" rtl="0">
              <a:lnSpc>
                <a:spcPct val="85000"/>
              </a:lnSpc>
              <a:spcBef>
                <a:spcPts val="10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400" dirty="0"/>
              <a:t>Prescriben un conjunto de elementos del proceso: actividades del marco de trabajo, acciones de la ingeniería del software, tareas, aseguramiento de la calidad y mecanismos de control.</a:t>
            </a:r>
            <a:endParaRPr sz="2000" dirty="0"/>
          </a:p>
          <a:p>
            <a:pPr marL="3429" lvl="1" indent="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400" dirty="0"/>
              <a:t>Cada modelo de proceso prescribe también un “flujo de trabajo”, es decir de qué forma los elementos del proceso se interrelacionan entre sí.</a:t>
            </a:r>
            <a:endParaRPr sz="2000" dirty="0"/>
          </a:p>
          <a:p>
            <a:pPr marL="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s-ES" sz="2400" dirty="0"/>
              <a:t>Modelos </a:t>
            </a:r>
            <a:r>
              <a:rPr lang="es-ES" sz="2400" b="1" dirty="0"/>
              <a:t>descriptivos</a:t>
            </a:r>
            <a:endParaRPr sz="2400" dirty="0"/>
          </a:p>
          <a:p>
            <a:pPr marL="3429" lvl="1" indent="0" algn="l" rtl="0">
              <a:lnSpc>
                <a:spcPct val="85000"/>
              </a:lnSpc>
              <a:spcBef>
                <a:spcPts val="10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s-ES" sz="2400" dirty="0"/>
              <a:t>Descripción en la forma en que se realizan en la realidad.</a:t>
            </a:r>
            <a:endParaRPr sz="2000" dirty="0"/>
          </a:p>
          <a:p>
            <a:pPr marL="130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400" dirty="0"/>
          </a:p>
          <a:p>
            <a:pPr marL="0" lvl="0" indent="0" algn="l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Clr>
                <a:srgbClr val="C00000"/>
              </a:buClr>
              <a:buSzPts val="2000"/>
              <a:buNone/>
            </a:pPr>
            <a:r>
              <a:rPr lang="es-ES" sz="2400" b="1" u="sng" dirty="0"/>
              <a:t>Ambos modelos deberían ser iguales</a:t>
            </a:r>
            <a:endParaRPr sz="2400" b="1" u="sng" dirty="0"/>
          </a:p>
          <a:p>
            <a:pPr marL="130429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400" dirty="0"/>
          </a:p>
        </p:txBody>
      </p:sp>
      <p:pic>
        <p:nvPicPr>
          <p:cNvPr id="417" name="Google Shape;417;p24" descr="http://3.bp.blogspot.com/-cbldCxriHvo/T9Q30nE9uXI/AAAAAAAAABU/g-b4B6XWS_0/s1600/pgr.png"/>
          <p:cNvPicPr preferRelativeResize="0"/>
          <p:nvPr/>
        </p:nvPicPr>
        <p:blipFill rotWithShape="1">
          <a:blip r:embed="rId3">
            <a:alphaModFix/>
          </a:blip>
          <a:srcRect t="24044"/>
          <a:stretch/>
        </p:blipFill>
        <p:spPr>
          <a:xfrm>
            <a:off x="8750620" y="3984215"/>
            <a:ext cx="2267744" cy="21328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C318C70C-5062-1F73-1F8B-20B37DAF8A1C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4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4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4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Proceso</a:t>
            </a:r>
            <a:endParaRPr sz="4400"/>
          </a:p>
        </p:txBody>
      </p:sp>
      <p:sp>
        <p:nvSpPr>
          <p:cNvPr id="427" name="Google Shape;427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429" name="Google Shape;429;p25"/>
          <p:cNvSpPr txBox="1">
            <a:spLocks noGrp="1"/>
          </p:cNvSpPr>
          <p:nvPr>
            <p:ph type="body" idx="4294967295"/>
          </p:nvPr>
        </p:nvSpPr>
        <p:spPr>
          <a:xfrm>
            <a:off x="476422" y="1592525"/>
            <a:ext cx="11326373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01600" lvl="0" indent="0" algn="l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 tradicionales</a:t>
            </a:r>
            <a:endParaRPr b="1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Formados por un conjunto de fases o actividades en las que no se tiene en cuenta la naturaleza evolutiva del software</a:t>
            </a:r>
            <a:endParaRPr b="1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Clásico, lineal, secuencial o en cascada</a:t>
            </a:r>
            <a:endParaRPr dirty="0"/>
          </a:p>
          <a:p>
            <a:pPr marL="457200" lvl="0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en V</a:t>
            </a:r>
            <a:endParaRPr b="0" i="0" u="none" strike="noStrik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Basado en prototipos</a:t>
            </a:r>
            <a:endParaRPr dirty="0"/>
          </a:p>
          <a:p>
            <a:pPr marL="101600" lvl="0" indent="0" algn="l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 evolutivos</a:t>
            </a:r>
            <a:endParaRPr dirty="0"/>
          </a:p>
          <a:p>
            <a:pPr marL="101600" lvl="0" indent="0" algn="l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modelos que se adaptan a la evolución que sufren los requisitos del sistema en función del tiempo</a:t>
            </a:r>
            <a:endParaRPr dirty="0"/>
          </a:p>
          <a:p>
            <a:pPr marL="457200" lvl="0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fases</a:t>
            </a:r>
          </a:p>
          <a:p>
            <a:pPr lvl="1" indent="-355600">
              <a:spcBef>
                <a:spcPts val="600"/>
              </a:spcBef>
              <a:buClr>
                <a:schemeClr val="dk1"/>
              </a:buClr>
              <a:buFont typeface="Noto Sans Symbols"/>
              <a:buChar char="❑"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Incremental </a:t>
            </a:r>
            <a:endParaRPr dirty="0"/>
          </a:p>
          <a:p>
            <a:pPr lvl="1" indent="-355600">
              <a:spcBef>
                <a:spcPts val="600"/>
              </a:spcBef>
              <a:buClr>
                <a:schemeClr val="dk1"/>
              </a:buClr>
              <a:buFont typeface="Noto Sans Symbols"/>
              <a:buChar char="❑"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Iterativo</a:t>
            </a:r>
            <a:r>
              <a:rPr lang="es-E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457200" lvl="0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espiral</a:t>
            </a:r>
            <a:endParaRPr dirty="0"/>
          </a:p>
          <a:p>
            <a:pPr marL="101600" lvl="0" indent="0" algn="l" rtl="0">
              <a:lnSpc>
                <a:spcPct val="90000"/>
              </a:lnSpc>
              <a:spcBef>
                <a:spcPts val="1195"/>
              </a:spcBef>
              <a:spcAft>
                <a:spcPts val="0"/>
              </a:spcAft>
              <a:buSzPts val="2000"/>
              <a:buNone/>
            </a:pPr>
            <a:r>
              <a:rPr lang="es-ES" b="0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b="1" i="0" u="none" strike="noStrik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ágiles</a:t>
            </a:r>
            <a:endParaRPr dirty="0"/>
          </a:p>
        </p:txBody>
      </p:sp>
      <p:pic>
        <p:nvPicPr>
          <p:cNvPr id="431" name="Google Shape;431;p25" descr="http://www.360logica.com/wp-content/uploads/2012/12/Retail-Software-Testing1.jpg"/>
          <p:cNvPicPr preferRelativeResize="0"/>
          <p:nvPr/>
        </p:nvPicPr>
        <p:blipFill rotWithShape="1">
          <a:blip r:embed="rId3">
            <a:alphaModFix/>
          </a:blip>
          <a:srcRect l="16191" r="14507" b="3653"/>
          <a:stretch/>
        </p:blipFill>
        <p:spPr>
          <a:xfrm>
            <a:off x="9996463" y="2566701"/>
            <a:ext cx="1806332" cy="16536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7BB60376-6B3B-1C02-716C-2E7D1EC66D05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</a:pPr>
            <a:r>
              <a:rPr lang="es-ES" sz="4400"/>
              <a:t>Modelo en cascada</a:t>
            </a:r>
            <a:endParaRPr/>
          </a:p>
        </p:txBody>
      </p:sp>
      <p:sp>
        <p:nvSpPr>
          <p:cNvPr id="439" name="Google Shape;439;p1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sp>
        <p:nvSpPr>
          <p:cNvPr id="441" name="Google Shape;441;p127"/>
          <p:cNvSpPr txBox="1">
            <a:spLocks noGrp="1"/>
          </p:cNvSpPr>
          <p:nvPr>
            <p:ph type="body" idx="4294967295"/>
          </p:nvPr>
        </p:nvSpPr>
        <p:spPr>
          <a:xfrm>
            <a:off x="623394" y="2037758"/>
            <a:ext cx="6607402" cy="4252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60629" lvl="1" indent="-45720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80"/>
              <a:buFont typeface="Noto Sans Symbols"/>
              <a:buChar char="❑"/>
            </a:pPr>
            <a:r>
              <a:rPr lang="es-ES" sz="2400" dirty="0">
                <a:solidFill>
                  <a:srgbClr val="262626"/>
                </a:solidFill>
              </a:rPr>
              <a:t>Las etapas se representan cayendo en cascada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0629" lvl="1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80"/>
              <a:buFont typeface="Noto Sans Symbols"/>
              <a:buChar char="❑"/>
            </a:pPr>
            <a:r>
              <a:rPr lang="es-ES" sz="2400" dirty="0">
                <a:solidFill>
                  <a:srgbClr val="262626"/>
                </a:solidFill>
              </a:rPr>
              <a:t>Cada etapa de desarrollo se debe completar antes que comience la siguiente 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0629" lvl="1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80"/>
              <a:buFont typeface="Noto Sans Symbols"/>
              <a:buChar char="❑"/>
            </a:pPr>
            <a:r>
              <a:rPr lang="es-ES" sz="2400" dirty="0">
                <a:solidFill>
                  <a:srgbClr val="262626"/>
                </a:solidFill>
              </a:rPr>
              <a:t>Útil para diagramar lo que se necesita hacer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60629" lvl="1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80"/>
              <a:buFont typeface="Noto Sans Symbols"/>
              <a:buChar char="❑"/>
            </a:pPr>
            <a:r>
              <a:rPr lang="es-ES" sz="2400" dirty="0">
                <a:solidFill>
                  <a:srgbClr val="262626"/>
                </a:solidFill>
              </a:rPr>
              <a:t>Su simplicidad hace que sea fácil explicarlo a los clientes</a:t>
            </a: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63326" y="2679032"/>
            <a:ext cx="4828674" cy="3321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la realidad en comparación con cascada</a:t>
            </a:r>
            <a:endParaRPr sz="4400"/>
          </a:p>
        </p:txBody>
      </p:sp>
      <p:sp>
        <p:nvSpPr>
          <p:cNvPr id="453" name="Google Shape;453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sp>
        <p:nvSpPr>
          <p:cNvPr id="455" name="Google Shape;455;p27"/>
          <p:cNvSpPr txBox="1">
            <a:spLocks noGrp="1"/>
          </p:cNvSpPr>
          <p:nvPr>
            <p:ph type="body" idx="4294967295"/>
          </p:nvPr>
        </p:nvSpPr>
        <p:spPr>
          <a:xfrm>
            <a:off x="623392" y="190257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4480" lvl="0" indent="-2844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60"/>
              <a:buFont typeface="Noto Sans Symbols"/>
              <a:buChar char="❑"/>
            </a:pPr>
            <a:r>
              <a:rPr lang="es-ES" sz="2400"/>
              <a:t>Modelo de la realidad (sin control entre las etapas)</a:t>
            </a:r>
            <a:endParaRPr sz="2400"/>
          </a:p>
        </p:txBody>
      </p:sp>
      <p:pic>
        <p:nvPicPr>
          <p:cNvPr id="457" name="Google Shape;457;p27"/>
          <p:cNvPicPr preferRelativeResize="0"/>
          <p:nvPr/>
        </p:nvPicPr>
        <p:blipFill rotWithShape="1">
          <a:blip r:embed="rId3">
            <a:alphaModFix/>
          </a:blip>
          <a:srcRect l="10203"/>
          <a:stretch/>
        </p:blipFill>
        <p:spPr>
          <a:xfrm rot="-5400000">
            <a:off x="4052800" y="1328984"/>
            <a:ext cx="3816424" cy="59766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FC3E6BD6-0120-068D-14D1-CCA6E3FFA001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en cascada</a:t>
            </a:r>
            <a:endParaRPr sz="4400"/>
          </a:p>
        </p:txBody>
      </p:sp>
      <p:sp>
        <p:nvSpPr>
          <p:cNvPr id="467" name="Google Shape;467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17</a:t>
            </a:fld>
            <a:endParaRPr/>
          </a:p>
        </p:txBody>
      </p:sp>
      <p:sp>
        <p:nvSpPr>
          <p:cNvPr id="469" name="Google Shape;469;p28"/>
          <p:cNvSpPr txBox="1">
            <a:spLocks noGrp="1"/>
          </p:cNvSpPr>
          <p:nvPr>
            <p:ph type="body" idx="4294967295"/>
          </p:nvPr>
        </p:nvSpPr>
        <p:spPr>
          <a:xfrm>
            <a:off x="666283" y="1778378"/>
            <a:ext cx="10034615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" lvl="1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800" dirty="0"/>
              <a:t>Dificultades:</a:t>
            </a:r>
            <a:endParaRPr sz="2000"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❑"/>
            </a:pPr>
            <a:r>
              <a:rPr lang="es-ES" sz="2400" dirty="0"/>
              <a:t>No existen resultados concretos hasta que todo esté terminado.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❑"/>
            </a:pPr>
            <a:r>
              <a:rPr lang="es-ES" sz="2400" dirty="0"/>
              <a:t>Las fallas más triviales se encuentran al comienzo del período de prueba y las más graves al final.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❑"/>
            </a:pPr>
            <a:r>
              <a:rPr lang="es-ES" sz="2400" dirty="0"/>
              <a:t>La eliminación de fallas suele ser extremadamente difícil durante las últimas etapas de prueba del sistema.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❑"/>
            </a:pPr>
            <a:r>
              <a:rPr lang="es-ES" sz="2400" dirty="0"/>
              <a:t>Deriva del mundo del hardware y presenta una visión de manufactura sobre el desarrollo de software.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❑"/>
            </a:pPr>
            <a:r>
              <a:rPr lang="es-ES" sz="2400" dirty="0"/>
              <a:t>La necesidad de pruebas aumenta exponencialmente durante las etapas finales.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❑"/>
            </a:pPr>
            <a:r>
              <a:rPr lang="es-ES" sz="2400" dirty="0"/>
              <a:t>"CONGELAR" una fase es poco realista.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Noto Sans Symbols"/>
              <a:buChar char="❑"/>
            </a:pPr>
            <a:r>
              <a:rPr lang="es-ES" sz="2400" dirty="0"/>
              <a:t>Existen errores, cambios de parecer, cambios en el ambiente.</a:t>
            </a:r>
            <a:endParaRPr dirty="0"/>
          </a:p>
        </p:txBody>
      </p:sp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CDA886DD-9F31-B345-98A8-205D971BE2D3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Google Shape;479;p29"/>
          <p:cNvPicPr preferRelativeResize="0"/>
          <p:nvPr/>
        </p:nvPicPr>
        <p:blipFill rotWithShape="1">
          <a:blip r:embed="rId3">
            <a:alphaModFix/>
          </a:blip>
          <a:srcRect l="13408" r="4178"/>
          <a:stretch>
            <a:fillRect/>
          </a:stretch>
        </p:blipFill>
        <p:spPr>
          <a:xfrm rot="-5400000">
            <a:off x="3653501" y="130566"/>
            <a:ext cx="4275002" cy="7893121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en cascada con prototipo</a:t>
            </a:r>
            <a:endParaRPr sz="4400"/>
          </a:p>
        </p:txBody>
      </p:sp>
      <p:sp>
        <p:nvSpPr>
          <p:cNvPr id="481" name="Google Shape;481;p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7518E3A3-15FF-0F6C-6D03-B2B466914E08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en V</a:t>
            </a:r>
            <a:endParaRPr sz="4400"/>
          </a:p>
        </p:txBody>
      </p:sp>
      <p:sp>
        <p:nvSpPr>
          <p:cNvPr id="495" name="Google Shape;495;p30"/>
          <p:cNvSpPr txBox="1">
            <a:spLocks noGrp="1"/>
          </p:cNvSpPr>
          <p:nvPr>
            <p:ph type="body" idx="4294967295"/>
          </p:nvPr>
        </p:nvSpPr>
        <p:spPr>
          <a:xfrm>
            <a:off x="192257" y="1772872"/>
            <a:ext cx="4459954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9179" lvl="1" indent="-28575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20"/>
              <a:buFont typeface="Noto Sans Symbols"/>
              <a:buChar char="❑"/>
            </a:pPr>
            <a:r>
              <a:rPr lang="es-ES" dirty="0"/>
              <a:t>Demuestra cómo se </a:t>
            </a:r>
            <a:r>
              <a:rPr lang="es-ES" b="1" dirty="0"/>
              <a:t>relacionan las actividades de prueba </a:t>
            </a:r>
            <a:r>
              <a:rPr lang="es-ES" dirty="0"/>
              <a:t>con las de análisis y diseño.</a:t>
            </a:r>
            <a:endParaRPr dirty="0"/>
          </a:p>
          <a:p>
            <a:pPr marL="289179" lvl="1" indent="-28575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20"/>
              <a:buFont typeface="Noto Sans Symbols"/>
              <a:buChar char="❑"/>
            </a:pPr>
            <a:r>
              <a:rPr lang="es-ES" dirty="0"/>
              <a:t>Sugiere que </a:t>
            </a:r>
            <a:r>
              <a:rPr lang="es-ES" b="1" dirty="0"/>
              <a:t>la prueba unitaria y de integración </a:t>
            </a:r>
            <a:r>
              <a:rPr lang="es-ES" dirty="0"/>
              <a:t>también sea utilizada para verificar el diseño del programa</a:t>
            </a:r>
            <a:endParaRPr dirty="0"/>
          </a:p>
          <a:p>
            <a:pPr marL="289179" lvl="1" indent="-28575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20"/>
              <a:buFont typeface="Noto Sans Symbols"/>
              <a:buChar char="❑"/>
            </a:pPr>
            <a:r>
              <a:rPr lang="es-ES" b="1" dirty="0"/>
              <a:t>La vinculación entre los lados derecho e izquierdo </a:t>
            </a:r>
            <a:r>
              <a:rPr lang="es-ES" dirty="0"/>
              <a:t>implica que, si se encuentran problemas durante la verificación y validación, entonces el lado izquierdo de la V puede ser ejecutado nuevamente para solucionar el problema. </a:t>
            </a:r>
            <a:endParaRPr dirty="0"/>
          </a:p>
          <a:p>
            <a:pPr marL="403479" lvl="1" indent="-1828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20"/>
              <a:buFont typeface="Noto Sans Symbols"/>
              <a:buNone/>
            </a:pPr>
            <a:endParaRPr dirty="0"/>
          </a:p>
          <a:p>
            <a:pPr marL="403479" lvl="1" indent="-1828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20"/>
              <a:buFont typeface="Noto Sans Symbols"/>
              <a:buNone/>
            </a:pPr>
            <a:endParaRPr dirty="0"/>
          </a:p>
        </p:txBody>
      </p:sp>
      <p:pic>
        <p:nvPicPr>
          <p:cNvPr id="497" name="Google Shape;497;p30"/>
          <p:cNvPicPr preferRelativeResize="0"/>
          <p:nvPr/>
        </p:nvPicPr>
        <p:blipFill rotWithShape="1">
          <a:blip r:embed="rId3">
            <a:alphaModFix/>
          </a:blip>
          <a:srcRect t="2723" b="10425"/>
          <a:stretch>
            <a:fillRect/>
          </a:stretch>
        </p:blipFill>
        <p:spPr>
          <a:xfrm>
            <a:off x="5438273" y="1835564"/>
            <a:ext cx="6148326" cy="44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191F6C4A-04A4-7A9C-83B9-D5847FAF8645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1" descr="http://ossielniembrogarcia.files.wordpress.com/2014/05/slide-1-728.jpg"/>
          <p:cNvPicPr preferRelativeResize="0"/>
          <p:nvPr/>
        </p:nvPicPr>
        <p:blipFill rotWithShape="1">
          <a:blip r:embed="rId3">
            <a:alphaModFix/>
          </a:blip>
          <a:srcRect l="31499" t="36290" r="25924" b="20786"/>
          <a:stretch/>
        </p:blipFill>
        <p:spPr>
          <a:xfrm>
            <a:off x="5519992" y="4141929"/>
            <a:ext cx="2769056" cy="209367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508" name="Google Shape;508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  <p:sp>
        <p:nvSpPr>
          <p:cNvPr id="510" name="Google Shape;510;p31"/>
          <p:cNvSpPr txBox="1">
            <a:spLocks noGrp="1"/>
          </p:cNvSpPr>
          <p:nvPr>
            <p:ph type="body" idx="4294967295"/>
          </p:nvPr>
        </p:nvSpPr>
        <p:spPr>
          <a:xfrm>
            <a:off x="623391" y="1902579"/>
            <a:ext cx="10573997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400" dirty="0"/>
              <a:t>Un prototipo es un producto parcialmente desarrollado que permite que clientes y desarrolladores examinen algunos aspectos del sistema propuesto, y decidan si éste es adecuado o correcto para el producto terminado.</a:t>
            </a:r>
            <a:endParaRPr sz="1600" dirty="0"/>
          </a:p>
          <a:p>
            <a:pPr marL="260604" lvl="1" indent="-793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400"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400" dirty="0"/>
              <a:t>Esta es una alternativa de especificación para tratar mejor la incertidumbre, la ambigüedad y la volubilidad de los proyectos reales.</a:t>
            </a:r>
            <a:endParaRPr sz="1600" dirty="0"/>
          </a:p>
          <a:p>
            <a:pPr marL="260604" lvl="1" indent="-793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prototipos- Tipos</a:t>
            </a:r>
            <a:endParaRPr sz="4400"/>
          </a:p>
        </p:txBody>
      </p:sp>
      <p:sp>
        <p:nvSpPr>
          <p:cNvPr id="521" name="Google Shape;521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  <p:sp>
        <p:nvSpPr>
          <p:cNvPr id="523" name="Google Shape;523;p32"/>
          <p:cNvSpPr txBox="1">
            <a:spLocks noGrp="1"/>
          </p:cNvSpPr>
          <p:nvPr>
            <p:ph type="body" idx="4294967295"/>
          </p:nvPr>
        </p:nvSpPr>
        <p:spPr>
          <a:xfrm>
            <a:off x="167809" y="1791895"/>
            <a:ext cx="7420107" cy="447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175" lvl="1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  <a:p>
            <a:pPr marL="0" lvl="2" indent="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 b="1" dirty="0">
                <a:solidFill>
                  <a:schemeClr val="dk1"/>
                </a:solidFill>
              </a:rPr>
              <a:t>Evolutivos</a:t>
            </a:r>
            <a:endParaRPr dirty="0"/>
          </a:p>
          <a:p>
            <a:pPr marL="342900" lvl="2" indent="-342900" algn="just">
              <a:lnSpc>
                <a:spcPct val="85000"/>
              </a:lnSpc>
              <a:spcBef>
                <a:spcPts val="45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</a:rPr>
              <a:t>El objetivo es obtener el sistema a entregar</a:t>
            </a:r>
            <a:endParaRPr dirty="0"/>
          </a:p>
          <a:p>
            <a:pPr marL="342900" lvl="3" indent="-342900" algn="just">
              <a:lnSpc>
                <a:spcPct val="85000"/>
              </a:lnSpc>
              <a:spcBef>
                <a:spcPts val="450"/>
              </a:spcBef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</a:rPr>
              <a:t>Permite que todo el sistema o alguna de sus partes se construyan rápidamente para comprender o aclarar aspectos y asegurar que el desarrollador, el usuario y el cliente tengan una comprensión unificada tanto de lo que se necesita como de lo que se propone como solución</a:t>
            </a:r>
            <a:endParaRPr dirty="0"/>
          </a:p>
          <a:p>
            <a:pPr marL="0" lvl="3" indent="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2" indent="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2400" b="1" dirty="0">
                <a:solidFill>
                  <a:schemeClr val="dk1"/>
                </a:solidFill>
              </a:rPr>
              <a:t>Descartables </a:t>
            </a:r>
            <a:endParaRPr dirty="0"/>
          </a:p>
          <a:p>
            <a:pPr marL="215900" lvl="3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</a:rPr>
              <a:t>No tiene funcionalidad</a:t>
            </a:r>
            <a:endParaRPr dirty="0"/>
          </a:p>
          <a:p>
            <a:pPr marL="215900" lvl="3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dk1"/>
                </a:solidFill>
              </a:rPr>
              <a:t>Se utilizan herramientas de modelado </a:t>
            </a:r>
            <a:endParaRPr dirty="0">
              <a:solidFill>
                <a:schemeClr val="dk1"/>
              </a:solidFill>
            </a:endParaRPr>
          </a:p>
          <a:p>
            <a:pPr marL="68580" lvl="0" indent="0" algn="just" rtl="0">
              <a:lnSpc>
                <a:spcPct val="85000"/>
              </a:lnSpc>
              <a:spcBef>
                <a:spcPts val="975"/>
              </a:spcBef>
              <a:spcAft>
                <a:spcPts val="0"/>
              </a:spcAft>
              <a:buSzPts val="2000"/>
              <a:buNone/>
            </a:pPr>
            <a:endParaRPr dirty="0"/>
          </a:p>
        </p:txBody>
      </p:sp>
      <p:pic>
        <p:nvPicPr>
          <p:cNvPr id="525" name="Google Shape;52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3611" y="2065280"/>
            <a:ext cx="4208389" cy="3671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DF188A29-FD94-5484-2FD0-5A4A5246E5FB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535" name="Google Shape;535;p1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  <p:graphicFrame>
        <p:nvGraphicFramePr>
          <p:cNvPr id="538" name="Google Shape;538;p128"/>
          <p:cNvGraphicFramePr/>
          <p:nvPr>
            <p:extLst>
              <p:ext uri="{D42A27DB-BD31-4B8C-83A1-F6EECF244321}">
                <p14:modId xmlns:p14="http://schemas.microsoft.com/office/powerpoint/2010/main" val="2212790011"/>
              </p:ext>
            </p:extLst>
          </p:nvPr>
        </p:nvGraphicFramePr>
        <p:xfrm>
          <a:off x="1369250" y="2425554"/>
          <a:ext cx="9453500" cy="2659575"/>
        </p:xfrm>
        <a:graphic>
          <a:graphicData uri="http://schemas.openxmlformats.org/drawingml/2006/table">
            <a:tbl>
              <a:tblPr firstRow="1" bandRow="1">
                <a:noFill/>
                <a:tableStyleId>{19DDFE37-8278-411E-9254-FB3EDE016CCE}</a:tableStyleId>
              </a:tblPr>
              <a:tblGrid>
                <a:gridCol w="248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7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Descartable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Evolutivo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Enfoque de desarrollo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Rápido y sin rigor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Riguroso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2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Que construir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Solo las partes problemáticas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Primero las partes bien entendidas. Sobre una base sólida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 dirty="0"/>
                        <a:t>Objetivo último 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/>
                        <a:t>Desecharlo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u="none" strike="noStrike" cap="none" dirty="0"/>
                        <a:t>Lograr el sistema</a:t>
                      </a:r>
                      <a:endParaRPr sz="18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084346DF-23F2-30DE-57DF-C90D61CD1DC4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548" name="Google Shape;548;p3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23</a:t>
            </a:fld>
            <a:endParaRPr/>
          </a:p>
        </p:txBody>
      </p:sp>
      <p:sp>
        <p:nvSpPr>
          <p:cNvPr id="550" name="Google Shape;550;p33"/>
          <p:cNvSpPr txBox="1">
            <a:spLocks noGrp="1"/>
          </p:cNvSpPr>
          <p:nvPr>
            <p:ph type="body" idx="4294967295"/>
          </p:nvPr>
        </p:nvSpPr>
        <p:spPr>
          <a:xfrm>
            <a:off x="623393" y="1772872"/>
            <a:ext cx="10573995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 "/>
            </a:pPr>
            <a:r>
              <a:rPr lang="es-ES" sz="3200" dirty="0">
                <a:solidFill>
                  <a:schemeClr val="dk1"/>
                </a:solidFill>
              </a:rPr>
              <a:t>Proyectos candidatos</a:t>
            </a:r>
            <a:endParaRPr sz="2000" dirty="0"/>
          </a:p>
          <a:p>
            <a:pPr marL="274320" lvl="1" indent="0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100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Usuarios que no examinarán los modelos abstractos</a:t>
            </a:r>
            <a:endParaRPr dirty="0"/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Usuarios que no determinarán sus requerimientos inicialmente</a:t>
            </a:r>
            <a:endParaRPr dirty="0"/>
          </a:p>
          <a:p>
            <a:pPr marL="411480" lvl="2" indent="-411480" algn="just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Sistemas con énfasis en los formatos de E/S más que en los detalles algorítmicos</a:t>
            </a:r>
            <a:endParaRPr dirty="0"/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Sistemas en los que haya que explorar aspectos técnicos</a:t>
            </a:r>
            <a:endParaRPr dirty="0"/>
          </a:p>
          <a:p>
            <a:pPr marL="411480" lvl="2" indent="-411480" algn="just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Si el usuario tiene dificultad al tratar con los modelos gráficos para modelar los requerimientos y el comportamiento</a:t>
            </a:r>
            <a:endParaRPr dirty="0"/>
          </a:p>
          <a:p>
            <a:pPr marL="411480" lvl="2" indent="-411480" algn="l" rtl="0">
              <a:lnSpc>
                <a:spcPct val="12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Si se enfatiza el aspecto de la interfaz humana</a:t>
            </a:r>
            <a:endParaRPr dirty="0">
              <a:solidFill>
                <a:schemeClr val="dk1"/>
              </a:solidFill>
            </a:endParaRPr>
          </a:p>
          <a:p>
            <a:pPr marL="260604" lvl="1" indent="-1428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Noto Sans Symbols"/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552" name="Google Shape;552;p33" descr="Diagrama del modelo de prototipos — Foto de Stock"/>
          <p:cNvPicPr preferRelativeResize="0"/>
          <p:nvPr/>
        </p:nvPicPr>
        <p:blipFill rotWithShape="1">
          <a:blip r:embed="rId3">
            <a:alphaModFix/>
          </a:blip>
          <a:srcRect l="3803" t="17707" r="4966" b="19219"/>
          <a:stretch/>
        </p:blipFill>
        <p:spPr>
          <a:xfrm>
            <a:off x="6511327" y="0"/>
            <a:ext cx="5504209" cy="165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prototipos</a:t>
            </a:r>
            <a:endParaRPr sz="4400"/>
          </a:p>
        </p:txBody>
      </p:sp>
      <p:sp>
        <p:nvSpPr>
          <p:cNvPr id="562" name="Google Shape;562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24</a:t>
            </a:fld>
            <a:endParaRPr/>
          </a:p>
        </p:txBody>
      </p:sp>
      <p:sp>
        <p:nvSpPr>
          <p:cNvPr id="564" name="Google Shape;564;p34"/>
          <p:cNvSpPr txBox="1">
            <a:spLocks noGrp="1"/>
          </p:cNvSpPr>
          <p:nvPr>
            <p:ph type="body" idx="4294967295"/>
          </p:nvPr>
        </p:nvSpPr>
        <p:spPr>
          <a:xfrm>
            <a:off x="628101" y="1836640"/>
            <a:ext cx="6959815" cy="3585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" lvl="1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None/>
            </a:pPr>
            <a:r>
              <a:rPr lang="es-ES" sz="2800" dirty="0"/>
              <a:t>Para asegurar el éxito:</a:t>
            </a:r>
            <a:endParaRPr sz="2800" dirty="0"/>
          </a:p>
          <a:p>
            <a:pPr marL="45720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240"/>
              <a:buFont typeface="Noto Sans Symbols"/>
              <a:buChar char="❑"/>
            </a:pPr>
            <a:r>
              <a:rPr lang="es-ES" sz="2800" dirty="0"/>
              <a:t>Debe ser un sistema con el que se pueda experimentar</a:t>
            </a:r>
            <a:endParaRPr sz="2800" dirty="0"/>
          </a:p>
          <a:p>
            <a:pPr marL="45720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240"/>
              <a:buFont typeface="Noto Sans Symbols"/>
              <a:buChar char="❑"/>
            </a:pPr>
            <a:r>
              <a:rPr lang="es-ES" sz="2800" dirty="0"/>
              <a:t>Debe ser comparativamente barato (&lt; 10%)</a:t>
            </a:r>
            <a:endParaRPr sz="2800" dirty="0"/>
          </a:p>
          <a:p>
            <a:pPr marL="45720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240"/>
              <a:buFont typeface="Noto Sans Symbols"/>
              <a:buChar char="❑"/>
            </a:pPr>
            <a:r>
              <a:rPr lang="es-ES" sz="2800" dirty="0"/>
              <a:t>Debe desarrollarse rápidamente</a:t>
            </a:r>
            <a:endParaRPr sz="2800" dirty="0"/>
          </a:p>
          <a:p>
            <a:pPr marL="45720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240"/>
              <a:buFont typeface="Noto Sans Symbols"/>
              <a:buChar char="❑"/>
            </a:pPr>
            <a:r>
              <a:rPr lang="es-ES" sz="2800" dirty="0"/>
              <a:t>Énfasis en la interfaz de usuario</a:t>
            </a:r>
            <a:endParaRPr sz="2800" dirty="0"/>
          </a:p>
          <a:p>
            <a:pPr marL="45720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240"/>
              <a:buFont typeface="Noto Sans Symbols"/>
              <a:buChar char="❑"/>
            </a:pPr>
            <a:r>
              <a:rPr lang="es-ES" sz="2800" dirty="0"/>
              <a:t>Equipo de desarrollo reducido</a:t>
            </a:r>
            <a:endParaRPr sz="2800" dirty="0"/>
          </a:p>
          <a:p>
            <a:pPr marL="457200" lvl="2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240"/>
              <a:buFont typeface="Noto Sans Symbols"/>
              <a:buChar char="❑"/>
            </a:pPr>
            <a:r>
              <a:rPr lang="es-ES" sz="2800" dirty="0"/>
              <a:t>Herramientas y lenguajes adecuados</a:t>
            </a:r>
            <a:endParaRPr sz="2800" dirty="0"/>
          </a:p>
        </p:txBody>
      </p:sp>
      <p:pic>
        <p:nvPicPr>
          <p:cNvPr id="566" name="Google Shape;566;p34" descr="https://encrypted-tbn0.gstatic.com/images?q=tbn:ANd9GcQqHYDZHtQDC-2wqYA2np1cDOyY-0GeHbNTgBaPSTl4adMT9NG-U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5755" y="2223490"/>
            <a:ext cx="3937728" cy="2306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desarrollo por fases</a:t>
            </a:r>
            <a:endParaRPr sz="4400"/>
          </a:p>
        </p:txBody>
      </p:sp>
      <p:sp>
        <p:nvSpPr>
          <p:cNvPr id="576" name="Google Shape;576;p3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25</a:t>
            </a:fld>
            <a:endParaRPr/>
          </a:p>
        </p:txBody>
      </p:sp>
      <p:sp>
        <p:nvSpPr>
          <p:cNvPr id="578" name="Google Shape;578;p35"/>
          <p:cNvSpPr txBox="1">
            <a:spLocks noGrp="1"/>
          </p:cNvSpPr>
          <p:nvPr>
            <p:ph type="body" idx="4294967295"/>
          </p:nvPr>
        </p:nvSpPr>
        <p:spPr>
          <a:xfrm>
            <a:off x="623392" y="1902579"/>
            <a:ext cx="10654208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0604" lvl="1" indent="-257175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Se desarrolla el sistema de tal manera que puede ser entregado en piezas. Esto implica que existen dos sistemas funcionando en paralelo: el sistema operacional y el sistema en desarrollo. </a:t>
            </a:r>
            <a:endParaRPr dirty="0"/>
          </a:p>
          <a:p>
            <a:pPr marL="260604" lvl="1" indent="-793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</p:txBody>
      </p:sp>
      <p:pic>
        <p:nvPicPr>
          <p:cNvPr id="580" name="Google Shape;580;p35" descr="figura3"/>
          <p:cNvPicPr preferRelativeResize="0"/>
          <p:nvPr/>
        </p:nvPicPr>
        <p:blipFill rotWithShape="1">
          <a:blip r:embed="rId3">
            <a:alphaModFix/>
          </a:blip>
          <a:srcRect t="2813" r="4043" b="20712"/>
          <a:stretch/>
        </p:blipFill>
        <p:spPr>
          <a:xfrm>
            <a:off x="2605402" y="3314016"/>
            <a:ext cx="7692149" cy="29509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EDA9B77C-5BCD-4F69-4F71-626CFF45B4C5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 de desarrollo por fases</a:t>
            </a:r>
            <a:endParaRPr sz="4400"/>
          </a:p>
        </p:txBody>
      </p:sp>
      <p:sp>
        <p:nvSpPr>
          <p:cNvPr id="590" name="Google Shape;590;p3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26</a:t>
            </a:fld>
            <a:endParaRPr/>
          </a:p>
        </p:txBody>
      </p:sp>
      <p:sp>
        <p:nvSpPr>
          <p:cNvPr id="592" name="Google Shape;592;p36"/>
          <p:cNvSpPr txBox="1">
            <a:spLocks noGrp="1"/>
          </p:cNvSpPr>
          <p:nvPr>
            <p:ph type="body" idx="4294967295"/>
          </p:nvPr>
        </p:nvSpPr>
        <p:spPr>
          <a:xfrm>
            <a:off x="818146" y="1855432"/>
            <a:ext cx="10577947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s-ES" sz="2800" dirty="0"/>
              <a:t>Tipos de modelos de desarrollo por fases</a:t>
            </a:r>
            <a:endParaRPr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b="1" dirty="0"/>
              <a:t>Incremental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El sistema es particionado en subsistemas de acuerdo con su funcionalidad. Cada entrega agrega un subsistema.</a:t>
            </a:r>
            <a:endParaRPr dirty="0"/>
          </a:p>
          <a:p>
            <a:pPr marL="411480" lvl="2" indent="-2336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  <a:p>
            <a:pPr marL="260604" lvl="1" indent="-257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b="1" dirty="0"/>
              <a:t>Iterativo</a:t>
            </a:r>
            <a:endParaRPr dirty="0"/>
          </a:p>
          <a:p>
            <a:pPr marL="411480" lvl="2" indent="-41148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Char char=" "/>
            </a:pPr>
            <a:r>
              <a:rPr lang="es-ES" sz="2800" dirty="0"/>
              <a:t>Entrega un sistema completo desde el principio y luego aumenta la funcionalidad de cada subsistema con las nuevas versiones.</a:t>
            </a:r>
            <a:endParaRPr dirty="0"/>
          </a:p>
          <a:p>
            <a:pPr marL="260604" lvl="1" indent="-793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800"/>
              <a:buNone/>
            </a:pPr>
            <a:endParaRPr sz="2800" dirty="0"/>
          </a:p>
        </p:txBody>
      </p:sp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F42AAFEC-E8F7-7369-17F2-74B5012222F5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/>
              <a:t>Modelos de desarrollo por fases</a:t>
            </a:r>
            <a:endParaRPr sz="4400"/>
          </a:p>
        </p:txBody>
      </p:sp>
      <p:sp>
        <p:nvSpPr>
          <p:cNvPr id="603" name="Google Shape;603;p37"/>
          <p:cNvSpPr txBox="1">
            <a:spLocks noGrp="1"/>
          </p:cNvSpPr>
          <p:nvPr>
            <p:ph type="sldNum" idx="12"/>
          </p:nvPr>
        </p:nvSpPr>
        <p:spPr>
          <a:xfrm>
            <a:off x="8035195" y="2708654"/>
            <a:ext cx="2926200" cy="10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27</a:t>
            </a:fld>
            <a:endParaRPr/>
          </a:p>
        </p:txBody>
      </p:sp>
      <p:pic>
        <p:nvPicPr>
          <p:cNvPr id="607" name="Google Shape;607;p37"/>
          <p:cNvPicPr preferRelativeResize="0"/>
          <p:nvPr/>
        </p:nvPicPr>
        <p:blipFill rotWithShape="1">
          <a:blip r:embed="rId3">
            <a:alphaModFix/>
          </a:blip>
          <a:srcRect l="12928"/>
          <a:stretch/>
        </p:blipFill>
        <p:spPr>
          <a:xfrm rot="-5460000">
            <a:off x="3260944" y="54742"/>
            <a:ext cx="3385719" cy="755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7"/>
          <p:cNvSpPr txBox="1"/>
          <p:nvPr/>
        </p:nvSpPr>
        <p:spPr>
          <a:xfrm>
            <a:off x="4521756" y="1772872"/>
            <a:ext cx="2201500" cy="369332"/>
          </a:xfrm>
          <a:prstGeom prst="rect">
            <a:avLst/>
          </a:prstGeom>
          <a:gradFill>
            <a:gsLst>
              <a:gs pos="0">
                <a:srgbClr val="97B594"/>
              </a:gs>
              <a:gs pos="50000">
                <a:srgbClr val="8FAE8C"/>
              </a:gs>
              <a:gs pos="100000">
                <a:srgbClr val="7F9D7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352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Nueva Funcionalidad 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7"/>
          <p:cNvSpPr txBox="1"/>
          <p:nvPr/>
        </p:nvSpPr>
        <p:spPr>
          <a:xfrm>
            <a:off x="6849540" y="1772872"/>
            <a:ext cx="2201500" cy="369332"/>
          </a:xfrm>
          <a:prstGeom prst="rect">
            <a:avLst/>
          </a:prstGeom>
          <a:gradFill>
            <a:gsLst>
              <a:gs pos="0">
                <a:srgbClr val="97B594"/>
              </a:gs>
              <a:gs pos="50000">
                <a:srgbClr val="8FAE8C"/>
              </a:gs>
              <a:gs pos="100000">
                <a:srgbClr val="7F9D7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352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Nueva Funcionalidad 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1" name="Google Shape;611;p37"/>
          <p:cNvCxnSpPr/>
          <p:nvPr/>
        </p:nvCxnSpPr>
        <p:spPr>
          <a:xfrm flipH="1">
            <a:off x="5169828" y="2204920"/>
            <a:ext cx="504056" cy="61268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12" name="Google Shape;612;p37"/>
          <p:cNvCxnSpPr>
            <a:stCxn id="610" idx="2"/>
          </p:cNvCxnSpPr>
          <p:nvPr/>
        </p:nvCxnSpPr>
        <p:spPr>
          <a:xfrm flipH="1">
            <a:off x="6417590" y="2142204"/>
            <a:ext cx="1532700" cy="675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613" name="Google Shape;613;p37"/>
          <p:cNvSpPr/>
          <p:nvPr/>
        </p:nvSpPr>
        <p:spPr>
          <a:xfrm>
            <a:off x="1688988" y="4374778"/>
            <a:ext cx="216024" cy="936104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7"/>
          <p:cNvSpPr txBox="1"/>
          <p:nvPr/>
        </p:nvSpPr>
        <p:spPr>
          <a:xfrm>
            <a:off x="123277" y="4168374"/>
            <a:ext cx="1643919" cy="1200329"/>
          </a:xfrm>
          <a:prstGeom prst="rect">
            <a:avLst/>
          </a:prstGeom>
          <a:gradFill>
            <a:gsLst>
              <a:gs pos="0">
                <a:srgbClr val="878787"/>
              </a:gs>
              <a:gs pos="50000">
                <a:schemeClr val="accent4"/>
              </a:gs>
              <a:gs pos="100000">
                <a:srgbClr val="707070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352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completo con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 básica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7"/>
          <p:cNvSpPr txBox="1"/>
          <p:nvPr/>
        </p:nvSpPr>
        <p:spPr>
          <a:xfrm>
            <a:off x="7114045" y="5301265"/>
            <a:ext cx="1920411" cy="646331"/>
          </a:xfrm>
          <a:prstGeom prst="rect">
            <a:avLst/>
          </a:prstGeom>
          <a:gradFill>
            <a:gsLst>
              <a:gs pos="0">
                <a:srgbClr val="878787"/>
              </a:gs>
              <a:gs pos="50000">
                <a:schemeClr val="accent4"/>
              </a:gs>
              <a:gs pos="100000">
                <a:srgbClr val="707070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352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completan funcionalidades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37"/>
          <p:cNvCxnSpPr/>
          <p:nvPr/>
        </p:nvCxnSpPr>
        <p:spPr>
          <a:xfrm rot="10800000">
            <a:off x="4953804" y="4581184"/>
            <a:ext cx="2304256" cy="1008112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617" name="Google Shape;617;p37"/>
          <p:cNvCxnSpPr/>
          <p:nvPr/>
        </p:nvCxnSpPr>
        <p:spPr>
          <a:xfrm rot="10800000">
            <a:off x="6321956" y="4797208"/>
            <a:ext cx="1224136" cy="50405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" name="Google Shape;389;p22">
            <a:extLst>
              <a:ext uri="{FF2B5EF4-FFF2-40B4-BE49-F238E27FC236}">
                <a16:creationId xmlns:a16="http://schemas.microsoft.com/office/drawing/2014/main" id="{67E23282-4D74-3EA2-B58D-537F179B420B}"/>
              </a:ext>
            </a:extLst>
          </p:cNvPr>
          <p:cNvSpPr txBox="1">
            <a:spLocks/>
          </p:cNvSpPr>
          <p:nvPr/>
        </p:nvSpPr>
        <p:spPr>
          <a:xfrm>
            <a:off x="6851396" y="6464380"/>
            <a:ext cx="2162400" cy="3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 eaLnBrk="1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 eaLnBrk="1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 eaLnBrk="1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68580" indent="-68580">
              <a:lnSpc>
                <a:spcPct val="85000"/>
              </a:lnSpc>
              <a:spcBef>
                <a:spcPts val="0"/>
              </a:spcBef>
              <a:buSzPts val="800"/>
              <a:buFont typeface="Calibri"/>
              <a:buNone/>
            </a:pPr>
            <a:r>
              <a:rPr lang="es-ES"/>
              <a:t>Pfleeger</a:t>
            </a:r>
            <a:endParaRPr lang="es-ES" dirty="0"/>
          </a:p>
        </p:txBody>
      </p:sp>
      <p:sp>
        <p:nvSpPr>
          <p:cNvPr id="3" name="Google Shape;609;p37">
            <a:extLst>
              <a:ext uri="{FF2B5EF4-FFF2-40B4-BE49-F238E27FC236}">
                <a16:creationId xmlns:a16="http://schemas.microsoft.com/office/drawing/2014/main" id="{F28C0511-73EE-82C5-BFD1-558E08A4FBC9}"/>
              </a:ext>
            </a:extLst>
          </p:cNvPr>
          <p:cNvSpPr txBox="1"/>
          <p:nvPr/>
        </p:nvSpPr>
        <p:spPr>
          <a:xfrm>
            <a:off x="1717865" y="3684291"/>
            <a:ext cx="2201500" cy="369332"/>
          </a:xfrm>
          <a:prstGeom prst="rect">
            <a:avLst/>
          </a:prstGeom>
          <a:gradFill>
            <a:gsLst>
              <a:gs pos="0">
                <a:srgbClr val="97B594"/>
              </a:gs>
              <a:gs pos="50000">
                <a:srgbClr val="8FAE8C"/>
              </a:gs>
              <a:gs pos="100000">
                <a:srgbClr val="7F9D7B"/>
              </a:gs>
            </a:gsLst>
            <a:lin ang="27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352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Funcionalidad Inicial</a:t>
            </a: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8"/>
          <p:cNvSpPr txBox="1">
            <a:spLocks noGrp="1"/>
          </p:cNvSpPr>
          <p:nvPr>
            <p:ph type="body" idx="4294967295"/>
          </p:nvPr>
        </p:nvSpPr>
        <p:spPr>
          <a:xfrm>
            <a:off x="417094" y="1798820"/>
            <a:ext cx="5550569" cy="451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6329" lvl="1" indent="-34290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❑"/>
            </a:pPr>
            <a:r>
              <a:rPr lang="es-ES" sz="2000" dirty="0"/>
              <a:t>Combina las actividades de </a:t>
            </a:r>
            <a:r>
              <a:rPr lang="es-ES" sz="2000" b="1" dirty="0"/>
              <a:t>desarrollo con la gestión del riesgo. </a:t>
            </a:r>
            <a:endParaRPr b="1" dirty="0"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❑"/>
            </a:pPr>
            <a:r>
              <a:rPr lang="es-ES" sz="2000" dirty="0"/>
              <a:t>Trata de mejorar los ciclos de vida clásicos y prototipos.</a:t>
            </a:r>
            <a:endParaRPr dirty="0"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❑"/>
            </a:pPr>
            <a:r>
              <a:rPr lang="es-ES" sz="2000" dirty="0"/>
              <a:t>Incorpora objetivos de calidad.</a:t>
            </a:r>
            <a:endParaRPr dirty="0"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❑"/>
            </a:pPr>
            <a:r>
              <a:rPr lang="es-ES" sz="2000" dirty="0"/>
              <a:t>Elimina errores y alternativas no atractivas al comienzo.</a:t>
            </a:r>
            <a:endParaRPr dirty="0"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❑"/>
            </a:pPr>
            <a:r>
              <a:rPr lang="es-ES" sz="2000" dirty="0"/>
              <a:t>Permite iteraciones, vuelta atrás y finalizaciones rápidas.</a:t>
            </a:r>
            <a:endParaRPr dirty="0"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❑"/>
            </a:pPr>
            <a:r>
              <a:rPr lang="es-ES" sz="2000" dirty="0"/>
              <a:t>Cada ciclo empieza identificando:</a:t>
            </a:r>
            <a:endParaRPr dirty="0"/>
          </a:p>
          <a:p>
            <a:pPr marL="742950" lvl="3" indent="-28575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❖"/>
            </a:pPr>
            <a:r>
              <a:rPr lang="es-ES" sz="1600" dirty="0"/>
              <a:t>Los objetivos de la porción correspondiente</a:t>
            </a:r>
            <a:endParaRPr dirty="0"/>
          </a:p>
          <a:p>
            <a:pPr marL="742950" lvl="3" indent="-28575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❖"/>
            </a:pPr>
            <a:r>
              <a:rPr lang="es-ES" sz="1600" dirty="0"/>
              <a:t>Las alternativas</a:t>
            </a:r>
            <a:endParaRPr dirty="0"/>
          </a:p>
          <a:p>
            <a:pPr marL="742950" lvl="3" indent="-285750" algn="just">
              <a:lnSpc>
                <a:spcPct val="95000"/>
              </a:lnSpc>
              <a:spcBef>
                <a:spcPts val="450"/>
              </a:spcBef>
              <a:buClr>
                <a:srgbClr val="262626"/>
              </a:buClr>
              <a:buSzPts val="1600"/>
              <a:buFont typeface="Noto Sans Symbols"/>
              <a:buChar char="❖"/>
            </a:pPr>
            <a:r>
              <a:rPr lang="es-ES" sz="1600" dirty="0"/>
              <a:t>Restricciones</a:t>
            </a:r>
            <a:endParaRPr sz="1600" dirty="0"/>
          </a:p>
          <a:p>
            <a:pPr marL="346329" lvl="1" indent="-3429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Noto Sans Symbols"/>
              <a:buChar char="❑"/>
            </a:pPr>
            <a:r>
              <a:rPr lang="es-ES" sz="2000" dirty="0"/>
              <a:t>Cada ciclo se completa con una revisión que incluye todo el ciclo anterior y el plan para el siguiente.</a:t>
            </a:r>
            <a:endParaRPr dirty="0"/>
          </a:p>
          <a:p>
            <a:pPr marL="260604" lvl="1" indent="-130175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000" dirty="0"/>
          </a:p>
        </p:txBody>
      </p:sp>
      <p:sp>
        <p:nvSpPr>
          <p:cNvPr id="3" name="Google Shape;640;p129">
            <a:extLst>
              <a:ext uri="{FF2B5EF4-FFF2-40B4-BE49-F238E27FC236}">
                <a16:creationId xmlns:a16="http://schemas.microsoft.com/office/drawing/2014/main" id="{7A95F5DA-8ED8-FCD0-47AF-569C71DAE370}"/>
              </a:ext>
            </a:extLst>
          </p:cNvPr>
          <p:cNvSpPr txBox="1">
            <a:spLocks/>
          </p:cNvSpPr>
          <p:nvPr/>
        </p:nvSpPr>
        <p:spPr>
          <a:xfrm>
            <a:off x="118426" y="0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Calibri"/>
              <a:buNone/>
              <a:defRPr sz="2988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1"/>
              </a:buClr>
              <a:buSzPts val="4400"/>
            </a:pPr>
            <a:r>
              <a:rPr lang="es-ES" sz="4400"/>
              <a:t>Modelo en espiral (Boehm)</a:t>
            </a:r>
            <a:endParaRPr lang="es-ES" sz="4400" dirty="0"/>
          </a:p>
        </p:txBody>
      </p:sp>
      <p:pic>
        <p:nvPicPr>
          <p:cNvPr id="4" name="Google Shape;644;p129">
            <a:extLst>
              <a:ext uri="{FF2B5EF4-FFF2-40B4-BE49-F238E27FC236}">
                <a16:creationId xmlns:a16="http://schemas.microsoft.com/office/drawing/2014/main" id="{461E7C0D-E8B6-BA27-DEB0-969A4D2C62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916" t="3733" r="7345" b="3901"/>
          <a:stretch>
            <a:fillRect/>
          </a:stretch>
        </p:blipFill>
        <p:spPr>
          <a:xfrm>
            <a:off x="6609347" y="1890272"/>
            <a:ext cx="4900832" cy="4331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29"/>
          <p:cNvSpPr txBox="1">
            <a:spLocks noGrp="1"/>
          </p:cNvSpPr>
          <p:nvPr>
            <p:ph type="title"/>
          </p:nvPr>
        </p:nvSpPr>
        <p:spPr>
          <a:xfrm>
            <a:off x="118426" y="0"/>
            <a:ext cx="10772775" cy="112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s-ES" sz="4400" dirty="0"/>
              <a:t>Modelo en espiral (Boehm)</a:t>
            </a:r>
            <a:endParaRPr sz="4400" dirty="0"/>
          </a:p>
        </p:txBody>
      </p:sp>
      <p:sp>
        <p:nvSpPr>
          <p:cNvPr id="642" name="Google Shape;642;p129"/>
          <p:cNvSpPr txBox="1">
            <a:spLocks noGrp="1"/>
          </p:cNvSpPr>
          <p:nvPr>
            <p:ph type="body" idx="4294967295"/>
          </p:nvPr>
        </p:nvSpPr>
        <p:spPr>
          <a:xfrm>
            <a:off x="481262" y="1898217"/>
            <a:ext cx="5398499" cy="4596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" lvl="1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</a:pPr>
            <a:r>
              <a:rPr lang="es-ES" sz="2400" dirty="0"/>
              <a:t>Cada ciclo en la espiral se divide en cuatro sectores: </a:t>
            </a:r>
            <a:endParaRPr dirty="0"/>
          </a:p>
          <a:p>
            <a:pPr marL="3429" lvl="1" indent="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920"/>
              <a:buNone/>
            </a:pPr>
            <a:endParaRPr sz="2400" dirty="0"/>
          </a:p>
          <a:p>
            <a:pPr marL="460629" lvl="1" indent="-457200" algn="just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Calibri"/>
              <a:buAutoNum type="arabicPeriod"/>
            </a:pPr>
            <a:r>
              <a:rPr lang="es-ES" sz="2400" i="1" dirty="0"/>
              <a:t>Establecimiento de objetivos.</a:t>
            </a:r>
            <a:r>
              <a:rPr lang="es-ES" sz="2400" dirty="0"/>
              <a:t> </a:t>
            </a:r>
            <a:r>
              <a:rPr lang="es-ES" sz="2200" dirty="0"/>
              <a:t>Se identifican restricciones, se traza un plan de gestión, se identifican riesgos</a:t>
            </a:r>
            <a:endParaRPr sz="2200" i="1" dirty="0"/>
          </a:p>
          <a:p>
            <a:pPr marL="460629" lvl="1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Calibri"/>
              <a:buAutoNum type="arabicPeriod"/>
            </a:pPr>
            <a:r>
              <a:rPr lang="es-ES" sz="2400" i="1" dirty="0"/>
              <a:t>Valoración y reducción del riesgo. </a:t>
            </a:r>
            <a:r>
              <a:rPr lang="es-ES" sz="2200" dirty="0"/>
              <a:t>Se analiza cada riesgo identificado y se determinan acciones.</a:t>
            </a:r>
            <a:endParaRPr sz="2200" dirty="0"/>
          </a:p>
          <a:p>
            <a:pPr marL="460629" lvl="1" indent="-457200" algn="just">
              <a:lnSpc>
                <a:spcPct val="85000"/>
              </a:lnSpc>
              <a:spcBef>
                <a:spcPts val="450"/>
              </a:spcBef>
              <a:buClr>
                <a:srgbClr val="262626"/>
              </a:buClr>
              <a:buSzPts val="1920"/>
              <a:buFont typeface="Calibri"/>
              <a:buAutoNum type="arabicPeriod"/>
            </a:pPr>
            <a:r>
              <a:rPr lang="es-ES" sz="2400" i="1" dirty="0"/>
              <a:t>Desarrollo y validación.</a:t>
            </a:r>
            <a:r>
              <a:rPr lang="es-ES" sz="2200" dirty="0"/>
              <a:t> Se determina el modelo de desarrollo.</a:t>
            </a:r>
            <a:endParaRPr lang="es-ES" sz="2200" i="1" dirty="0"/>
          </a:p>
          <a:p>
            <a:pPr marL="460629" lvl="1" indent="-457200" algn="just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1920"/>
              <a:buFont typeface="Calibri"/>
              <a:buAutoNum type="arabicPeriod"/>
            </a:pPr>
            <a:r>
              <a:rPr lang="es-ES" sz="2400" i="1" dirty="0"/>
              <a:t> Planeación</a:t>
            </a:r>
            <a:r>
              <a:rPr lang="es-ES" sz="2000" i="1" dirty="0"/>
              <a:t>. </a:t>
            </a:r>
            <a:r>
              <a:rPr lang="es-ES" sz="2200" dirty="0"/>
              <a:t>El proyecto se revisa y se toman decisiones para la siguiente fase.</a:t>
            </a:r>
            <a:endParaRPr sz="2200" dirty="0"/>
          </a:p>
        </p:txBody>
      </p:sp>
      <p:pic>
        <p:nvPicPr>
          <p:cNvPr id="3" name="Google Shape;644;p129">
            <a:extLst>
              <a:ext uri="{FF2B5EF4-FFF2-40B4-BE49-F238E27FC236}">
                <a16:creationId xmlns:a16="http://schemas.microsoft.com/office/drawing/2014/main" id="{06C49D9E-4DED-871E-61B7-EC902424F1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916" t="3733" r="7345" b="3901"/>
          <a:stretch>
            <a:fillRect/>
          </a:stretch>
        </p:blipFill>
        <p:spPr>
          <a:xfrm>
            <a:off x="6609347" y="1890272"/>
            <a:ext cx="4900832" cy="43313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es-ES"/>
              <a:t>Bibliografía</a:t>
            </a:r>
            <a:endParaRPr/>
          </a:p>
        </p:txBody>
      </p:sp>
      <p:sp>
        <p:nvSpPr>
          <p:cNvPr id="652" name="Google Shape;652;p4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50"/>
              <a:buNone/>
            </a:pPr>
            <a:fld id="{00000000-1234-1234-1234-123412341234}" type="slidenum">
              <a:rPr lang="es-ES"/>
              <a:t>30</a:t>
            </a:fld>
            <a:endParaRPr/>
          </a:p>
        </p:txBody>
      </p:sp>
      <p:sp>
        <p:nvSpPr>
          <p:cNvPr id="654" name="Google Shape;654;p43"/>
          <p:cNvSpPr txBox="1">
            <a:spLocks noGrp="1"/>
          </p:cNvSpPr>
          <p:nvPr>
            <p:ph type="body" idx="4294967295"/>
          </p:nvPr>
        </p:nvSpPr>
        <p:spPr>
          <a:xfrm>
            <a:off x="623392" y="1902579"/>
            <a:ext cx="9793200" cy="44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9080" lvl="0" indent="-25908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6"/>
              <a:buFont typeface="Noto Sans Symbols"/>
              <a:buChar char="❑"/>
            </a:pPr>
            <a:r>
              <a:rPr lang="es-ES" sz="2400" dirty="0">
                <a:solidFill>
                  <a:schemeClr val="dk1"/>
                </a:solidFill>
              </a:rPr>
              <a:t>Libros Utilizados en la Teoría </a:t>
            </a:r>
            <a:endParaRPr dirty="0"/>
          </a:p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 "/>
            </a:pPr>
            <a:r>
              <a:rPr lang="es-ES" sz="2000" dirty="0">
                <a:solidFill>
                  <a:schemeClr val="dk1"/>
                </a:solidFill>
              </a:rPr>
              <a:t>Sommerville, Capitulo 2 , Ingeniería de Software , Pearson 2011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 "/>
            </a:pPr>
            <a:r>
              <a:rPr lang="es-ES" sz="2000" dirty="0">
                <a:solidFill>
                  <a:schemeClr val="dk1"/>
                </a:solidFill>
              </a:rPr>
              <a:t>Pressman, Capítulo 2, Ingeniería de Software Un enfoque práctico, Mc Graw Hill 2021</a:t>
            </a:r>
            <a:endParaRPr dirty="0"/>
          </a:p>
          <a:p>
            <a:pPr marL="260604" lvl="1" indent="-257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 "/>
            </a:pPr>
            <a:r>
              <a:rPr lang="es-ES" sz="2000" dirty="0" err="1">
                <a:solidFill>
                  <a:schemeClr val="dk1"/>
                </a:solidFill>
              </a:rPr>
              <a:t>Pfleeger</a:t>
            </a:r>
            <a:r>
              <a:rPr lang="es-ES" sz="2000" dirty="0">
                <a:solidFill>
                  <a:schemeClr val="dk1"/>
                </a:solidFill>
              </a:rPr>
              <a:t>, Capitulo 2 Software </a:t>
            </a:r>
            <a:r>
              <a:rPr lang="es-ES" sz="2000" dirty="0" err="1">
                <a:solidFill>
                  <a:schemeClr val="dk1"/>
                </a:solidFill>
              </a:rPr>
              <a:t>Enginnering</a:t>
            </a:r>
            <a:r>
              <a:rPr lang="es-ES" sz="2000" dirty="0">
                <a:solidFill>
                  <a:schemeClr val="dk1"/>
                </a:solidFill>
              </a:rPr>
              <a:t>. </a:t>
            </a:r>
            <a:r>
              <a:rPr lang="es-ES" sz="2000" dirty="0" err="1">
                <a:solidFill>
                  <a:schemeClr val="dk1"/>
                </a:solidFill>
              </a:rPr>
              <a:t>Theory</a:t>
            </a:r>
            <a:r>
              <a:rPr lang="es-ES" sz="2000" dirty="0">
                <a:solidFill>
                  <a:schemeClr val="dk1"/>
                </a:solidFill>
              </a:rPr>
              <a:t> and </a:t>
            </a:r>
            <a:r>
              <a:rPr lang="es-ES" sz="2000" dirty="0" err="1">
                <a:solidFill>
                  <a:schemeClr val="dk1"/>
                </a:solidFill>
              </a:rPr>
              <a:t>Practice</a:t>
            </a:r>
            <a:r>
              <a:rPr lang="es-ES" sz="2000" dirty="0">
                <a:solidFill>
                  <a:schemeClr val="dk1"/>
                </a:solidFill>
              </a:rPr>
              <a:t> . Prentice Hall 2010</a:t>
            </a:r>
            <a:endParaRPr dirty="0"/>
          </a:p>
          <a:p>
            <a:pPr marL="260604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260604" lvl="1" indent="-130175" algn="l" rtl="0">
              <a:lnSpc>
                <a:spcPct val="85000"/>
              </a:lnSpc>
              <a:spcBef>
                <a:spcPts val="45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Verde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tron2024 is1" id="{3D8FB01B-CFAB-49A9-99E0-F45DB3316E69}" vid="{1558D088-0864-4047-89E7-94E111BD0DD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Patron2024 is1 (2)</Template>
  <TotalTime>120</TotalTime>
  <Words>1819</Words>
  <Application>Microsoft Office PowerPoint</Application>
  <PresentationFormat>Panorámica</PresentationFormat>
  <Paragraphs>304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4" baseType="lpstr">
      <vt:lpstr>Arial</vt:lpstr>
      <vt:lpstr>Calibri</vt:lpstr>
      <vt:lpstr>Noto Sans Symbols</vt:lpstr>
      <vt:lpstr>Retrospección</vt:lpstr>
      <vt:lpstr>Ingeniería de Software I </vt:lpstr>
      <vt:lpstr>Proceso</vt:lpstr>
      <vt:lpstr>¿Qué es un proceso de software?</vt:lpstr>
      <vt:lpstr>¿Qué es un proceso de software?</vt:lpstr>
      <vt:lpstr>Actividades fundamentales de los procesos</vt:lpstr>
      <vt:lpstr>Actividades fundamentales de los procesos</vt:lpstr>
      <vt:lpstr>Actividades fundamentales de los procesos</vt:lpstr>
      <vt:lpstr>Actividades fundamentales de los procesos</vt:lpstr>
      <vt:lpstr>¿Qué es un modelo de proceso de software?</vt:lpstr>
      <vt:lpstr>¿Qué es un modelo de proceso de software?</vt:lpstr>
      <vt:lpstr>Modelos de Proceso</vt:lpstr>
      <vt:lpstr>Modelos de Proceso</vt:lpstr>
      <vt:lpstr>Modelos de Proceso</vt:lpstr>
      <vt:lpstr>Modelos de Proceso</vt:lpstr>
      <vt:lpstr>Modelo en cascada</vt:lpstr>
      <vt:lpstr>Modelo de la realidad en comparación con cascada</vt:lpstr>
      <vt:lpstr>Modelo en cascada</vt:lpstr>
      <vt:lpstr>Modelo en cascada con prototipo</vt:lpstr>
      <vt:lpstr>Modelo en V</vt:lpstr>
      <vt:lpstr>Modelo de prototipos</vt:lpstr>
      <vt:lpstr>Modelo de prototipos- Tipos</vt:lpstr>
      <vt:lpstr>Modelo de prototipos</vt:lpstr>
      <vt:lpstr>Modelo de prototipos</vt:lpstr>
      <vt:lpstr>Modelo de prototipos</vt:lpstr>
      <vt:lpstr>Modelo de desarrollo por fases</vt:lpstr>
      <vt:lpstr>Modelo de desarrollo por fases</vt:lpstr>
      <vt:lpstr>Modelos de desarrollo por fases</vt:lpstr>
      <vt:lpstr>Presentación de PowerPoint</vt:lpstr>
      <vt:lpstr>Modelo en espiral (Boehm)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Ariel</dc:creator>
  <cp:lastModifiedBy>Rocio Muñoz</cp:lastModifiedBy>
  <cp:revision>14</cp:revision>
  <dcterms:created xsi:type="dcterms:W3CDTF">2011-08-01T13:16:26Z</dcterms:created>
  <dcterms:modified xsi:type="dcterms:W3CDTF">2025-10-15T13:49:16Z</dcterms:modified>
</cp:coreProperties>
</file>