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51" r:id="rId2"/>
  </p:sldMasterIdLst>
  <p:notesMasterIdLst>
    <p:notesMasterId r:id="rId45"/>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Lst>
  <p:sldSz cx="12192000" cy="6858000"/>
  <p:notesSz cx="6797675" cy="9874250"/>
  <p:embeddedFontLst>
    <p:embeddedFont>
      <p:font typeface="Noto Sans Symbols" panose="020B0604020202020204" charset="0"/>
      <p:regular r:id="rId46"/>
      <p:bold r:id="rId47"/>
    </p:embeddedFont>
    <p:embeddedFont>
      <p:font typeface="Raleway" pitchFamily="2" charset="0"/>
      <p:regular r:id="rId48"/>
      <p:bold r:id="rId49"/>
      <p:italic r:id="rId50"/>
      <p:boldItalic r:id="rId5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g++0KAho1WjUOydCaNuMdJMD5wW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108" y="60"/>
      </p:cViewPr>
      <p:guideLst>
        <p:guide orient="horz" pos="2160"/>
        <p:guide pos="3840"/>
      </p:guideLst>
    </p:cSldViewPr>
  </p:slideViewPr>
  <p:notesTextViewPr>
    <p:cViewPr>
      <p:scale>
        <a:sx n="1" d="1"/>
        <a:sy n="1" d="1"/>
      </p:scale>
      <p:origin x="0" y="0"/>
    </p:cViewPr>
  </p:notesTextViewPr>
  <p:notesViewPr>
    <p:cSldViewPr snapToGrid="0">
      <p:cViewPr varScale="1">
        <p:scale>
          <a:sx n="49" d="100"/>
          <a:sy n="49" d="100"/>
        </p:scale>
        <p:origin x="2178"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font" Target="fonts/font2.fntdata"/><Relationship Id="rId50" Type="http://schemas.openxmlformats.org/officeDocument/2006/relationships/font" Target="fonts/font5.fntdata"/><Relationship Id="rId55"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font" Target="fonts/font1.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notesMaster" Target="notesMasters/notesMaster1.xml"/><Relationship Id="rId53" Type="http://customschemas.google.com/relationships/presentationmetadata" Target="meta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4.fntdata"/><Relationship Id="rId57"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font" Target="fonts/font3.fntdata"/><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font" Target="fonts/font6.fntdata"/><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46400" cy="493713"/>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rgbClr val="000000"/>
                </a:solidFill>
                <a:latin typeface="Arial"/>
                <a:ea typeface="Arial"/>
                <a:cs typeface="Arial"/>
                <a:sym typeface="Arial"/>
              </a:rPr>
              <a:t>‹Nº›</a:t>
            </a:fld>
            <a:endParaRPr sz="12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2" name="Google Shape;182;p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183" name="Google Shape;183;p1: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1</a:t>
            </a:fld>
            <a:endParaRPr/>
          </a:p>
        </p:txBody>
      </p:sp>
      <p:sp>
        <p:nvSpPr>
          <p:cNvPr id="184" name="Google Shape;184;p1: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r>
              <a:rPr lang="es-ES" dirty="0"/>
              <a:t>2013</a:t>
            </a:r>
            <a:endParaRPr dirty="0"/>
          </a:p>
        </p:txBody>
      </p:sp>
      <p:sp>
        <p:nvSpPr>
          <p:cNvPr id="185" name="Google Shape;185;p1:notes"/>
          <p:cNvSpPr txBox="1">
            <a:spLocks noGrp="1"/>
          </p:cNvSpPr>
          <p:nvPr>
            <p:ph type="ftr" idx="11"/>
          </p:nvPr>
        </p:nvSpPr>
        <p:spPr>
          <a:xfrm>
            <a:off x="0" y="9378950"/>
            <a:ext cx="2946400" cy="493713"/>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SzPts val="1400"/>
              <a:buNone/>
            </a:pPr>
            <a:r>
              <a:rPr lang="es-ES"/>
              <a:t>Facultad de Informática UNLP</a:t>
            </a:r>
            <a:endParaRPr/>
          </a:p>
        </p:txBody>
      </p:sp>
      <p:sp>
        <p:nvSpPr>
          <p:cNvPr id="186" name="Google Shape;186;p1: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Ingeniería de Software I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3" name="Google Shape;193;p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01" name="Google Shape;201;p3: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209" name="Google Shape;209;p4:notes"/>
          <p:cNvSpPr txBox="1">
            <a:spLocks noGrp="1"/>
          </p:cNvSpPr>
          <p:nvPr>
            <p:ph type="hdr" idx="3"/>
          </p:nvPr>
        </p:nvSpPr>
        <p:spPr>
          <a:xfrm>
            <a:off x="0" y="0"/>
            <a:ext cx="2946400" cy="49371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t>Ingeniera de Software I </a:t>
            </a:r>
            <a:endParaRPr/>
          </a:p>
        </p:txBody>
      </p:sp>
      <p:sp>
        <p:nvSpPr>
          <p:cNvPr id="210" name="Google Shape;210;p4:notes"/>
          <p:cNvSpPr txBox="1">
            <a:spLocks noGrp="1"/>
          </p:cNvSpPr>
          <p:nvPr>
            <p:ph type="dt" idx="10"/>
          </p:nvPr>
        </p:nvSpPr>
        <p:spPr>
          <a:xfrm>
            <a:off x="3849688" y="0"/>
            <a:ext cx="2946400" cy="493713"/>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400"/>
              <a:buNone/>
            </a:pPr>
            <a:endParaRPr/>
          </a:p>
        </p:txBody>
      </p:sp>
      <p:sp>
        <p:nvSpPr>
          <p:cNvPr id="211" name="Google Shape;211;p4:notes"/>
          <p:cNvSpPr txBox="1">
            <a:spLocks noGrp="1"/>
          </p:cNvSpPr>
          <p:nvPr>
            <p:ph type="sldNum" idx="12"/>
          </p:nvPr>
        </p:nvSpPr>
        <p:spPr>
          <a:xfrm>
            <a:off x="3849688" y="9378950"/>
            <a:ext cx="2946400" cy="493713"/>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s-E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6" name="Google Shape;236;p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1" name="Google Shape;251;p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8" name="Google Shape;258;p1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p1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1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1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9" name="Google Shape;279;p1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1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2" name="Google Shape;312;p1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p1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9" name="Google Shape;319;p1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6" name="Google Shape;326;p1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1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5" name="Google Shape;335;p1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1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2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0" name="Google Shape;350;p2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2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2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2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2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p2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5" name="Google Shape;395;p2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2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2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1" name="Google Shape;411;p2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2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8" name="Google Shape;418;p2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2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7" name="Google Shape;427;p2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3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6" name="Google Shape;436;p3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3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3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1" name="Google Shape;451;p3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33: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33: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p34: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7" name="Google Shape;467;p34: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5: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0" name="Google Shape;480;p35: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36: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9" name="Google Shape;489;p36: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7"/>
        <p:cNvGrpSpPr/>
        <p:nvPr/>
      </p:nvGrpSpPr>
      <p:grpSpPr>
        <a:xfrm>
          <a:off x="0" y="0"/>
          <a:ext cx="0" cy="0"/>
          <a:chOff x="0" y="0"/>
          <a:chExt cx="0" cy="0"/>
        </a:xfrm>
      </p:grpSpPr>
      <p:sp>
        <p:nvSpPr>
          <p:cNvPr id="498" name="Google Shape;498;p37: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9" name="Google Shape;499;p37: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38: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4" name="Google Shape;514;p38: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39: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4" name="Google Shape;524;p39: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0"/>
        <p:cNvGrpSpPr/>
        <p:nvPr/>
      </p:nvGrpSpPr>
      <p:grpSpPr>
        <a:xfrm>
          <a:off x="0" y="0"/>
          <a:ext cx="0" cy="0"/>
          <a:chOff x="0" y="0"/>
          <a:chExt cx="0" cy="0"/>
        </a:xfrm>
      </p:grpSpPr>
      <p:sp>
        <p:nvSpPr>
          <p:cNvPr id="531" name="Google Shape;531;p40: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2" name="Google Shape;532;p40: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p41: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1" name="Google Shape;541;p41: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42:notes"/>
          <p:cNvSpPr txBox="1">
            <a:spLocks noGrp="1"/>
          </p:cNvSpPr>
          <p:nvPr>
            <p:ph type="body" idx="1"/>
          </p:nvPr>
        </p:nvSpPr>
        <p:spPr>
          <a:xfrm>
            <a:off x="679450" y="4691063"/>
            <a:ext cx="5438775" cy="444341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9" name="Google Shape;549;p42:notes"/>
          <p:cNvSpPr>
            <a:spLocks noGrp="1" noRot="1" noChangeAspect="1"/>
          </p:cNvSpPr>
          <p:nvPr>
            <p:ph type="sldImg" idx="2"/>
          </p:nvPr>
        </p:nvSpPr>
        <p:spPr>
          <a:xfrm>
            <a:off x="109538" y="741363"/>
            <a:ext cx="6578600" cy="37020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spTree>
      <p:nvGrpSpPr>
        <p:cNvPr id="1" name="Shape 17"/>
        <p:cNvGrpSpPr/>
        <p:nvPr/>
      </p:nvGrpSpPr>
      <p:grpSpPr>
        <a:xfrm>
          <a:off x="0" y="0"/>
          <a:ext cx="0" cy="0"/>
          <a:chOff x="0" y="0"/>
          <a:chExt cx="0" cy="0"/>
        </a:xfrm>
      </p:grpSpPr>
      <p:sp>
        <p:nvSpPr>
          <p:cNvPr id="18" name="Google Shape;18;p58"/>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4800"/>
              <a:buNone/>
              <a:defRPr sz="3300"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58"/>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SzPts val="2000"/>
              <a:buNone/>
              <a:defRPr sz="1800">
                <a:solidFill>
                  <a:srgbClr val="C00000"/>
                </a:solidFill>
              </a:defRPr>
            </a:lvl1pPr>
            <a:lvl2pPr marL="914400" lvl="1" indent="-228600" algn="l">
              <a:lnSpc>
                <a:spcPct val="90000"/>
              </a:lnSpc>
              <a:spcBef>
                <a:spcPts val="200"/>
              </a:spcBef>
              <a:spcAft>
                <a:spcPts val="0"/>
              </a:spcAft>
              <a:buSzPts val="1800"/>
              <a:buNone/>
              <a:defRPr sz="900"/>
            </a:lvl2pPr>
            <a:lvl3pPr marL="1371600" lvl="2" indent="-228600" algn="l">
              <a:lnSpc>
                <a:spcPct val="90000"/>
              </a:lnSpc>
              <a:spcBef>
                <a:spcPts val="400"/>
              </a:spcBef>
              <a:spcAft>
                <a:spcPts val="0"/>
              </a:spcAft>
              <a:buSzPts val="1400"/>
              <a:buNone/>
              <a:defRPr sz="750"/>
            </a:lvl3pPr>
            <a:lvl4pPr marL="1828800" lvl="3" indent="-228600" algn="l">
              <a:lnSpc>
                <a:spcPct val="90000"/>
              </a:lnSpc>
              <a:spcBef>
                <a:spcPts val="400"/>
              </a:spcBef>
              <a:spcAft>
                <a:spcPts val="0"/>
              </a:spcAft>
              <a:buSzPts val="1400"/>
              <a:buNone/>
              <a:defRPr sz="675"/>
            </a:lvl4pPr>
            <a:lvl5pPr marL="2286000" lvl="4" indent="-228600" algn="l">
              <a:lnSpc>
                <a:spcPct val="90000"/>
              </a:lnSpc>
              <a:spcBef>
                <a:spcPts val="400"/>
              </a:spcBef>
              <a:spcAft>
                <a:spcPts val="0"/>
              </a:spcAft>
              <a:buSzPts val="1400"/>
              <a:buNone/>
              <a:defRPr sz="675"/>
            </a:lvl5pPr>
            <a:lvl6pPr marL="2743200" lvl="5" indent="-228600" algn="l">
              <a:lnSpc>
                <a:spcPct val="90000"/>
              </a:lnSpc>
              <a:spcBef>
                <a:spcPts val="400"/>
              </a:spcBef>
              <a:spcAft>
                <a:spcPts val="0"/>
              </a:spcAft>
              <a:buSzPts val="1400"/>
              <a:buNone/>
              <a:defRPr sz="675"/>
            </a:lvl6pPr>
            <a:lvl7pPr marL="3200400" lvl="6" indent="-228600" algn="l">
              <a:lnSpc>
                <a:spcPct val="90000"/>
              </a:lnSpc>
              <a:spcBef>
                <a:spcPts val="400"/>
              </a:spcBef>
              <a:spcAft>
                <a:spcPts val="0"/>
              </a:spcAft>
              <a:buSzPts val="1400"/>
              <a:buNone/>
              <a:defRPr sz="675"/>
            </a:lvl7pPr>
            <a:lvl8pPr marL="3657600" lvl="7" indent="-228600" algn="l">
              <a:lnSpc>
                <a:spcPct val="90000"/>
              </a:lnSpc>
              <a:spcBef>
                <a:spcPts val="400"/>
              </a:spcBef>
              <a:spcAft>
                <a:spcPts val="0"/>
              </a:spcAft>
              <a:buSzPts val="1400"/>
              <a:buNone/>
              <a:defRPr sz="675"/>
            </a:lvl8pPr>
            <a:lvl9pPr marL="4114800" lvl="8" indent="-228600" algn="l">
              <a:lnSpc>
                <a:spcPct val="90000"/>
              </a:lnSpc>
              <a:spcBef>
                <a:spcPts val="400"/>
              </a:spcBef>
              <a:spcAft>
                <a:spcPts val="400"/>
              </a:spcAft>
              <a:buSzPts val="1400"/>
              <a:buNone/>
              <a:defRPr sz="675"/>
            </a:lvl9pPr>
          </a:lstStyle>
          <a:p>
            <a:endParaRPr/>
          </a:p>
        </p:txBody>
      </p:sp>
      <p:sp>
        <p:nvSpPr>
          <p:cNvPr id="20" name="Google Shape;20;p58"/>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21" name="Google Shape;21;p58"/>
          <p:cNvPicPr preferRelativeResize="0"/>
          <p:nvPr/>
        </p:nvPicPr>
        <p:blipFill rotWithShape="1">
          <a:blip r:embed="rId2">
            <a:alphaModFix/>
          </a:blip>
          <a:srcRect/>
          <a:stretch/>
        </p:blipFill>
        <p:spPr>
          <a:xfrm>
            <a:off x="3313" y="-5815"/>
            <a:ext cx="12192000" cy="451493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Encabezado de Seccion ">
  <p:cSld name="1_Encabezado de Seccion ">
    <p:spTree>
      <p:nvGrpSpPr>
        <p:cNvPr id="1" name="Shape 22"/>
        <p:cNvGrpSpPr/>
        <p:nvPr/>
      </p:nvGrpSpPr>
      <p:grpSpPr>
        <a:xfrm>
          <a:off x="0" y="0"/>
          <a:ext cx="0" cy="0"/>
          <a:chOff x="0" y="0"/>
          <a:chExt cx="0" cy="0"/>
        </a:xfrm>
      </p:grpSpPr>
      <p:pic>
        <p:nvPicPr>
          <p:cNvPr id="23" name="Google Shape;23;p63"/>
          <p:cNvPicPr preferRelativeResize="0"/>
          <p:nvPr/>
        </p:nvPicPr>
        <p:blipFill rotWithShape="1">
          <a:blip r:embed="rId2">
            <a:alphaModFix/>
          </a:blip>
          <a:srcRect/>
          <a:stretch/>
        </p:blipFill>
        <p:spPr>
          <a:xfrm>
            <a:off x="3313" y="-5815"/>
            <a:ext cx="12192000" cy="4514935"/>
          </a:xfrm>
          <a:prstGeom prst="rect">
            <a:avLst/>
          </a:prstGeom>
          <a:noFill/>
          <a:ln>
            <a:noFill/>
          </a:ln>
        </p:spPr>
      </p:pic>
      <p:sp>
        <p:nvSpPr>
          <p:cNvPr id="24" name="Google Shape;24;p63"/>
          <p:cNvSpPr txBox="1">
            <a:spLocks noGrp="1"/>
          </p:cNvSpPr>
          <p:nvPr>
            <p:ph type="title"/>
          </p:nvPr>
        </p:nvSpPr>
        <p:spPr>
          <a:xfrm>
            <a:off x="551384" y="2051015"/>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4800"/>
              <a:buNone/>
              <a:defRPr sz="5400"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63"/>
          <p:cNvSpPr txBox="1">
            <a:spLocks noGrp="1"/>
          </p:cNvSpPr>
          <p:nvPr>
            <p:ph type="body" idx="1"/>
          </p:nvPr>
        </p:nvSpPr>
        <p:spPr>
          <a:xfrm>
            <a:off x="551384" y="4359587"/>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SzPts val="2000"/>
              <a:buNone/>
              <a:defRPr sz="1800">
                <a:solidFill>
                  <a:srgbClr val="C00000"/>
                </a:solidFill>
              </a:defRPr>
            </a:lvl1pPr>
            <a:lvl2pPr marL="914400" lvl="1" indent="-228600" algn="l">
              <a:lnSpc>
                <a:spcPct val="90000"/>
              </a:lnSpc>
              <a:spcBef>
                <a:spcPts val="200"/>
              </a:spcBef>
              <a:spcAft>
                <a:spcPts val="0"/>
              </a:spcAft>
              <a:buSzPts val="1800"/>
              <a:buNone/>
              <a:defRPr sz="900"/>
            </a:lvl2pPr>
            <a:lvl3pPr marL="1371600" lvl="2" indent="-228600" algn="l">
              <a:lnSpc>
                <a:spcPct val="90000"/>
              </a:lnSpc>
              <a:spcBef>
                <a:spcPts val="400"/>
              </a:spcBef>
              <a:spcAft>
                <a:spcPts val="0"/>
              </a:spcAft>
              <a:buSzPts val="1400"/>
              <a:buNone/>
              <a:defRPr sz="750"/>
            </a:lvl3pPr>
            <a:lvl4pPr marL="1828800" lvl="3" indent="-228600" algn="l">
              <a:lnSpc>
                <a:spcPct val="90000"/>
              </a:lnSpc>
              <a:spcBef>
                <a:spcPts val="400"/>
              </a:spcBef>
              <a:spcAft>
                <a:spcPts val="0"/>
              </a:spcAft>
              <a:buSzPts val="1400"/>
              <a:buNone/>
              <a:defRPr sz="675"/>
            </a:lvl4pPr>
            <a:lvl5pPr marL="2286000" lvl="4" indent="-228600" algn="l">
              <a:lnSpc>
                <a:spcPct val="90000"/>
              </a:lnSpc>
              <a:spcBef>
                <a:spcPts val="400"/>
              </a:spcBef>
              <a:spcAft>
                <a:spcPts val="0"/>
              </a:spcAft>
              <a:buSzPts val="1400"/>
              <a:buNone/>
              <a:defRPr sz="675"/>
            </a:lvl5pPr>
            <a:lvl6pPr marL="2743200" lvl="5" indent="-228600" algn="l">
              <a:lnSpc>
                <a:spcPct val="90000"/>
              </a:lnSpc>
              <a:spcBef>
                <a:spcPts val="400"/>
              </a:spcBef>
              <a:spcAft>
                <a:spcPts val="0"/>
              </a:spcAft>
              <a:buSzPts val="1400"/>
              <a:buNone/>
              <a:defRPr sz="675"/>
            </a:lvl6pPr>
            <a:lvl7pPr marL="3200400" lvl="6" indent="-228600" algn="l">
              <a:lnSpc>
                <a:spcPct val="90000"/>
              </a:lnSpc>
              <a:spcBef>
                <a:spcPts val="400"/>
              </a:spcBef>
              <a:spcAft>
                <a:spcPts val="0"/>
              </a:spcAft>
              <a:buSzPts val="1400"/>
              <a:buNone/>
              <a:defRPr sz="675"/>
            </a:lvl7pPr>
            <a:lvl8pPr marL="3657600" lvl="7" indent="-228600" algn="l">
              <a:lnSpc>
                <a:spcPct val="90000"/>
              </a:lnSpc>
              <a:spcBef>
                <a:spcPts val="400"/>
              </a:spcBef>
              <a:spcAft>
                <a:spcPts val="0"/>
              </a:spcAft>
              <a:buSzPts val="1400"/>
              <a:buNone/>
              <a:defRPr sz="675"/>
            </a:lvl8pPr>
            <a:lvl9pPr marL="4114800" lvl="8" indent="-228600" algn="l">
              <a:lnSpc>
                <a:spcPct val="90000"/>
              </a:lnSpc>
              <a:spcBef>
                <a:spcPts val="400"/>
              </a:spcBef>
              <a:spcAft>
                <a:spcPts val="400"/>
              </a:spcAft>
              <a:buSzPts val="1400"/>
              <a:buNone/>
              <a:defRPr sz="675"/>
            </a:lvl9pPr>
          </a:lstStyle>
          <a:p>
            <a:endParaRPr/>
          </a:p>
        </p:txBody>
      </p:sp>
      <p:sp>
        <p:nvSpPr>
          <p:cNvPr id="26" name="Google Shape;26;p63"/>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35"/>
        <p:cNvGrpSpPr/>
        <p:nvPr/>
      </p:nvGrpSpPr>
      <p:grpSpPr>
        <a:xfrm>
          <a:off x="0" y="0"/>
          <a:ext cx="0" cy="0"/>
          <a:chOff x="0" y="0"/>
          <a:chExt cx="0" cy="0"/>
        </a:xfrm>
      </p:grpSpPr>
      <p:sp>
        <p:nvSpPr>
          <p:cNvPr id="36" name="Google Shape;36;p5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9"/>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38" name="Google Shape;38;p5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39"/>
        <p:cNvGrpSpPr/>
        <p:nvPr/>
      </p:nvGrpSpPr>
      <p:grpSpPr>
        <a:xfrm>
          <a:off x="0" y="0"/>
          <a:ext cx="0" cy="0"/>
          <a:chOff x="0" y="0"/>
          <a:chExt cx="0" cy="0"/>
        </a:xfrm>
      </p:grpSpPr>
      <p:sp>
        <p:nvSpPr>
          <p:cNvPr id="40" name="Google Shape;40;p60"/>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60"/>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2" name="Google Shape;42;p60"/>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43" name="Google Shape;43;p60"/>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8_Normal con fuente ">
  <p:cSld name="8_Normal con fuente ">
    <p:bg>
      <p:bgPr>
        <a:solidFill>
          <a:schemeClr val="lt1"/>
        </a:solidFill>
        <a:effectLst/>
      </p:bgPr>
    </p:bg>
    <p:spTree>
      <p:nvGrpSpPr>
        <p:cNvPr id="1" name="Shape 44"/>
        <p:cNvGrpSpPr/>
        <p:nvPr/>
      </p:nvGrpSpPr>
      <p:grpSpPr>
        <a:xfrm>
          <a:off x="0" y="0"/>
          <a:ext cx="0" cy="0"/>
          <a:chOff x="0" y="0"/>
          <a:chExt cx="0" cy="0"/>
        </a:xfrm>
      </p:grpSpPr>
      <p:sp>
        <p:nvSpPr>
          <p:cNvPr id="45" name="Google Shape;45;p61"/>
          <p:cNvSpPr txBox="1">
            <a:spLocks noGrp="1"/>
          </p:cNvSpPr>
          <p:nvPr>
            <p:ph type="title"/>
          </p:nvPr>
        </p:nvSpPr>
        <p:spPr>
          <a:xfrm>
            <a:off x="623391"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61"/>
          <p:cNvSpPr txBox="1">
            <a:spLocks noGrp="1"/>
          </p:cNvSpPr>
          <p:nvPr>
            <p:ph type="sldNum" idx="12"/>
          </p:nvPr>
        </p:nvSpPr>
        <p:spPr>
          <a:xfrm>
            <a:off x="9249399" y="2852610"/>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47" name="Google Shape;47;p61"/>
          <p:cNvSpPr txBox="1">
            <a:spLocks noGrp="1"/>
          </p:cNvSpPr>
          <p:nvPr>
            <p:ph type="body" idx="1"/>
          </p:nvPr>
        </p:nvSpPr>
        <p:spPr>
          <a:xfrm>
            <a:off x="623392" y="1902575"/>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200"/>
              </a:spcBef>
              <a:spcAft>
                <a:spcPts val="0"/>
              </a:spcAft>
              <a:buClr>
                <a:srgbClr val="C00000"/>
              </a:buClr>
              <a:buSzPts val="2000"/>
              <a:buFont typeface="Arial"/>
              <a:buChar char="»"/>
              <a:defRPr/>
            </a:lvl1pPr>
            <a:lvl2pPr marL="914400" lvl="1" indent="-342900" algn="l">
              <a:lnSpc>
                <a:spcPct val="90000"/>
              </a:lnSpc>
              <a:spcBef>
                <a:spcPts val="200"/>
              </a:spcBef>
              <a:spcAft>
                <a:spcPts val="0"/>
              </a:spcAft>
              <a:buSzPts val="1800"/>
              <a:buChar char="◦"/>
              <a:defRPr/>
            </a:lvl2pPr>
            <a:lvl3pPr marL="1371600" lvl="2" indent="-317500" algn="l">
              <a:lnSpc>
                <a:spcPct val="90000"/>
              </a:lnSpc>
              <a:spcBef>
                <a:spcPts val="400"/>
              </a:spcBef>
              <a:spcAft>
                <a:spcPts val="0"/>
              </a:spcAft>
              <a:buSzPts val="14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400"/>
              </a:spcAft>
              <a:buSzPts val="1400"/>
              <a:buChar char="◦"/>
              <a:defRPr/>
            </a:lvl9pPr>
          </a:lstStyle>
          <a:p>
            <a:endParaRPr/>
          </a:p>
        </p:txBody>
      </p:sp>
      <p:cxnSp>
        <p:nvCxnSpPr>
          <p:cNvPr id="48" name="Google Shape;48;p61"/>
          <p:cNvCxnSpPr/>
          <p:nvPr/>
        </p:nvCxnSpPr>
        <p:spPr>
          <a:xfrm>
            <a:off x="623392" y="1772816"/>
            <a:ext cx="10772775" cy="0"/>
          </a:xfrm>
          <a:prstGeom prst="straightConnector1">
            <a:avLst/>
          </a:prstGeom>
          <a:noFill/>
          <a:ln w="9525" cap="flat" cmpd="sng">
            <a:solidFill>
              <a:srgbClr val="509C34"/>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Imagen con título">
  <p:cSld name="1_Imagen con título">
    <p:spTree>
      <p:nvGrpSpPr>
        <p:cNvPr id="1" name="Shape 49"/>
        <p:cNvGrpSpPr/>
        <p:nvPr/>
      </p:nvGrpSpPr>
      <p:grpSpPr>
        <a:xfrm>
          <a:off x="0" y="0"/>
          <a:ext cx="0" cy="0"/>
          <a:chOff x="0" y="0"/>
          <a:chExt cx="0" cy="0"/>
        </a:xfrm>
      </p:grpSpPr>
      <p:sp>
        <p:nvSpPr>
          <p:cNvPr id="50" name="Google Shape;50;p64"/>
          <p:cNvSpPr txBox="1">
            <a:spLocks noGrp="1"/>
          </p:cNvSpPr>
          <p:nvPr>
            <p:ph type="title"/>
          </p:nvPr>
        </p:nvSpPr>
        <p:spPr>
          <a:xfrm>
            <a:off x="653977" y="4737548"/>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3300"/>
              <a:buFont typeface="Calibri"/>
              <a:buNone/>
              <a:defRPr sz="3287"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64"/>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endParaRPr/>
          </a:p>
        </p:txBody>
      </p:sp>
      <p:sp>
        <p:nvSpPr>
          <p:cNvPr id="52" name="Google Shape;52;p64"/>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53" name="Google Shape;53;p64" descr="2"/>
          <p:cNvPicPr preferRelativeResize="0"/>
          <p:nvPr/>
        </p:nvPicPr>
        <p:blipFill rotWithShape="1">
          <a:blip r:embed="rId2">
            <a:alphaModFix/>
          </a:blip>
          <a:srcRect l="8462"/>
          <a:stretch/>
        </p:blipFill>
        <p:spPr>
          <a:xfrm>
            <a:off x="23664" y="0"/>
            <a:ext cx="12144672" cy="427773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54"/>
        <p:cNvGrpSpPr/>
        <p:nvPr/>
      </p:nvGrpSpPr>
      <p:grpSpPr>
        <a:xfrm>
          <a:off x="0" y="0"/>
          <a:ext cx="0" cy="0"/>
          <a:chOff x="0" y="0"/>
          <a:chExt cx="0" cy="0"/>
        </a:xfrm>
      </p:grpSpPr>
      <p:sp>
        <p:nvSpPr>
          <p:cNvPr id="55" name="Google Shape;55;p65"/>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65"/>
          <p:cNvSpPr txBox="1">
            <a:spLocks noGrp="1"/>
          </p:cNvSpPr>
          <p:nvPr>
            <p:ph type="body" idx="1"/>
          </p:nvPr>
        </p:nvSpPr>
        <p:spPr>
          <a:xfrm>
            <a:off x="1097278"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57" name="Google Shape;57;p65"/>
          <p:cNvSpPr txBox="1">
            <a:spLocks noGrp="1"/>
          </p:cNvSpPr>
          <p:nvPr>
            <p:ph type="body" idx="2"/>
          </p:nvPr>
        </p:nvSpPr>
        <p:spPr>
          <a:xfrm>
            <a:off x="6217921"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58" name="Google Shape;58;p65"/>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59"/>
        <p:cNvGrpSpPr/>
        <p:nvPr/>
      </p:nvGrpSpPr>
      <p:grpSpPr>
        <a:xfrm>
          <a:off x="0" y="0"/>
          <a:ext cx="0" cy="0"/>
          <a:chOff x="0" y="0"/>
          <a:chExt cx="0" cy="0"/>
        </a:xfrm>
      </p:grpSpPr>
      <p:sp>
        <p:nvSpPr>
          <p:cNvPr id="60" name="Google Shape;60;p6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66"/>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endParaRPr/>
          </a:p>
        </p:txBody>
      </p:sp>
      <p:sp>
        <p:nvSpPr>
          <p:cNvPr id="62" name="Google Shape;62;p66"/>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63" name="Google Shape;63;p66"/>
          <p:cNvSpPr txBox="1">
            <a:spLocks noGrp="1"/>
          </p:cNvSpPr>
          <p:nvPr>
            <p:ph type="body" idx="3"/>
          </p:nvPr>
        </p:nvSpPr>
        <p:spPr>
          <a:xfrm>
            <a:off x="6217921"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195"/>
              </a:spcBef>
              <a:spcAft>
                <a:spcPts val="0"/>
              </a:spcAft>
              <a:buSzPts val="2000"/>
              <a:buNone/>
              <a:defRPr sz="1992" b="0" cap="none">
                <a:solidFill>
                  <a:schemeClr val="dk2"/>
                </a:solidFill>
              </a:defRPr>
            </a:lvl1pPr>
            <a:lvl2pPr marL="914400" lvl="1" indent="-228600" algn="l">
              <a:lnSpc>
                <a:spcPct val="90000"/>
              </a:lnSpc>
              <a:spcBef>
                <a:spcPts val="199"/>
              </a:spcBef>
              <a:spcAft>
                <a:spcPts val="0"/>
              </a:spcAft>
              <a:buSzPts val="2000"/>
              <a:buNone/>
              <a:defRPr sz="1992" b="1"/>
            </a:lvl2pPr>
            <a:lvl3pPr marL="1371600" lvl="2" indent="-228600" algn="l">
              <a:lnSpc>
                <a:spcPct val="90000"/>
              </a:lnSpc>
              <a:spcBef>
                <a:spcPts val="398"/>
              </a:spcBef>
              <a:spcAft>
                <a:spcPts val="0"/>
              </a:spcAft>
              <a:buSzPts val="1800"/>
              <a:buNone/>
              <a:defRPr sz="1793" b="1"/>
            </a:lvl3pPr>
            <a:lvl4pPr marL="1828800" lvl="3" indent="-228600" algn="l">
              <a:lnSpc>
                <a:spcPct val="90000"/>
              </a:lnSpc>
              <a:spcBef>
                <a:spcPts val="398"/>
              </a:spcBef>
              <a:spcAft>
                <a:spcPts val="0"/>
              </a:spcAft>
              <a:buSzPts val="1600"/>
              <a:buNone/>
              <a:defRPr sz="1594" b="1"/>
            </a:lvl4pPr>
            <a:lvl5pPr marL="2286000" lvl="4" indent="-228600" algn="l">
              <a:lnSpc>
                <a:spcPct val="90000"/>
              </a:lnSpc>
              <a:spcBef>
                <a:spcPts val="398"/>
              </a:spcBef>
              <a:spcAft>
                <a:spcPts val="0"/>
              </a:spcAft>
              <a:buSzPts val="1600"/>
              <a:buNone/>
              <a:defRPr sz="1594" b="1"/>
            </a:lvl5pPr>
            <a:lvl6pPr marL="2743200" lvl="5" indent="-228600" algn="l">
              <a:lnSpc>
                <a:spcPct val="90000"/>
              </a:lnSpc>
              <a:spcBef>
                <a:spcPts val="398"/>
              </a:spcBef>
              <a:spcAft>
                <a:spcPts val="0"/>
              </a:spcAft>
              <a:buSzPts val="1600"/>
              <a:buNone/>
              <a:defRPr sz="1594" b="1"/>
            </a:lvl6pPr>
            <a:lvl7pPr marL="3200400" lvl="6" indent="-228600" algn="l">
              <a:lnSpc>
                <a:spcPct val="90000"/>
              </a:lnSpc>
              <a:spcBef>
                <a:spcPts val="398"/>
              </a:spcBef>
              <a:spcAft>
                <a:spcPts val="0"/>
              </a:spcAft>
              <a:buSzPts val="1600"/>
              <a:buNone/>
              <a:defRPr sz="1594" b="1"/>
            </a:lvl7pPr>
            <a:lvl8pPr marL="3657600" lvl="7" indent="-228600" algn="l">
              <a:lnSpc>
                <a:spcPct val="90000"/>
              </a:lnSpc>
              <a:spcBef>
                <a:spcPts val="398"/>
              </a:spcBef>
              <a:spcAft>
                <a:spcPts val="0"/>
              </a:spcAft>
              <a:buSzPts val="1600"/>
              <a:buNone/>
              <a:defRPr sz="1594" b="1"/>
            </a:lvl8pPr>
            <a:lvl9pPr marL="4114800" lvl="8" indent="-228600" algn="l">
              <a:lnSpc>
                <a:spcPct val="90000"/>
              </a:lnSpc>
              <a:spcBef>
                <a:spcPts val="398"/>
              </a:spcBef>
              <a:spcAft>
                <a:spcPts val="398"/>
              </a:spcAft>
              <a:buSzPts val="1600"/>
              <a:buNone/>
              <a:defRPr sz="1594" b="1"/>
            </a:lvl9pPr>
          </a:lstStyle>
          <a:p>
            <a:endParaRPr/>
          </a:p>
        </p:txBody>
      </p:sp>
      <p:sp>
        <p:nvSpPr>
          <p:cNvPr id="64" name="Google Shape;64;p66"/>
          <p:cNvSpPr txBox="1">
            <a:spLocks noGrp="1"/>
          </p:cNvSpPr>
          <p:nvPr>
            <p:ph type="body" idx="4"/>
          </p:nvPr>
        </p:nvSpPr>
        <p:spPr>
          <a:xfrm>
            <a:off x="6217921"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65" name="Google Shape;65;p66"/>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ido con título" type="objTx">
  <p:cSld name="OBJECT_WITH_CAPTION_TEXT">
    <p:spTree>
      <p:nvGrpSpPr>
        <p:cNvPr id="1" name="Shape 66"/>
        <p:cNvGrpSpPr/>
        <p:nvPr/>
      </p:nvGrpSpPr>
      <p:grpSpPr>
        <a:xfrm>
          <a:off x="0" y="0"/>
          <a:ext cx="0" cy="0"/>
          <a:chOff x="0" y="0"/>
          <a:chExt cx="0" cy="0"/>
        </a:xfrm>
      </p:grpSpPr>
      <p:sp>
        <p:nvSpPr>
          <p:cNvPr id="67" name="Google Shape;67;p67"/>
          <p:cNvSpPr/>
          <p:nvPr/>
        </p:nvSpPr>
        <p:spPr>
          <a:xfrm>
            <a:off x="17" y="0"/>
            <a:ext cx="4050791" cy="68580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68" name="Google Shape;68;p67"/>
          <p:cNvSpPr/>
          <p:nvPr/>
        </p:nvSpPr>
        <p:spPr>
          <a:xfrm>
            <a:off x="4040071" y="0"/>
            <a:ext cx="64008" cy="6858000"/>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69" name="Google Shape;69;p67"/>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586" b="0">
                <a:solidFill>
                  <a:srgbClr val="FFFFFF"/>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67"/>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71" name="Google Shape;71;p67"/>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195"/>
              </a:spcBef>
              <a:spcAft>
                <a:spcPts val="0"/>
              </a:spcAft>
              <a:buSzPts val="1500"/>
              <a:buNone/>
              <a:defRPr sz="1494">
                <a:solidFill>
                  <a:srgbClr val="FFFFFF"/>
                </a:solidFill>
              </a:defRPr>
            </a:lvl1pPr>
            <a:lvl2pPr marL="914400" lvl="1" indent="-228600" algn="l">
              <a:lnSpc>
                <a:spcPct val="90000"/>
              </a:lnSpc>
              <a:spcBef>
                <a:spcPts val="199"/>
              </a:spcBef>
              <a:spcAft>
                <a:spcPts val="0"/>
              </a:spcAft>
              <a:buSzPts val="1200"/>
              <a:buNone/>
              <a:defRPr sz="1195"/>
            </a:lvl2pPr>
            <a:lvl3pPr marL="1371600" lvl="2" indent="-228600" algn="l">
              <a:lnSpc>
                <a:spcPct val="90000"/>
              </a:lnSpc>
              <a:spcBef>
                <a:spcPts val="398"/>
              </a:spcBef>
              <a:spcAft>
                <a:spcPts val="0"/>
              </a:spcAft>
              <a:buSzPts val="1000"/>
              <a:buNone/>
              <a:defRPr sz="996"/>
            </a:lvl3pPr>
            <a:lvl4pPr marL="1828800" lvl="3" indent="-228600" algn="l">
              <a:lnSpc>
                <a:spcPct val="90000"/>
              </a:lnSpc>
              <a:spcBef>
                <a:spcPts val="398"/>
              </a:spcBef>
              <a:spcAft>
                <a:spcPts val="0"/>
              </a:spcAft>
              <a:buSzPts val="900"/>
              <a:buNone/>
              <a:defRPr sz="896"/>
            </a:lvl4pPr>
            <a:lvl5pPr marL="2286000" lvl="4" indent="-228600" algn="l">
              <a:lnSpc>
                <a:spcPct val="90000"/>
              </a:lnSpc>
              <a:spcBef>
                <a:spcPts val="398"/>
              </a:spcBef>
              <a:spcAft>
                <a:spcPts val="0"/>
              </a:spcAft>
              <a:buSzPts val="900"/>
              <a:buNone/>
              <a:defRPr sz="896"/>
            </a:lvl5pPr>
            <a:lvl6pPr marL="2743200" lvl="5" indent="-228600" algn="l">
              <a:lnSpc>
                <a:spcPct val="90000"/>
              </a:lnSpc>
              <a:spcBef>
                <a:spcPts val="398"/>
              </a:spcBef>
              <a:spcAft>
                <a:spcPts val="0"/>
              </a:spcAft>
              <a:buSzPts val="900"/>
              <a:buNone/>
              <a:defRPr sz="896"/>
            </a:lvl6pPr>
            <a:lvl7pPr marL="3200400" lvl="6" indent="-228600" algn="l">
              <a:lnSpc>
                <a:spcPct val="90000"/>
              </a:lnSpc>
              <a:spcBef>
                <a:spcPts val="398"/>
              </a:spcBef>
              <a:spcAft>
                <a:spcPts val="0"/>
              </a:spcAft>
              <a:buSzPts val="900"/>
              <a:buNone/>
              <a:defRPr sz="896"/>
            </a:lvl7pPr>
            <a:lvl8pPr marL="3657600" lvl="7" indent="-228600" algn="l">
              <a:lnSpc>
                <a:spcPct val="90000"/>
              </a:lnSpc>
              <a:spcBef>
                <a:spcPts val="398"/>
              </a:spcBef>
              <a:spcAft>
                <a:spcPts val="0"/>
              </a:spcAft>
              <a:buSzPts val="900"/>
              <a:buNone/>
              <a:defRPr sz="896"/>
            </a:lvl8pPr>
            <a:lvl9pPr marL="4114800" lvl="8" indent="-228600" algn="l">
              <a:lnSpc>
                <a:spcPct val="90000"/>
              </a:lnSpc>
              <a:spcBef>
                <a:spcPts val="398"/>
              </a:spcBef>
              <a:spcAft>
                <a:spcPts val="398"/>
              </a:spcAft>
              <a:buSzPts val="900"/>
              <a:buNone/>
              <a:defRPr sz="896"/>
            </a:lvl9pPr>
          </a:lstStyle>
          <a:p>
            <a:endParaRPr/>
          </a:p>
        </p:txBody>
      </p:sp>
      <p:sp>
        <p:nvSpPr>
          <p:cNvPr id="72" name="Google Shape;72;p67"/>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73"/>
        <p:cNvGrpSpPr/>
        <p:nvPr/>
      </p:nvGrpSpPr>
      <p:grpSpPr>
        <a:xfrm>
          <a:off x="0" y="0"/>
          <a:ext cx="0" cy="0"/>
          <a:chOff x="0" y="0"/>
          <a:chExt cx="0" cy="0"/>
        </a:xfrm>
      </p:grpSpPr>
      <p:sp>
        <p:nvSpPr>
          <p:cNvPr id="74" name="Google Shape;74;p68"/>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68"/>
          <p:cNvSpPr txBox="1">
            <a:spLocks noGrp="1"/>
          </p:cNvSpPr>
          <p:nvPr>
            <p:ph type="body" idx="1"/>
          </p:nvPr>
        </p:nvSpPr>
        <p:spPr>
          <a:xfrm rot="5400000">
            <a:off x="4114799" y="-1171785"/>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76" name="Google Shape;76;p68"/>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ítulo vertical y texto" type="vertTitleAndTx">
  <p:cSld name="VERTICAL_TITLE_AND_VERTICAL_TEXT">
    <p:spTree>
      <p:nvGrpSpPr>
        <p:cNvPr id="1" name="Shape 77"/>
        <p:cNvGrpSpPr/>
        <p:nvPr/>
      </p:nvGrpSpPr>
      <p:grpSpPr>
        <a:xfrm>
          <a:off x="0" y="0"/>
          <a:ext cx="0" cy="0"/>
          <a:chOff x="0" y="0"/>
          <a:chExt cx="0" cy="0"/>
        </a:xfrm>
      </p:grpSpPr>
      <p:sp>
        <p:nvSpPr>
          <p:cNvPr id="78" name="Google Shape;78;p69"/>
          <p:cNvSpPr/>
          <p:nvPr/>
        </p:nvSpPr>
        <p:spPr>
          <a:xfrm>
            <a:off x="3176" y="6400800"/>
            <a:ext cx="12188825"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79" name="Google Shape;79;p69"/>
          <p:cNvSpPr/>
          <p:nvPr/>
        </p:nvSpPr>
        <p:spPr>
          <a:xfrm>
            <a:off x="16" y="6334316"/>
            <a:ext cx="12188825" cy="64008"/>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80" name="Google Shape;80;p69"/>
          <p:cNvSpPr txBox="1">
            <a:spLocks noGrp="1"/>
          </p:cNvSpPr>
          <p:nvPr>
            <p:ph type="title"/>
          </p:nvPr>
        </p:nvSpPr>
        <p:spPr>
          <a:xfrm rot="5400000">
            <a:off x="7159401" y="1977801"/>
            <a:ext cx="5759898"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69"/>
          <p:cNvSpPr txBox="1">
            <a:spLocks noGrp="1"/>
          </p:cNvSpPr>
          <p:nvPr>
            <p:ph type="body" idx="1"/>
          </p:nvPr>
        </p:nvSpPr>
        <p:spPr>
          <a:xfrm rot="5400000">
            <a:off x="1825402" y="-574898"/>
            <a:ext cx="5759898"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195"/>
              </a:spcBef>
              <a:spcAft>
                <a:spcPts val="0"/>
              </a:spcAft>
              <a:buSzPts val="1800"/>
              <a:buChar char=" "/>
              <a:defRPr/>
            </a:lvl1pPr>
            <a:lvl2pPr marL="914400" lvl="1" indent="-342900" algn="l">
              <a:lnSpc>
                <a:spcPct val="90000"/>
              </a:lnSpc>
              <a:spcBef>
                <a:spcPts val="199"/>
              </a:spcBef>
              <a:spcAft>
                <a:spcPts val="0"/>
              </a:spcAft>
              <a:buSzPts val="1800"/>
              <a:buChar char="◦"/>
              <a:defRPr/>
            </a:lvl2pPr>
            <a:lvl3pPr marL="1371600" lvl="2" indent="-342900" algn="l">
              <a:lnSpc>
                <a:spcPct val="90000"/>
              </a:lnSpc>
              <a:spcBef>
                <a:spcPts val="398"/>
              </a:spcBef>
              <a:spcAft>
                <a:spcPts val="0"/>
              </a:spcAft>
              <a:buSzPts val="1800"/>
              <a:buChar char="◦"/>
              <a:defRPr/>
            </a:lvl3pPr>
            <a:lvl4pPr marL="1828800" lvl="3" indent="-342900" algn="l">
              <a:lnSpc>
                <a:spcPct val="90000"/>
              </a:lnSpc>
              <a:spcBef>
                <a:spcPts val="398"/>
              </a:spcBef>
              <a:spcAft>
                <a:spcPts val="0"/>
              </a:spcAft>
              <a:buSzPts val="1800"/>
              <a:buChar char="◦"/>
              <a:defRPr/>
            </a:lvl4pPr>
            <a:lvl5pPr marL="2286000" lvl="4" indent="-342900" algn="l">
              <a:lnSpc>
                <a:spcPct val="90000"/>
              </a:lnSpc>
              <a:spcBef>
                <a:spcPts val="398"/>
              </a:spcBef>
              <a:spcAft>
                <a:spcPts val="0"/>
              </a:spcAft>
              <a:buSzPts val="1800"/>
              <a:buChar char="◦"/>
              <a:defRPr/>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
        <p:nvSpPr>
          <p:cNvPr id="82" name="Google Shape;82;p69"/>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Encabezado de Seccion ">
  <p:cSld name="Encabezado de Seccion ">
    <p:spTree>
      <p:nvGrpSpPr>
        <p:cNvPr id="1" name="Shape 83"/>
        <p:cNvGrpSpPr/>
        <p:nvPr/>
      </p:nvGrpSpPr>
      <p:grpSpPr>
        <a:xfrm>
          <a:off x="0" y="0"/>
          <a:ext cx="0" cy="0"/>
          <a:chOff x="0" y="0"/>
          <a:chExt cx="0" cy="0"/>
        </a:xfrm>
      </p:grpSpPr>
      <p:sp>
        <p:nvSpPr>
          <p:cNvPr id="84" name="Google Shape;84;p70"/>
          <p:cNvSpPr txBox="1">
            <a:spLocks noGrp="1"/>
          </p:cNvSpPr>
          <p:nvPr>
            <p:ph type="title"/>
          </p:nvPr>
        </p:nvSpPr>
        <p:spPr>
          <a:xfrm>
            <a:off x="551384" y="2051019"/>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Clr>
                <a:srgbClr val="C00000"/>
              </a:buClr>
              <a:buSzPts val="5400"/>
              <a:buFont typeface="Calibri"/>
              <a:buNone/>
              <a:defRPr sz="5378"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70"/>
          <p:cNvSpPr txBox="1">
            <a:spLocks noGrp="1"/>
          </p:cNvSpPr>
          <p:nvPr>
            <p:ph type="body" idx="1"/>
          </p:nvPr>
        </p:nvSpPr>
        <p:spPr>
          <a:xfrm>
            <a:off x="551384" y="4359587"/>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195"/>
              </a:spcBef>
              <a:spcAft>
                <a:spcPts val="0"/>
              </a:spcAft>
              <a:buSzPts val="1800"/>
              <a:buNone/>
              <a:defRPr sz="1793">
                <a:solidFill>
                  <a:srgbClr val="C00000"/>
                </a:solidFill>
              </a:defRPr>
            </a:lvl1pPr>
            <a:lvl2pPr marL="914400" lvl="1" indent="-228600" algn="l">
              <a:lnSpc>
                <a:spcPct val="90000"/>
              </a:lnSpc>
              <a:spcBef>
                <a:spcPts val="199"/>
              </a:spcBef>
              <a:spcAft>
                <a:spcPts val="0"/>
              </a:spcAft>
              <a:buSzPts val="900"/>
              <a:buNone/>
              <a:defRPr sz="896"/>
            </a:lvl2pPr>
            <a:lvl3pPr marL="1371600" lvl="2" indent="-228600" algn="l">
              <a:lnSpc>
                <a:spcPct val="90000"/>
              </a:lnSpc>
              <a:spcBef>
                <a:spcPts val="398"/>
              </a:spcBef>
              <a:spcAft>
                <a:spcPts val="0"/>
              </a:spcAft>
              <a:buSzPts val="750"/>
              <a:buNone/>
              <a:defRPr sz="747"/>
            </a:lvl3pPr>
            <a:lvl4pPr marL="1828800" lvl="3" indent="-228600" algn="l">
              <a:lnSpc>
                <a:spcPct val="90000"/>
              </a:lnSpc>
              <a:spcBef>
                <a:spcPts val="398"/>
              </a:spcBef>
              <a:spcAft>
                <a:spcPts val="0"/>
              </a:spcAft>
              <a:buSzPts val="675"/>
              <a:buNone/>
              <a:defRPr sz="672"/>
            </a:lvl4pPr>
            <a:lvl5pPr marL="2286000" lvl="4" indent="-228600" algn="l">
              <a:lnSpc>
                <a:spcPct val="90000"/>
              </a:lnSpc>
              <a:spcBef>
                <a:spcPts val="398"/>
              </a:spcBef>
              <a:spcAft>
                <a:spcPts val="0"/>
              </a:spcAft>
              <a:buSzPts val="675"/>
              <a:buNone/>
              <a:defRPr sz="672"/>
            </a:lvl5pPr>
            <a:lvl6pPr marL="2743200" lvl="5" indent="-228600" algn="l">
              <a:lnSpc>
                <a:spcPct val="90000"/>
              </a:lnSpc>
              <a:spcBef>
                <a:spcPts val="398"/>
              </a:spcBef>
              <a:spcAft>
                <a:spcPts val="0"/>
              </a:spcAft>
              <a:buSzPts val="675"/>
              <a:buNone/>
              <a:defRPr sz="672"/>
            </a:lvl6pPr>
            <a:lvl7pPr marL="3200400" lvl="6" indent="-228600" algn="l">
              <a:lnSpc>
                <a:spcPct val="90000"/>
              </a:lnSpc>
              <a:spcBef>
                <a:spcPts val="398"/>
              </a:spcBef>
              <a:spcAft>
                <a:spcPts val="0"/>
              </a:spcAft>
              <a:buSzPts val="675"/>
              <a:buNone/>
              <a:defRPr sz="672"/>
            </a:lvl7pPr>
            <a:lvl8pPr marL="3657600" lvl="7" indent="-228600" algn="l">
              <a:lnSpc>
                <a:spcPct val="90000"/>
              </a:lnSpc>
              <a:spcBef>
                <a:spcPts val="398"/>
              </a:spcBef>
              <a:spcAft>
                <a:spcPts val="0"/>
              </a:spcAft>
              <a:buSzPts val="675"/>
              <a:buNone/>
              <a:defRPr sz="672"/>
            </a:lvl8pPr>
            <a:lvl9pPr marL="4114800" lvl="8" indent="-228600" algn="l">
              <a:lnSpc>
                <a:spcPct val="90000"/>
              </a:lnSpc>
              <a:spcBef>
                <a:spcPts val="398"/>
              </a:spcBef>
              <a:spcAft>
                <a:spcPts val="398"/>
              </a:spcAft>
              <a:buSzPts val="675"/>
              <a:buNone/>
              <a:defRPr sz="672"/>
            </a:lvl9pPr>
          </a:lstStyle>
          <a:p>
            <a:endParaRPr/>
          </a:p>
        </p:txBody>
      </p:sp>
      <p:sp>
        <p:nvSpPr>
          <p:cNvPr id="86" name="Google Shape;86;p70"/>
          <p:cNvSpPr txBox="1">
            <a:spLocks noGrp="1"/>
          </p:cNvSpPr>
          <p:nvPr>
            <p:ph type="sldNum" idx="12"/>
          </p:nvPr>
        </p:nvSpPr>
        <p:spPr>
          <a:xfrm>
            <a:off x="9900459" y="6459787"/>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Dos objetos">
  <p:cSld name="1_Dos objetos">
    <p:spTree>
      <p:nvGrpSpPr>
        <p:cNvPr id="1" name="Shape 87"/>
        <p:cNvGrpSpPr/>
        <p:nvPr/>
      </p:nvGrpSpPr>
      <p:grpSpPr>
        <a:xfrm>
          <a:off x="0" y="0"/>
          <a:ext cx="0" cy="0"/>
          <a:chOff x="0" y="0"/>
          <a:chExt cx="0" cy="0"/>
        </a:xfrm>
      </p:grpSpPr>
      <p:sp>
        <p:nvSpPr>
          <p:cNvPr id="88" name="Google Shape;88;p71"/>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3000"/>
              <a:buFont typeface="Calibri"/>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71"/>
          <p:cNvSpPr txBox="1">
            <a:spLocks noGrp="1"/>
          </p:cNvSpPr>
          <p:nvPr>
            <p:ph type="body" idx="1"/>
          </p:nvPr>
        </p:nvSpPr>
        <p:spPr>
          <a:xfrm>
            <a:off x="676656" y="1998134"/>
            <a:ext cx="4663440" cy="376732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endParaRPr/>
          </a:p>
        </p:txBody>
      </p:sp>
      <p:sp>
        <p:nvSpPr>
          <p:cNvPr id="90" name="Google Shape;90;p71"/>
          <p:cNvSpPr txBox="1">
            <a:spLocks noGrp="1"/>
          </p:cNvSpPr>
          <p:nvPr>
            <p:ph type="body" idx="2"/>
          </p:nvPr>
        </p:nvSpPr>
        <p:spPr>
          <a:xfrm>
            <a:off x="6011331" y="1998134"/>
            <a:ext cx="4663440" cy="3767328"/>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195"/>
              </a:spcBef>
              <a:spcAft>
                <a:spcPts val="0"/>
              </a:spcAft>
              <a:buClr>
                <a:srgbClr val="C00000"/>
              </a:buClr>
              <a:buSzPts val="1800"/>
              <a:buFont typeface="Arial"/>
              <a:buChar char="»"/>
              <a:defRPr sz="1793"/>
            </a:lvl1pPr>
            <a:lvl2pPr marL="914400" lvl="1" indent="-323850" algn="l">
              <a:lnSpc>
                <a:spcPct val="90000"/>
              </a:lnSpc>
              <a:spcBef>
                <a:spcPts val="199"/>
              </a:spcBef>
              <a:spcAft>
                <a:spcPts val="0"/>
              </a:spcAft>
              <a:buClr>
                <a:srgbClr val="C00000"/>
              </a:buClr>
              <a:buSzPts val="1500"/>
              <a:buFont typeface="Arial"/>
              <a:buChar char=" "/>
              <a:defRPr sz="1494"/>
            </a:lvl2pPr>
            <a:lvl3pPr marL="1371600" lvl="2" indent="-314325" algn="l">
              <a:lnSpc>
                <a:spcPct val="90000"/>
              </a:lnSpc>
              <a:spcBef>
                <a:spcPts val="398"/>
              </a:spcBef>
              <a:spcAft>
                <a:spcPts val="0"/>
              </a:spcAft>
              <a:buClr>
                <a:srgbClr val="C00000"/>
              </a:buClr>
              <a:buSzPts val="1350"/>
              <a:buFont typeface="Arial"/>
              <a:buChar char=" "/>
              <a:defRPr sz="1345"/>
            </a:lvl3pPr>
            <a:lvl4pPr marL="1828800" lvl="3" indent="-304800" algn="l">
              <a:lnSpc>
                <a:spcPct val="90000"/>
              </a:lnSpc>
              <a:spcBef>
                <a:spcPts val="398"/>
              </a:spcBef>
              <a:spcAft>
                <a:spcPts val="0"/>
              </a:spcAft>
              <a:buClr>
                <a:srgbClr val="C00000"/>
              </a:buClr>
              <a:buSzPts val="1200"/>
              <a:buFont typeface="Arial"/>
              <a:buChar char=" "/>
              <a:defRPr sz="1195"/>
            </a:lvl4pPr>
            <a:lvl5pPr marL="2286000" lvl="4" indent="-304800" algn="l">
              <a:lnSpc>
                <a:spcPct val="90000"/>
              </a:lnSpc>
              <a:spcBef>
                <a:spcPts val="398"/>
              </a:spcBef>
              <a:spcAft>
                <a:spcPts val="0"/>
              </a:spcAft>
              <a:buClr>
                <a:srgbClr val="C00000"/>
              </a:buClr>
              <a:buSzPts val="1200"/>
              <a:buFont typeface="Arial"/>
              <a:buChar char=" "/>
              <a:defRPr sz="1195"/>
            </a:lvl5pPr>
            <a:lvl6pPr marL="2743200" lvl="5" indent="-304800" algn="l">
              <a:lnSpc>
                <a:spcPct val="90000"/>
              </a:lnSpc>
              <a:spcBef>
                <a:spcPts val="398"/>
              </a:spcBef>
              <a:spcAft>
                <a:spcPts val="0"/>
              </a:spcAft>
              <a:buSzPts val="1200"/>
              <a:buChar char="◦"/>
              <a:defRPr sz="1195"/>
            </a:lvl6pPr>
            <a:lvl7pPr marL="3200400" lvl="6" indent="-304800" algn="l">
              <a:lnSpc>
                <a:spcPct val="90000"/>
              </a:lnSpc>
              <a:spcBef>
                <a:spcPts val="398"/>
              </a:spcBef>
              <a:spcAft>
                <a:spcPts val="0"/>
              </a:spcAft>
              <a:buSzPts val="1200"/>
              <a:buChar char="◦"/>
              <a:defRPr sz="1195"/>
            </a:lvl7pPr>
            <a:lvl8pPr marL="3657600" lvl="7" indent="-304800" algn="l">
              <a:lnSpc>
                <a:spcPct val="90000"/>
              </a:lnSpc>
              <a:spcBef>
                <a:spcPts val="398"/>
              </a:spcBef>
              <a:spcAft>
                <a:spcPts val="0"/>
              </a:spcAft>
              <a:buSzPts val="1200"/>
              <a:buChar char="◦"/>
              <a:defRPr sz="1195"/>
            </a:lvl8pPr>
            <a:lvl9pPr marL="4114800" lvl="8" indent="-304800" algn="l">
              <a:lnSpc>
                <a:spcPct val="90000"/>
              </a:lnSpc>
              <a:spcBef>
                <a:spcPts val="398"/>
              </a:spcBef>
              <a:spcAft>
                <a:spcPts val="398"/>
              </a:spcAft>
              <a:buSzPts val="1200"/>
              <a:buChar char="◦"/>
              <a:defRPr sz="1195"/>
            </a:lvl9pPr>
          </a:lstStyle>
          <a:p>
            <a:endParaRPr/>
          </a:p>
        </p:txBody>
      </p:sp>
      <p:sp>
        <p:nvSpPr>
          <p:cNvPr id="91" name="Google Shape;91;p71"/>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92" name="Google Shape;92;p71"/>
          <p:cNvSpPr txBox="1">
            <a:spLocks noGrp="1"/>
          </p:cNvSpPr>
          <p:nvPr>
            <p:ph type="body" idx="3"/>
          </p:nvPr>
        </p:nvSpPr>
        <p:spPr>
          <a:xfrm>
            <a:off x="5951986" y="6509540"/>
            <a:ext cx="2162515" cy="305415"/>
          </a:xfrm>
          <a:prstGeom prst="rect">
            <a:avLst/>
          </a:prstGeom>
          <a:noFill/>
          <a:ln>
            <a:noFill/>
          </a:ln>
        </p:spPr>
        <p:txBody>
          <a:bodyPr spcFirstLastPara="1" wrap="square" lIns="0" tIns="45700" rIns="0" bIns="45700" anchor="t" anchorCtr="0">
            <a:noAutofit/>
          </a:bodyPr>
          <a:lstStyle>
            <a:lvl1pPr marL="457200" lvl="0" indent="-228600" algn="l">
              <a:lnSpc>
                <a:spcPct val="90000"/>
              </a:lnSpc>
              <a:spcBef>
                <a:spcPts val="0"/>
              </a:spcBef>
              <a:spcAft>
                <a:spcPts val="0"/>
              </a:spcAft>
              <a:buSzPts val="825"/>
              <a:buNone/>
              <a:defRPr sz="822" b="0" i="0">
                <a:solidFill>
                  <a:srgbClr val="888888"/>
                </a:solidFill>
                <a:latin typeface="Arial"/>
                <a:ea typeface="Arial"/>
                <a:cs typeface="Arial"/>
                <a:sym typeface="Arial"/>
              </a:defRPr>
            </a:lvl1pPr>
            <a:lvl2pPr marL="914400" lvl="1" indent="-228600" algn="l">
              <a:lnSpc>
                <a:spcPct val="90000"/>
              </a:lnSpc>
              <a:spcBef>
                <a:spcPts val="199"/>
              </a:spcBef>
              <a:spcAft>
                <a:spcPts val="0"/>
              </a:spcAft>
              <a:buSzPts val="1050"/>
              <a:buNone/>
              <a:defRPr sz="1046"/>
            </a:lvl2pPr>
            <a:lvl3pPr marL="1371600" lvl="2" indent="-228600" algn="l">
              <a:lnSpc>
                <a:spcPct val="90000"/>
              </a:lnSpc>
              <a:spcBef>
                <a:spcPts val="398"/>
              </a:spcBef>
              <a:spcAft>
                <a:spcPts val="0"/>
              </a:spcAft>
              <a:buSzPts val="1050"/>
              <a:buNone/>
              <a:defRPr sz="1046"/>
            </a:lvl3pPr>
            <a:lvl4pPr marL="1828800" lvl="3" indent="-228600" algn="l">
              <a:lnSpc>
                <a:spcPct val="90000"/>
              </a:lnSpc>
              <a:spcBef>
                <a:spcPts val="398"/>
              </a:spcBef>
              <a:spcAft>
                <a:spcPts val="0"/>
              </a:spcAft>
              <a:buSzPts val="1050"/>
              <a:buNone/>
              <a:defRPr sz="1046"/>
            </a:lvl4pPr>
            <a:lvl5pPr marL="2286000" lvl="4" indent="-228600" algn="l">
              <a:lnSpc>
                <a:spcPct val="90000"/>
              </a:lnSpc>
              <a:spcBef>
                <a:spcPts val="398"/>
              </a:spcBef>
              <a:spcAft>
                <a:spcPts val="0"/>
              </a:spcAft>
              <a:buSzPts val="1050"/>
              <a:buNone/>
              <a:defRPr sz="1046"/>
            </a:lvl5pPr>
            <a:lvl6pPr marL="2743200" lvl="5" indent="-342900" algn="l">
              <a:lnSpc>
                <a:spcPct val="90000"/>
              </a:lnSpc>
              <a:spcBef>
                <a:spcPts val="398"/>
              </a:spcBef>
              <a:spcAft>
                <a:spcPts val="0"/>
              </a:spcAft>
              <a:buSzPts val="1800"/>
              <a:buChar char="◦"/>
              <a:defRPr/>
            </a:lvl6pPr>
            <a:lvl7pPr marL="3200400" lvl="6" indent="-342900" algn="l">
              <a:lnSpc>
                <a:spcPct val="90000"/>
              </a:lnSpc>
              <a:spcBef>
                <a:spcPts val="398"/>
              </a:spcBef>
              <a:spcAft>
                <a:spcPts val="0"/>
              </a:spcAft>
              <a:buSzPts val="1800"/>
              <a:buChar char="◦"/>
              <a:defRPr/>
            </a:lvl7pPr>
            <a:lvl8pPr marL="3657600" lvl="7" indent="-342900" algn="l">
              <a:lnSpc>
                <a:spcPct val="90000"/>
              </a:lnSpc>
              <a:spcBef>
                <a:spcPts val="398"/>
              </a:spcBef>
              <a:spcAft>
                <a:spcPts val="0"/>
              </a:spcAft>
              <a:buSzPts val="1800"/>
              <a:buChar char="◦"/>
              <a:defRPr/>
            </a:lvl8pPr>
            <a:lvl9pPr marL="4114800" lvl="8" indent="-342900" algn="l">
              <a:lnSpc>
                <a:spcPct val="90000"/>
              </a:lnSpc>
              <a:spcBef>
                <a:spcPts val="398"/>
              </a:spcBef>
              <a:spcAft>
                <a:spcPts val="398"/>
              </a:spcAft>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Normal con fuente ">
  <p:cSld name="2_Normal con fuente ">
    <p:bg>
      <p:bgPr>
        <a:solidFill>
          <a:schemeClr val="lt1"/>
        </a:solidFill>
        <a:effectLst/>
      </p:bgPr>
    </p:bg>
    <p:spTree>
      <p:nvGrpSpPr>
        <p:cNvPr id="1" name="Shape 93"/>
        <p:cNvGrpSpPr/>
        <p:nvPr/>
      </p:nvGrpSpPr>
      <p:grpSpPr>
        <a:xfrm>
          <a:off x="0" y="0"/>
          <a:ext cx="0" cy="0"/>
          <a:chOff x="0" y="0"/>
          <a:chExt cx="0" cy="0"/>
        </a:xfrm>
      </p:grpSpPr>
      <p:sp>
        <p:nvSpPr>
          <p:cNvPr id="94" name="Google Shape;94;p72"/>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72"/>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96" name="Google Shape;96;p7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97" name="Google Shape;97;p72"/>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98" name="Google Shape;98;p7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99" name="Google Shape;99;p72"/>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00" name="Google Shape;100;p72"/>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Normal con fuente ">
  <p:cSld name="3_Normal con fuente ">
    <p:bg>
      <p:bgPr>
        <a:solidFill>
          <a:schemeClr val="lt1"/>
        </a:solidFill>
        <a:effectLst/>
      </p:bgPr>
    </p:bg>
    <p:spTree>
      <p:nvGrpSpPr>
        <p:cNvPr id="1" name="Shape 101"/>
        <p:cNvGrpSpPr/>
        <p:nvPr/>
      </p:nvGrpSpPr>
      <p:grpSpPr>
        <a:xfrm>
          <a:off x="0" y="0"/>
          <a:ext cx="0" cy="0"/>
          <a:chOff x="0" y="0"/>
          <a:chExt cx="0" cy="0"/>
        </a:xfrm>
      </p:grpSpPr>
      <p:sp>
        <p:nvSpPr>
          <p:cNvPr id="102" name="Google Shape;102;p73"/>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73"/>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04" name="Google Shape;104;p73"/>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05" name="Google Shape;105;p73"/>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06" name="Google Shape;106;p7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07" name="Google Shape;107;p73"/>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4_Normal con fuente ">
  <p:cSld name="4_Normal con fuente ">
    <p:bg>
      <p:bgPr>
        <a:solidFill>
          <a:schemeClr val="lt1"/>
        </a:solidFill>
        <a:effectLst/>
      </p:bgPr>
    </p:bg>
    <p:spTree>
      <p:nvGrpSpPr>
        <p:cNvPr id="1" name="Shape 108"/>
        <p:cNvGrpSpPr/>
        <p:nvPr/>
      </p:nvGrpSpPr>
      <p:grpSpPr>
        <a:xfrm>
          <a:off x="0" y="0"/>
          <a:ext cx="0" cy="0"/>
          <a:chOff x="0" y="0"/>
          <a:chExt cx="0" cy="0"/>
        </a:xfrm>
      </p:grpSpPr>
      <p:sp>
        <p:nvSpPr>
          <p:cNvPr id="109" name="Google Shape;109;p74"/>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74"/>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11" name="Google Shape;111;p74"/>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12" name="Google Shape;112;p74"/>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13" name="Google Shape;113;p7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14" name="Google Shape;114;p74"/>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5_Normal con fuente ">
  <p:cSld name="5_Normal con fuente ">
    <p:bg>
      <p:bgPr>
        <a:solidFill>
          <a:schemeClr val="lt1"/>
        </a:solidFill>
        <a:effectLst/>
      </p:bgPr>
    </p:bg>
    <p:spTree>
      <p:nvGrpSpPr>
        <p:cNvPr id="1" name="Shape 115"/>
        <p:cNvGrpSpPr/>
        <p:nvPr/>
      </p:nvGrpSpPr>
      <p:grpSpPr>
        <a:xfrm>
          <a:off x="0" y="0"/>
          <a:ext cx="0" cy="0"/>
          <a:chOff x="0" y="0"/>
          <a:chExt cx="0" cy="0"/>
        </a:xfrm>
      </p:grpSpPr>
      <p:sp>
        <p:nvSpPr>
          <p:cNvPr id="116" name="Google Shape;116;p75"/>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75"/>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18" name="Google Shape;118;p75"/>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19" name="Google Shape;119;p75"/>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20" name="Google Shape;120;p75"/>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21" name="Google Shape;121;p75"/>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22" name="Google Shape;122;p75"/>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75"/>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24" name="Google Shape;124;p75"/>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_Normal con fuente ">
  <p:cSld name="6_Normal con fuente ">
    <p:bg>
      <p:bgPr>
        <a:solidFill>
          <a:schemeClr val="lt1"/>
        </a:solidFill>
        <a:effectLst/>
      </p:bgPr>
    </p:bg>
    <p:spTree>
      <p:nvGrpSpPr>
        <p:cNvPr id="1" name="Shape 125"/>
        <p:cNvGrpSpPr/>
        <p:nvPr/>
      </p:nvGrpSpPr>
      <p:grpSpPr>
        <a:xfrm>
          <a:off x="0" y="0"/>
          <a:ext cx="0" cy="0"/>
          <a:chOff x="0" y="0"/>
          <a:chExt cx="0" cy="0"/>
        </a:xfrm>
      </p:grpSpPr>
      <p:sp>
        <p:nvSpPr>
          <p:cNvPr id="126" name="Google Shape;126;p76"/>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7" name="Google Shape;127;p76"/>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28" name="Google Shape;128;p76"/>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29" name="Google Shape;129;p76"/>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30" name="Google Shape;130;p76"/>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
        <p:nvSpPr>
          <p:cNvPr id="131" name="Google Shape;131;p76"/>
          <p:cNvSpPr txBox="1">
            <a:spLocks noGrp="1"/>
          </p:cNvSpPr>
          <p:nvPr>
            <p:ph type="dt" idx="10"/>
          </p:nvPr>
        </p:nvSpPr>
        <p:spPr>
          <a:xfrm>
            <a:off x="2567609" y="6543225"/>
            <a:ext cx="825989" cy="256089"/>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394" b="0" i="0" u="none" strike="noStrike" cap="none">
                <a:solidFill>
                  <a:srgbClr val="000000"/>
                </a:solidFill>
                <a:latin typeface="Arial"/>
                <a:ea typeface="Arial"/>
                <a:cs typeface="Arial"/>
                <a:sym typeface="Arial"/>
              </a:defRPr>
            </a:lvl9pPr>
          </a:lstStyle>
          <a:p>
            <a:endParaRPr/>
          </a:p>
        </p:txBody>
      </p:sp>
      <p:sp>
        <p:nvSpPr>
          <p:cNvPr id="132" name="Google Shape;132;p76"/>
          <p:cNvSpPr txBox="1">
            <a:spLocks noGrp="1"/>
          </p:cNvSpPr>
          <p:nvPr>
            <p:ph type="ftr" idx="11"/>
          </p:nvPr>
        </p:nvSpPr>
        <p:spPr>
          <a:xfrm>
            <a:off x="168982" y="6554697"/>
            <a:ext cx="2154900" cy="21301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046" b="0" i="0" u="none" strike="noStrike" cap="none">
                <a:solidFill>
                  <a:srgbClr val="BFBFBF"/>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76"/>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cxnSp>
        <p:nvCxnSpPr>
          <p:cNvPr id="134" name="Google Shape;134;p76"/>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7_Normal con fuente ">
  <p:cSld name="7_Normal con fuente ">
    <p:bg>
      <p:bgPr>
        <a:solidFill>
          <a:schemeClr val="lt1"/>
        </a:solidFill>
        <a:effectLst/>
      </p:bgPr>
    </p:bg>
    <p:spTree>
      <p:nvGrpSpPr>
        <p:cNvPr id="1" name="Shape 135"/>
        <p:cNvGrpSpPr/>
        <p:nvPr/>
      </p:nvGrpSpPr>
      <p:grpSpPr>
        <a:xfrm>
          <a:off x="0" y="0"/>
          <a:ext cx="0" cy="0"/>
          <a:chOff x="0" y="0"/>
          <a:chExt cx="0" cy="0"/>
        </a:xfrm>
      </p:grpSpPr>
      <p:sp>
        <p:nvSpPr>
          <p:cNvPr id="136" name="Google Shape;136;p77"/>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77"/>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38" name="Google Shape;138;p77"/>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39" name="Google Shape;139;p77"/>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40" name="Google Shape;140;p77"/>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41" name="Google Shape;141;p77"/>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9_Normal con fuente ">
  <p:cSld name="9_Normal con fuente ">
    <p:bg>
      <p:bgPr>
        <a:solidFill>
          <a:schemeClr val="lt1"/>
        </a:solidFill>
        <a:effectLst/>
      </p:bgPr>
    </p:bg>
    <p:spTree>
      <p:nvGrpSpPr>
        <p:cNvPr id="1" name="Shape 142"/>
        <p:cNvGrpSpPr/>
        <p:nvPr/>
      </p:nvGrpSpPr>
      <p:grpSpPr>
        <a:xfrm>
          <a:off x="0" y="0"/>
          <a:ext cx="0" cy="0"/>
          <a:chOff x="0" y="0"/>
          <a:chExt cx="0" cy="0"/>
        </a:xfrm>
      </p:grpSpPr>
      <p:sp>
        <p:nvSpPr>
          <p:cNvPr id="143" name="Google Shape;143;p78"/>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4" name="Google Shape;144;p78"/>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45" name="Google Shape;145;p78"/>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46" name="Google Shape;146;p78"/>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47" name="Google Shape;147;p78"/>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48" name="Google Shape;148;p78"/>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0_Normal con fuente ">
  <p:cSld name="10_Normal con fuente ">
    <p:bg>
      <p:bgPr>
        <a:solidFill>
          <a:schemeClr val="lt1"/>
        </a:solidFill>
        <a:effectLst/>
      </p:bgPr>
    </p:bg>
    <p:spTree>
      <p:nvGrpSpPr>
        <p:cNvPr id="1" name="Shape 149"/>
        <p:cNvGrpSpPr/>
        <p:nvPr/>
      </p:nvGrpSpPr>
      <p:grpSpPr>
        <a:xfrm>
          <a:off x="0" y="0"/>
          <a:ext cx="0" cy="0"/>
          <a:chOff x="0" y="0"/>
          <a:chExt cx="0" cy="0"/>
        </a:xfrm>
      </p:grpSpPr>
      <p:sp>
        <p:nvSpPr>
          <p:cNvPr id="150" name="Google Shape;150;p79"/>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79"/>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52" name="Google Shape;152;p79"/>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53" name="Google Shape;153;p79"/>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54" name="Google Shape;154;p79"/>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55" name="Google Shape;155;p79"/>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1_Normal con fuente ">
  <p:cSld name="11_Normal con fuente ">
    <p:bg>
      <p:bgPr>
        <a:solidFill>
          <a:schemeClr val="lt1"/>
        </a:solidFill>
        <a:effectLst/>
      </p:bgPr>
    </p:bg>
    <p:spTree>
      <p:nvGrpSpPr>
        <p:cNvPr id="1" name="Shape 156"/>
        <p:cNvGrpSpPr/>
        <p:nvPr/>
      </p:nvGrpSpPr>
      <p:grpSpPr>
        <a:xfrm>
          <a:off x="0" y="0"/>
          <a:ext cx="0" cy="0"/>
          <a:chOff x="0" y="0"/>
          <a:chExt cx="0" cy="0"/>
        </a:xfrm>
      </p:grpSpPr>
      <p:sp>
        <p:nvSpPr>
          <p:cNvPr id="157" name="Google Shape;157;p80"/>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80"/>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59" name="Google Shape;159;p80"/>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60" name="Google Shape;160;p80"/>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61" name="Google Shape;161;p80"/>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62" name="Google Shape;162;p80"/>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5_Normal con fuente ">
  <p:cSld name="15_Normal con fuente ">
    <p:bg>
      <p:bgPr>
        <a:solidFill>
          <a:schemeClr val="lt1"/>
        </a:solidFill>
        <a:effectLst/>
      </p:bgPr>
    </p:bg>
    <p:spTree>
      <p:nvGrpSpPr>
        <p:cNvPr id="1" name="Shape 163"/>
        <p:cNvGrpSpPr/>
        <p:nvPr/>
      </p:nvGrpSpPr>
      <p:grpSpPr>
        <a:xfrm>
          <a:off x="0" y="0"/>
          <a:ext cx="0" cy="0"/>
          <a:chOff x="0" y="0"/>
          <a:chExt cx="0" cy="0"/>
        </a:xfrm>
      </p:grpSpPr>
      <p:sp>
        <p:nvSpPr>
          <p:cNvPr id="164" name="Google Shape;164;p81"/>
          <p:cNvSpPr txBox="1">
            <a:spLocks noGrp="1"/>
          </p:cNvSpPr>
          <p:nvPr>
            <p:ph type="title"/>
          </p:nvPr>
        </p:nvSpPr>
        <p:spPr>
          <a:xfrm>
            <a:off x="623395" y="643372"/>
            <a:ext cx="10772775" cy="1129444"/>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SzPts val="4800"/>
              <a:buNone/>
              <a:defRPr sz="2988"/>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81"/>
          <p:cNvSpPr txBox="1">
            <a:spLocks noGrp="1"/>
          </p:cNvSpPr>
          <p:nvPr>
            <p:ph type="sldNum" idx="12"/>
          </p:nvPr>
        </p:nvSpPr>
        <p:spPr>
          <a:xfrm>
            <a:off x="9249399" y="2852616"/>
            <a:ext cx="2926080" cy="1048573"/>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0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
        <p:nvSpPr>
          <p:cNvPr id="166" name="Google Shape;166;p81"/>
          <p:cNvSpPr txBox="1"/>
          <p:nvPr/>
        </p:nvSpPr>
        <p:spPr>
          <a:xfrm>
            <a:off x="5176317" y="6484431"/>
            <a:ext cx="662361" cy="219291"/>
          </a:xfrm>
          <a:prstGeom prst="rect">
            <a:avLst/>
          </a:prstGeom>
          <a:noFill/>
          <a:ln>
            <a:noFill/>
          </a:ln>
        </p:spPr>
        <p:txBody>
          <a:bodyPr spcFirstLastPara="1" wrap="square" lIns="91050" tIns="45500" rIns="91050" bIns="45500" anchor="t" anchorCtr="0">
            <a:spAutoFit/>
          </a:bodyPr>
          <a:lstStyle/>
          <a:p>
            <a:pPr marL="0" marR="0" lvl="0" indent="0" algn="l" rtl="0">
              <a:lnSpc>
                <a:spcPct val="100000"/>
              </a:lnSpc>
              <a:spcBef>
                <a:spcPts val="0"/>
              </a:spcBef>
              <a:spcAft>
                <a:spcPts val="0"/>
              </a:spcAft>
              <a:buClr>
                <a:srgbClr val="000000"/>
              </a:buClr>
              <a:buSzPts val="825"/>
              <a:buFont typeface="Arial"/>
              <a:buNone/>
            </a:pPr>
            <a:r>
              <a:rPr lang="es-ES" sz="822" b="0" i="0" u="none" strike="noStrike" cap="none">
                <a:solidFill>
                  <a:srgbClr val="888888"/>
                </a:solidFill>
                <a:latin typeface="Arial"/>
                <a:ea typeface="Arial"/>
                <a:cs typeface="Arial"/>
                <a:sym typeface="Arial"/>
              </a:rPr>
              <a:t>Fuente:</a:t>
            </a:r>
            <a:endParaRPr sz="822" b="0" i="0" u="none" strike="noStrike" cap="none">
              <a:solidFill>
                <a:schemeClr val="dk2"/>
              </a:solidFill>
              <a:latin typeface="Arial"/>
              <a:ea typeface="Arial"/>
              <a:cs typeface="Arial"/>
              <a:sym typeface="Arial"/>
            </a:endParaRPr>
          </a:p>
        </p:txBody>
      </p:sp>
      <p:sp>
        <p:nvSpPr>
          <p:cNvPr id="167" name="Google Shape;167;p81"/>
          <p:cNvSpPr txBox="1">
            <a:spLocks noGrp="1"/>
          </p:cNvSpPr>
          <p:nvPr>
            <p:ph type="body" idx="1"/>
          </p:nvPr>
        </p:nvSpPr>
        <p:spPr>
          <a:xfrm>
            <a:off x="623392" y="1902581"/>
            <a:ext cx="9793088" cy="4478753"/>
          </a:xfrm>
          <a:prstGeom prst="rect">
            <a:avLst/>
          </a:prstGeom>
          <a:noFill/>
          <a:ln>
            <a:noFill/>
          </a:ln>
        </p:spPr>
        <p:txBody>
          <a:bodyPr spcFirstLastPara="1" wrap="square" lIns="0" tIns="45700" rIns="0" bIns="45700" anchor="t" anchorCtr="0">
            <a:normAutofit/>
          </a:bodyPr>
          <a:lstStyle>
            <a:lvl1pPr marL="457200" lvl="0" indent="-355600" algn="l">
              <a:lnSpc>
                <a:spcPct val="90000"/>
              </a:lnSpc>
              <a:spcBef>
                <a:spcPts val="1195"/>
              </a:spcBef>
              <a:spcAft>
                <a:spcPts val="0"/>
              </a:spcAft>
              <a:buClr>
                <a:srgbClr val="C00000"/>
              </a:buClr>
              <a:buSzPts val="2000"/>
              <a:buFont typeface="Arial"/>
              <a:buChar char="»"/>
              <a:defRPr/>
            </a:lvl1pPr>
            <a:lvl2pPr marL="914400" lvl="1" indent="-342900" algn="l">
              <a:lnSpc>
                <a:spcPct val="90000"/>
              </a:lnSpc>
              <a:spcBef>
                <a:spcPts val="199"/>
              </a:spcBef>
              <a:spcAft>
                <a:spcPts val="0"/>
              </a:spcAft>
              <a:buSzPts val="1800"/>
              <a:buChar char="◦"/>
              <a:defRPr/>
            </a:lvl2pPr>
            <a:lvl3pPr marL="1371600" lvl="2" indent="-317500" algn="l">
              <a:lnSpc>
                <a:spcPct val="90000"/>
              </a:lnSpc>
              <a:spcBef>
                <a:spcPts val="398"/>
              </a:spcBef>
              <a:spcAft>
                <a:spcPts val="0"/>
              </a:spcAft>
              <a:buSzPts val="1400"/>
              <a:buChar char="◦"/>
              <a:defRPr/>
            </a:lvl3pPr>
            <a:lvl4pPr marL="1828800" lvl="3" indent="-317500" algn="l">
              <a:lnSpc>
                <a:spcPct val="90000"/>
              </a:lnSpc>
              <a:spcBef>
                <a:spcPts val="398"/>
              </a:spcBef>
              <a:spcAft>
                <a:spcPts val="0"/>
              </a:spcAft>
              <a:buSzPts val="1400"/>
              <a:buChar char="◦"/>
              <a:defRPr/>
            </a:lvl4pPr>
            <a:lvl5pPr marL="2286000" lvl="4" indent="-317500" algn="l">
              <a:lnSpc>
                <a:spcPct val="90000"/>
              </a:lnSpc>
              <a:spcBef>
                <a:spcPts val="398"/>
              </a:spcBef>
              <a:spcAft>
                <a:spcPts val="0"/>
              </a:spcAft>
              <a:buSzPts val="1400"/>
              <a:buChar char="◦"/>
              <a:defRPr/>
            </a:lvl5pPr>
            <a:lvl6pPr marL="2743200" lvl="5" indent="-317500" algn="l">
              <a:lnSpc>
                <a:spcPct val="90000"/>
              </a:lnSpc>
              <a:spcBef>
                <a:spcPts val="398"/>
              </a:spcBef>
              <a:spcAft>
                <a:spcPts val="0"/>
              </a:spcAft>
              <a:buSzPts val="1400"/>
              <a:buChar char="◦"/>
              <a:defRPr/>
            </a:lvl6pPr>
            <a:lvl7pPr marL="3200400" lvl="6" indent="-317500" algn="l">
              <a:lnSpc>
                <a:spcPct val="90000"/>
              </a:lnSpc>
              <a:spcBef>
                <a:spcPts val="398"/>
              </a:spcBef>
              <a:spcAft>
                <a:spcPts val="0"/>
              </a:spcAft>
              <a:buSzPts val="1400"/>
              <a:buChar char="◦"/>
              <a:defRPr/>
            </a:lvl7pPr>
            <a:lvl8pPr marL="3657600" lvl="7" indent="-317500" algn="l">
              <a:lnSpc>
                <a:spcPct val="90000"/>
              </a:lnSpc>
              <a:spcBef>
                <a:spcPts val="398"/>
              </a:spcBef>
              <a:spcAft>
                <a:spcPts val="0"/>
              </a:spcAft>
              <a:buSzPts val="1400"/>
              <a:buChar char="◦"/>
              <a:defRPr/>
            </a:lvl8pPr>
            <a:lvl9pPr marL="4114800" lvl="8" indent="-317500" algn="l">
              <a:lnSpc>
                <a:spcPct val="90000"/>
              </a:lnSpc>
              <a:spcBef>
                <a:spcPts val="398"/>
              </a:spcBef>
              <a:spcAft>
                <a:spcPts val="398"/>
              </a:spcAft>
              <a:buSzPts val="1400"/>
              <a:buChar char="◦"/>
              <a:defRPr/>
            </a:lvl9pPr>
          </a:lstStyle>
          <a:p>
            <a:endParaRPr/>
          </a:p>
        </p:txBody>
      </p:sp>
      <p:cxnSp>
        <p:nvCxnSpPr>
          <p:cNvPr id="168" name="Google Shape;168;p81"/>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cxnSp>
        <p:nvCxnSpPr>
          <p:cNvPr id="169" name="Google Shape;169;p81"/>
          <p:cNvCxnSpPr/>
          <p:nvPr/>
        </p:nvCxnSpPr>
        <p:spPr>
          <a:xfrm>
            <a:off x="623396" y="1772816"/>
            <a:ext cx="10772775" cy="0"/>
          </a:xfrm>
          <a:prstGeom prst="straightConnector1">
            <a:avLst/>
          </a:prstGeom>
          <a:noFill/>
          <a:ln w="9525" cap="flat" cmpd="sng">
            <a:solidFill>
              <a:srgbClr val="517178"/>
            </a:solidFill>
            <a:prstDash val="solid"/>
            <a:round/>
            <a:headEnd type="none" w="sm" len="sm"/>
            <a:tailEnd type="none" w="sm" len="sm"/>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_Imagen con título">
  <p:cSld name="2_Imagen con título">
    <p:spTree>
      <p:nvGrpSpPr>
        <p:cNvPr id="1" name="Shape 170"/>
        <p:cNvGrpSpPr/>
        <p:nvPr/>
      </p:nvGrpSpPr>
      <p:grpSpPr>
        <a:xfrm>
          <a:off x="0" y="0"/>
          <a:ext cx="0" cy="0"/>
          <a:chOff x="0" y="0"/>
          <a:chExt cx="0" cy="0"/>
        </a:xfrm>
      </p:grpSpPr>
      <p:sp>
        <p:nvSpPr>
          <p:cNvPr id="171" name="Google Shape;171;p57"/>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4800"/>
              <a:buNone/>
              <a:defRPr sz="3300"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p57"/>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SzPts val="2000"/>
              <a:buNone/>
              <a:defRPr sz="1800">
                <a:solidFill>
                  <a:srgbClr val="C00000"/>
                </a:solidFill>
              </a:defRPr>
            </a:lvl1pPr>
            <a:lvl2pPr marL="914400" lvl="1" indent="-228600" algn="l">
              <a:lnSpc>
                <a:spcPct val="90000"/>
              </a:lnSpc>
              <a:spcBef>
                <a:spcPts val="200"/>
              </a:spcBef>
              <a:spcAft>
                <a:spcPts val="0"/>
              </a:spcAft>
              <a:buSzPts val="1800"/>
              <a:buNone/>
              <a:defRPr sz="900"/>
            </a:lvl2pPr>
            <a:lvl3pPr marL="1371600" lvl="2" indent="-228600" algn="l">
              <a:lnSpc>
                <a:spcPct val="90000"/>
              </a:lnSpc>
              <a:spcBef>
                <a:spcPts val="400"/>
              </a:spcBef>
              <a:spcAft>
                <a:spcPts val="0"/>
              </a:spcAft>
              <a:buSzPts val="1400"/>
              <a:buNone/>
              <a:defRPr sz="750"/>
            </a:lvl3pPr>
            <a:lvl4pPr marL="1828800" lvl="3" indent="-228600" algn="l">
              <a:lnSpc>
                <a:spcPct val="90000"/>
              </a:lnSpc>
              <a:spcBef>
                <a:spcPts val="400"/>
              </a:spcBef>
              <a:spcAft>
                <a:spcPts val="0"/>
              </a:spcAft>
              <a:buSzPts val="1400"/>
              <a:buNone/>
              <a:defRPr sz="675"/>
            </a:lvl4pPr>
            <a:lvl5pPr marL="2286000" lvl="4" indent="-228600" algn="l">
              <a:lnSpc>
                <a:spcPct val="90000"/>
              </a:lnSpc>
              <a:spcBef>
                <a:spcPts val="400"/>
              </a:spcBef>
              <a:spcAft>
                <a:spcPts val="0"/>
              </a:spcAft>
              <a:buSzPts val="1400"/>
              <a:buNone/>
              <a:defRPr sz="675"/>
            </a:lvl5pPr>
            <a:lvl6pPr marL="2743200" lvl="5" indent="-228600" algn="l">
              <a:lnSpc>
                <a:spcPct val="90000"/>
              </a:lnSpc>
              <a:spcBef>
                <a:spcPts val="400"/>
              </a:spcBef>
              <a:spcAft>
                <a:spcPts val="0"/>
              </a:spcAft>
              <a:buSzPts val="1400"/>
              <a:buNone/>
              <a:defRPr sz="675"/>
            </a:lvl6pPr>
            <a:lvl7pPr marL="3200400" lvl="6" indent="-228600" algn="l">
              <a:lnSpc>
                <a:spcPct val="90000"/>
              </a:lnSpc>
              <a:spcBef>
                <a:spcPts val="400"/>
              </a:spcBef>
              <a:spcAft>
                <a:spcPts val="0"/>
              </a:spcAft>
              <a:buSzPts val="1400"/>
              <a:buNone/>
              <a:defRPr sz="675"/>
            </a:lvl7pPr>
            <a:lvl8pPr marL="3657600" lvl="7" indent="-228600" algn="l">
              <a:lnSpc>
                <a:spcPct val="90000"/>
              </a:lnSpc>
              <a:spcBef>
                <a:spcPts val="400"/>
              </a:spcBef>
              <a:spcAft>
                <a:spcPts val="0"/>
              </a:spcAft>
              <a:buSzPts val="1400"/>
              <a:buNone/>
              <a:defRPr sz="675"/>
            </a:lvl8pPr>
            <a:lvl9pPr marL="4114800" lvl="8" indent="-228600" algn="l">
              <a:lnSpc>
                <a:spcPct val="90000"/>
              </a:lnSpc>
              <a:spcBef>
                <a:spcPts val="400"/>
              </a:spcBef>
              <a:spcAft>
                <a:spcPts val="400"/>
              </a:spcAft>
              <a:buSzPts val="1400"/>
              <a:buNone/>
              <a:defRPr sz="675"/>
            </a:lvl9pPr>
          </a:lstStyle>
          <a:p>
            <a:endParaRPr/>
          </a:p>
        </p:txBody>
      </p:sp>
      <p:sp>
        <p:nvSpPr>
          <p:cNvPr id="173" name="Google Shape;173;p57"/>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pic>
        <p:nvPicPr>
          <p:cNvPr id="174" name="Google Shape;174;p57"/>
          <p:cNvPicPr preferRelativeResize="0"/>
          <p:nvPr/>
        </p:nvPicPr>
        <p:blipFill rotWithShape="1">
          <a:blip r:embed="rId2">
            <a:alphaModFix/>
          </a:blip>
          <a:srcRect/>
          <a:stretch/>
        </p:blipFill>
        <p:spPr>
          <a:xfrm>
            <a:off x="3313" y="-5815"/>
            <a:ext cx="12192000" cy="4514935"/>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_Encabezado de Seccion ">
  <p:cSld name="1_Encabezado de Seccion ">
    <p:spTree>
      <p:nvGrpSpPr>
        <p:cNvPr id="1" name="Shape 175"/>
        <p:cNvGrpSpPr/>
        <p:nvPr/>
      </p:nvGrpSpPr>
      <p:grpSpPr>
        <a:xfrm>
          <a:off x="0" y="0"/>
          <a:ext cx="0" cy="0"/>
          <a:chOff x="0" y="0"/>
          <a:chExt cx="0" cy="0"/>
        </a:xfrm>
      </p:grpSpPr>
      <p:pic>
        <p:nvPicPr>
          <p:cNvPr id="176" name="Google Shape;176;p62"/>
          <p:cNvPicPr preferRelativeResize="0"/>
          <p:nvPr/>
        </p:nvPicPr>
        <p:blipFill rotWithShape="1">
          <a:blip r:embed="rId2">
            <a:alphaModFix/>
          </a:blip>
          <a:srcRect/>
          <a:stretch/>
        </p:blipFill>
        <p:spPr>
          <a:xfrm>
            <a:off x="3313" y="-5815"/>
            <a:ext cx="12192000" cy="4514935"/>
          </a:xfrm>
          <a:prstGeom prst="rect">
            <a:avLst/>
          </a:prstGeom>
          <a:noFill/>
          <a:ln>
            <a:noFill/>
          </a:ln>
        </p:spPr>
      </p:pic>
      <p:sp>
        <p:nvSpPr>
          <p:cNvPr id="177" name="Google Shape;177;p62"/>
          <p:cNvSpPr txBox="1">
            <a:spLocks noGrp="1"/>
          </p:cNvSpPr>
          <p:nvPr>
            <p:ph type="title"/>
          </p:nvPr>
        </p:nvSpPr>
        <p:spPr>
          <a:xfrm>
            <a:off x="551384" y="2051015"/>
            <a:ext cx="10780776" cy="613283"/>
          </a:xfrm>
          <a:prstGeom prst="rect">
            <a:avLst/>
          </a:prstGeom>
          <a:noFill/>
          <a:ln>
            <a:noFill/>
          </a:ln>
        </p:spPr>
        <p:txBody>
          <a:bodyPr spcFirstLastPara="1" wrap="square" lIns="91425" tIns="45700" rIns="91425" bIns="45700" anchor="b" anchorCtr="0">
            <a:noAutofit/>
          </a:bodyPr>
          <a:lstStyle>
            <a:lvl1pPr lvl="0" algn="l">
              <a:lnSpc>
                <a:spcPct val="85000"/>
              </a:lnSpc>
              <a:spcBef>
                <a:spcPts val="0"/>
              </a:spcBef>
              <a:spcAft>
                <a:spcPts val="0"/>
              </a:spcAft>
              <a:buSzPts val="4800"/>
              <a:buNone/>
              <a:defRPr sz="5400" b="0">
                <a:solidFill>
                  <a:srgbClr val="C0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p62"/>
          <p:cNvSpPr txBox="1">
            <a:spLocks noGrp="1"/>
          </p:cNvSpPr>
          <p:nvPr>
            <p:ph type="body" idx="1"/>
          </p:nvPr>
        </p:nvSpPr>
        <p:spPr>
          <a:xfrm>
            <a:off x="551384" y="4359587"/>
            <a:ext cx="9229344" cy="533400"/>
          </a:xfrm>
          <a:prstGeom prst="rect">
            <a:avLst/>
          </a:prstGeom>
          <a:noFill/>
          <a:ln>
            <a:noFill/>
          </a:ln>
        </p:spPr>
        <p:txBody>
          <a:bodyPr spcFirstLastPara="1" wrap="square" lIns="0" tIns="45700" rIns="0" bIns="45700" anchor="t" anchorCtr="0">
            <a:normAutofit/>
          </a:bodyPr>
          <a:lstStyle>
            <a:lvl1pPr marL="457200" lvl="0" indent="-228600" algn="l">
              <a:lnSpc>
                <a:spcPct val="90000"/>
              </a:lnSpc>
              <a:spcBef>
                <a:spcPts val="1200"/>
              </a:spcBef>
              <a:spcAft>
                <a:spcPts val="0"/>
              </a:spcAft>
              <a:buSzPts val="2000"/>
              <a:buNone/>
              <a:defRPr sz="1800">
                <a:solidFill>
                  <a:srgbClr val="C00000"/>
                </a:solidFill>
              </a:defRPr>
            </a:lvl1pPr>
            <a:lvl2pPr marL="914400" lvl="1" indent="-228600" algn="l">
              <a:lnSpc>
                <a:spcPct val="90000"/>
              </a:lnSpc>
              <a:spcBef>
                <a:spcPts val="200"/>
              </a:spcBef>
              <a:spcAft>
                <a:spcPts val="0"/>
              </a:spcAft>
              <a:buSzPts val="1800"/>
              <a:buNone/>
              <a:defRPr sz="900"/>
            </a:lvl2pPr>
            <a:lvl3pPr marL="1371600" lvl="2" indent="-228600" algn="l">
              <a:lnSpc>
                <a:spcPct val="90000"/>
              </a:lnSpc>
              <a:spcBef>
                <a:spcPts val="400"/>
              </a:spcBef>
              <a:spcAft>
                <a:spcPts val="0"/>
              </a:spcAft>
              <a:buSzPts val="1400"/>
              <a:buNone/>
              <a:defRPr sz="750"/>
            </a:lvl3pPr>
            <a:lvl4pPr marL="1828800" lvl="3" indent="-228600" algn="l">
              <a:lnSpc>
                <a:spcPct val="90000"/>
              </a:lnSpc>
              <a:spcBef>
                <a:spcPts val="400"/>
              </a:spcBef>
              <a:spcAft>
                <a:spcPts val="0"/>
              </a:spcAft>
              <a:buSzPts val="1400"/>
              <a:buNone/>
              <a:defRPr sz="675"/>
            </a:lvl4pPr>
            <a:lvl5pPr marL="2286000" lvl="4" indent="-228600" algn="l">
              <a:lnSpc>
                <a:spcPct val="90000"/>
              </a:lnSpc>
              <a:spcBef>
                <a:spcPts val="400"/>
              </a:spcBef>
              <a:spcAft>
                <a:spcPts val="0"/>
              </a:spcAft>
              <a:buSzPts val="1400"/>
              <a:buNone/>
              <a:defRPr sz="675"/>
            </a:lvl5pPr>
            <a:lvl6pPr marL="2743200" lvl="5" indent="-228600" algn="l">
              <a:lnSpc>
                <a:spcPct val="90000"/>
              </a:lnSpc>
              <a:spcBef>
                <a:spcPts val="400"/>
              </a:spcBef>
              <a:spcAft>
                <a:spcPts val="0"/>
              </a:spcAft>
              <a:buSzPts val="1400"/>
              <a:buNone/>
              <a:defRPr sz="675"/>
            </a:lvl6pPr>
            <a:lvl7pPr marL="3200400" lvl="6" indent="-228600" algn="l">
              <a:lnSpc>
                <a:spcPct val="90000"/>
              </a:lnSpc>
              <a:spcBef>
                <a:spcPts val="400"/>
              </a:spcBef>
              <a:spcAft>
                <a:spcPts val="0"/>
              </a:spcAft>
              <a:buSzPts val="1400"/>
              <a:buNone/>
              <a:defRPr sz="675"/>
            </a:lvl7pPr>
            <a:lvl8pPr marL="3657600" lvl="7" indent="-228600" algn="l">
              <a:lnSpc>
                <a:spcPct val="90000"/>
              </a:lnSpc>
              <a:spcBef>
                <a:spcPts val="400"/>
              </a:spcBef>
              <a:spcAft>
                <a:spcPts val="0"/>
              </a:spcAft>
              <a:buSzPts val="1400"/>
              <a:buNone/>
              <a:defRPr sz="675"/>
            </a:lvl8pPr>
            <a:lvl9pPr marL="4114800" lvl="8" indent="-228600" algn="l">
              <a:lnSpc>
                <a:spcPct val="90000"/>
              </a:lnSpc>
              <a:spcBef>
                <a:spcPts val="400"/>
              </a:spcBef>
              <a:spcAft>
                <a:spcPts val="400"/>
              </a:spcAft>
              <a:buSzPts val="1400"/>
              <a:buNone/>
              <a:defRPr sz="675"/>
            </a:lvl9pPr>
          </a:lstStyle>
          <a:p>
            <a:endParaRPr/>
          </a:p>
        </p:txBody>
      </p:sp>
      <p:sp>
        <p:nvSpPr>
          <p:cNvPr id="179" name="Google Shape;179;p62"/>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18" Type="http://schemas.openxmlformats.org/officeDocument/2006/relationships/slideLayout" Target="../slideLayouts/slideLayout20.xml"/><Relationship Id="rId3" Type="http://schemas.openxmlformats.org/officeDocument/2006/relationships/slideLayout" Target="../slideLayouts/slideLayout5.xml"/><Relationship Id="rId21" Type="http://schemas.openxmlformats.org/officeDocument/2006/relationships/slideLayout" Target="../slideLayouts/slideLayout23.xml"/><Relationship Id="rId7" Type="http://schemas.openxmlformats.org/officeDocument/2006/relationships/slideLayout" Target="../slideLayouts/slideLayout9.xml"/><Relationship Id="rId12" Type="http://schemas.openxmlformats.org/officeDocument/2006/relationships/slideLayout" Target="../slideLayouts/slideLayout14.xml"/><Relationship Id="rId17" Type="http://schemas.openxmlformats.org/officeDocument/2006/relationships/slideLayout" Target="../slideLayouts/slideLayout19.xml"/><Relationship Id="rId2" Type="http://schemas.openxmlformats.org/officeDocument/2006/relationships/slideLayout" Target="../slideLayouts/slideLayout4.xml"/><Relationship Id="rId16" Type="http://schemas.openxmlformats.org/officeDocument/2006/relationships/slideLayout" Target="../slideLayouts/slideLayout18.xml"/><Relationship Id="rId20" Type="http://schemas.openxmlformats.org/officeDocument/2006/relationships/slideLayout" Target="../slideLayouts/slideLayout2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24" Type="http://schemas.openxmlformats.org/officeDocument/2006/relationships/theme" Target="../theme/theme2.xml"/><Relationship Id="rId5" Type="http://schemas.openxmlformats.org/officeDocument/2006/relationships/slideLayout" Target="../slideLayouts/slideLayout7.xml"/><Relationship Id="rId15" Type="http://schemas.openxmlformats.org/officeDocument/2006/relationships/slideLayout" Target="../slideLayouts/slideLayout17.xml"/><Relationship Id="rId23" Type="http://schemas.openxmlformats.org/officeDocument/2006/relationships/slideLayout" Target="../slideLayouts/slideLayout25.xml"/><Relationship Id="rId10" Type="http://schemas.openxmlformats.org/officeDocument/2006/relationships/slideLayout" Target="../slideLayouts/slideLayout12.xml"/><Relationship Id="rId19" Type="http://schemas.openxmlformats.org/officeDocument/2006/relationships/slideLayout" Target="../slideLayouts/slideLayout21.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 Id="rId22" Type="http://schemas.openxmlformats.org/officeDocument/2006/relationships/slideLayout" Target="../slideLayouts/slideLayout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9"/>
        <p:cNvGrpSpPr/>
        <p:nvPr/>
      </p:nvGrpSpPr>
      <p:grpSpPr>
        <a:xfrm>
          <a:off x="0" y="0"/>
          <a:ext cx="0" cy="0"/>
          <a:chOff x="0" y="0"/>
          <a:chExt cx="0" cy="0"/>
        </a:xfrm>
      </p:grpSpPr>
      <p:sp>
        <p:nvSpPr>
          <p:cNvPr id="10" name="Google Shape;10;p56"/>
          <p:cNvSpPr/>
          <p:nvPr/>
        </p:nvSpPr>
        <p:spPr>
          <a:xfrm>
            <a:off x="0" y="6400800"/>
            <a:ext cx="121920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ES" sz="1000" b="0" i="0" u="none" strike="noStrike" cap="none" dirty="0">
                <a:solidFill>
                  <a:schemeClr val="lt1"/>
                </a:solidFill>
                <a:latin typeface="Arial"/>
                <a:ea typeface="Arial"/>
                <a:cs typeface="Arial"/>
                <a:sym typeface="Arial"/>
              </a:rPr>
              <a:t>Ingeniería de software 2025</a:t>
            </a:r>
            <a:endParaRPr sz="1000" b="0" i="0" u="none" strike="noStrike" cap="none" dirty="0">
              <a:solidFill>
                <a:schemeClr val="lt1"/>
              </a:solidFill>
              <a:latin typeface="Arial"/>
              <a:ea typeface="Arial"/>
              <a:cs typeface="Arial"/>
              <a:sym typeface="Arial"/>
            </a:endParaRPr>
          </a:p>
        </p:txBody>
      </p:sp>
      <p:sp>
        <p:nvSpPr>
          <p:cNvPr id="11" name="Google Shape;11;p56"/>
          <p:cNvSpPr/>
          <p:nvPr/>
        </p:nvSpPr>
        <p:spPr>
          <a:xfrm>
            <a:off x="16" y="6334316"/>
            <a:ext cx="12191985" cy="66484"/>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12" name="Google Shape;12;p5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5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56"/>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cxnSp>
        <p:nvCxnSpPr>
          <p:cNvPr id="15" name="Google Shape;15;p56"/>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
        <p:nvSpPr>
          <p:cNvPr id="16" name="Google Shape;16;p56"/>
          <p:cNvSpPr txBox="1"/>
          <p:nvPr/>
        </p:nvSpPr>
        <p:spPr>
          <a:xfrm>
            <a:off x="6096000" y="6499526"/>
            <a:ext cx="61587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ES" sz="1000" b="0" i="0" u="none" strike="noStrike" cap="none">
                <a:solidFill>
                  <a:schemeClr val="lt1"/>
                </a:solidFill>
                <a:latin typeface="Arial"/>
                <a:ea typeface="Arial"/>
                <a:cs typeface="Arial"/>
                <a:sym typeface="Arial"/>
              </a:rPr>
              <a:t>Fuente:</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BFBFB"/>
        </a:solidFill>
        <a:effectLst/>
      </p:bgPr>
    </p:bg>
    <p:spTree>
      <p:nvGrpSpPr>
        <p:cNvPr id="1" name="Shape 27"/>
        <p:cNvGrpSpPr/>
        <p:nvPr/>
      </p:nvGrpSpPr>
      <p:grpSpPr>
        <a:xfrm>
          <a:off x="0" y="0"/>
          <a:ext cx="0" cy="0"/>
          <a:chOff x="0" y="0"/>
          <a:chExt cx="0" cy="0"/>
        </a:xfrm>
      </p:grpSpPr>
      <p:sp>
        <p:nvSpPr>
          <p:cNvPr id="28" name="Google Shape;28;p55"/>
          <p:cNvSpPr/>
          <p:nvPr/>
        </p:nvSpPr>
        <p:spPr>
          <a:xfrm>
            <a:off x="0" y="6400800"/>
            <a:ext cx="12192000" cy="457200"/>
          </a:xfrm>
          <a:prstGeom prst="rect">
            <a:avLst/>
          </a:prstGeom>
          <a:solidFill>
            <a:schemeClr val="accent2"/>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s-ES" sz="1000" b="0" i="0" u="none" strike="noStrike" cap="none" dirty="0">
                <a:solidFill>
                  <a:schemeClr val="lt1"/>
                </a:solidFill>
                <a:latin typeface="Arial"/>
                <a:ea typeface="Arial"/>
                <a:cs typeface="Arial"/>
                <a:sym typeface="Arial"/>
              </a:rPr>
              <a:t>Ingeniería de software 2025</a:t>
            </a:r>
            <a:endParaRPr sz="1000" b="0" i="0" u="none" strike="noStrike" cap="none" dirty="0">
              <a:solidFill>
                <a:schemeClr val="lt1"/>
              </a:solidFill>
              <a:latin typeface="Arial"/>
              <a:ea typeface="Arial"/>
              <a:cs typeface="Arial"/>
              <a:sym typeface="Arial"/>
            </a:endParaRPr>
          </a:p>
        </p:txBody>
      </p:sp>
      <p:sp>
        <p:nvSpPr>
          <p:cNvPr id="29" name="Google Shape;29;p55"/>
          <p:cNvSpPr/>
          <p:nvPr/>
        </p:nvSpPr>
        <p:spPr>
          <a:xfrm>
            <a:off x="16" y="6334316"/>
            <a:ext cx="12191985" cy="66484"/>
          </a:xfrm>
          <a:prstGeom prst="rect">
            <a:avLst/>
          </a:prstGeom>
          <a:solidFill>
            <a:schemeClr val="accent1"/>
          </a:solidFill>
          <a:ln>
            <a:noFill/>
          </a:ln>
        </p:spPr>
        <p:txBody>
          <a:bodyPr spcFirstLastPara="1" wrap="square" lIns="91050" tIns="91050" rIns="91050" bIns="91050"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394" b="0" i="0" u="none" strike="noStrike" cap="none">
              <a:solidFill>
                <a:srgbClr val="000000"/>
              </a:solidFill>
              <a:latin typeface="Arial"/>
              <a:ea typeface="Arial"/>
              <a:cs typeface="Arial"/>
              <a:sym typeface="Arial"/>
            </a:endParaRPr>
          </a:p>
        </p:txBody>
      </p:sp>
      <p:sp>
        <p:nvSpPr>
          <p:cNvPr id="30" name="Google Shape;30;p55"/>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 name="Google Shape;31;p5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32" name="Google Shape;32;p55"/>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46" b="0" i="0" u="none" strike="noStrike" cap="none">
                <a:solidFill>
                  <a:srgbClr val="C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s-ES"/>
              <a:t>‹Nº›</a:t>
            </a:fld>
            <a:endParaRPr/>
          </a:p>
        </p:txBody>
      </p:sp>
      <p:cxnSp>
        <p:nvCxnSpPr>
          <p:cNvPr id="33" name="Google Shape;33;p55"/>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
        <p:nvSpPr>
          <p:cNvPr id="34" name="Google Shape;34;p55"/>
          <p:cNvSpPr txBox="1"/>
          <p:nvPr/>
        </p:nvSpPr>
        <p:spPr>
          <a:xfrm>
            <a:off x="6096000" y="6499526"/>
            <a:ext cx="61587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es-ES" sz="1000" b="0" i="0" u="none" strike="noStrike" cap="none">
                <a:solidFill>
                  <a:schemeClr val="lt1"/>
                </a:solidFill>
                <a:latin typeface="Arial"/>
                <a:ea typeface="Arial"/>
                <a:cs typeface="Arial"/>
                <a:sym typeface="Arial"/>
              </a:rPr>
              <a:t>Fuente:</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 id="2147483673" r:id="rId22"/>
    <p:sldLayoutId id="2147483674" r:id="rId23"/>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www.agilealliance.org/"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8" Type="http://schemas.openxmlformats.org/officeDocument/2006/relationships/hyperlink" Target="https://acortar.link/ZZd3k2" TargetMode="External"/><Relationship Id="rId3" Type="http://schemas.openxmlformats.org/officeDocument/2006/relationships/image" Target="../media/image7.png"/><Relationship Id="rId7" Type="http://schemas.openxmlformats.org/officeDocument/2006/relationships/hyperlink" Target="http://www.adaptivesd.com/"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hyperlink" Target="http://www.crystalmethodologies.org/" TargetMode="External"/><Relationship Id="rId5" Type="http://schemas.openxmlformats.org/officeDocument/2006/relationships/hyperlink" Target="http://www.dsdm.org/" TargetMode="External"/><Relationship Id="rId4" Type="http://schemas.openxmlformats.org/officeDocument/2006/relationships/hyperlink" Target="http://www.extremeprogramming.org/" TargetMode="External"/><Relationship Id="rId9" Type="http://schemas.openxmlformats.org/officeDocument/2006/relationships/hyperlink" Target="https://proyectosagiles.org/que-es-scru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14.jp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19.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2.xml"/><Relationship Id="rId1" Type="http://schemas.openxmlformats.org/officeDocument/2006/relationships/slideLayout" Target="../slideLayouts/slideLayout3.xml"/><Relationship Id="rId4" Type="http://schemas.openxmlformats.org/officeDocument/2006/relationships/image" Target="../media/image20.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
          <p:cNvSpPr txBox="1">
            <a:spLocks noGrp="1"/>
          </p:cNvSpPr>
          <p:nvPr>
            <p:ph type="title"/>
          </p:nvPr>
        </p:nvSpPr>
        <p:spPr>
          <a:xfrm>
            <a:off x="653976" y="4737544"/>
            <a:ext cx="10780776" cy="61328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SzPts val="4800"/>
              <a:buNone/>
            </a:pPr>
            <a:r>
              <a:rPr lang="es-ES"/>
              <a:t>Ingeniería de Software I </a:t>
            </a:r>
            <a:endParaRPr/>
          </a:p>
        </p:txBody>
      </p:sp>
      <p:sp>
        <p:nvSpPr>
          <p:cNvPr id="189" name="Google Shape;189;p1"/>
          <p:cNvSpPr txBox="1">
            <a:spLocks noGrp="1"/>
          </p:cNvSpPr>
          <p:nvPr>
            <p:ph type="body" idx="1"/>
          </p:nvPr>
        </p:nvSpPr>
        <p:spPr>
          <a:xfrm>
            <a:off x="653976" y="5487888"/>
            <a:ext cx="9229344" cy="533400"/>
          </a:xfrm>
          <a:prstGeom prst="rect">
            <a:avLst/>
          </a:prstGeom>
          <a:noFill/>
          <a:ln>
            <a:noFill/>
          </a:ln>
        </p:spPr>
        <p:txBody>
          <a:bodyPr spcFirstLastPara="1" wrap="square" lIns="0" tIns="45700" rIns="0" bIns="45700" anchor="t" anchorCtr="0">
            <a:normAutofit/>
          </a:bodyPr>
          <a:lstStyle/>
          <a:p>
            <a:pPr marL="0" lvl="0" indent="0" algn="l" rtl="0">
              <a:lnSpc>
                <a:spcPct val="90000"/>
              </a:lnSpc>
              <a:spcBef>
                <a:spcPts val="1200"/>
              </a:spcBef>
              <a:spcAft>
                <a:spcPts val="0"/>
              </a:spcAft>
              <a:buSzPts val="2000"/>
              <a:buNone/>
            </a:pPr>
            <a:r>
              <a:rPr lang="es-ES"/>
              <a:t>Metodologías Ágiles</a:t>
            </a:r>
            <a:endParaRPr/>
          </a:p>
        </p:txBody>
      </p:sp>
      <p:sp>
        <p:nvSpPr>
          <p:cNvPr id="190" name="Google Shape;190;p1"/>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s-ES"/>
              <a:t>1</a:t>
            </a:fld>
            <a:endParaRP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Metodologías Ágiles</a:t>
            </a:r>
            <a:endParaRPr/>
          </a:p>
        </p:txBody>
      </p:sp>
      <p:sp>
        <p:nvSpPr>
          <p:cNvPr id="196" name="Google Shape;196;p2"/>
          <p:cNvSpPr txBox="1">
            <a:spLocks noGrp="1"/>
          </p:cNvSpPr>
          <p:nvPr>
            <p:ph type="body" idx="1"/>
          </p:nvPr>
        </p:nvSpPr>
        <p:spPr>
          <a:xfrm>
            <a:off x="839416" y="1844824"/>
            <a:ext cx="10316264" cy="4023300"/>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400" dirty="0"/>
              <a:t>En los años 80 y principios de los 90, existía una opinión general de que la mejor forma de obtener un mejor software era a través de una planificación cuidadosa del proyecto, la utilización de métodos de análisis y diseño, y procesos de desarrollo de software controlados y rigurosos.</a:t>
            </a:r>
            <a:endParaRPr dirty="0"/>
          </a:p>
          <a:p>
            <a:pPr marL="457200" lvl="0" indent="-342900" algn="just" rtl="0">
              <a:lnSpc>
                <a:spcPct val="90000"/>
              </a:lnSpc>
              <a:spcBef>
                <a:spcPts val="1195"/>
              </a:spcBef>
              <a:spcAft>
                <a:spcPts val="0"/>
              </a:spcAft>
              <a:buSzPts val="1800"/>
              <a:buChar char=" "/>
            </a:pPr>
            <a:r>
              <a:rPr lang="es-ES" sz="2400" dirty="0"/>
              <a:t>En general se realizaban sistemas críticos, desarrollados por grandes equipos, a menudo dispersos geográficamente.</a:t>
            </a:r>
            <a:endParaRPr dirty="0"/>
          </a:p>
          <a:p>
            <a:pPr marL="457200" lvl="0" indent="-342900" algn="just" rtl="0">
              <a:lnSpc>
                <a:spcPct val="90000"/>
              </a:lnSpc>
              <a:spcBef>
                <a:spcPts val="1195"/>
              </a:spcBef>
              <a:spcAft>
                <a:spcPts val="0"/>
              </a:spcAft>
              <a:buSzPts val="1800"/>
              <a:buChar char=" "/>
            </a:pPr>
            <a:r>
              <a:rPr lang="es-ES" sz="2400" dirty="0"/>
              <a:t>Sin embargo, cuando este enfoque fue aplicado a sistemas de negocio pequeños y de tamaño medio, el esfuerzo invertido era grande, y cuando cambiaban los requerimientos, se hacía esencial rehacer el trabajo. </a:t>
            </a:r>
            <a:endParaRPr dirty="0"/>
          </a:p>
          <a:p>
            <a:pPr marL="457200" lvl="0" indent="-342900" algn="just" rtl="0">
              <a:lnSpc>
                <a:spcPct val="90000"/>
              </a:lnSpc>
              <a:spcBef>
                <a:spcPts val="1195"/>
              </a:spcBef>
              <a:spcAft>
                <a:spcPts val="0"/>
              </a:spcAft>
              <a:buSzPts val="1800"/>
              <a:buChar char=" "/>
            </a:pPr>
            <a:r>
              <a:rPr lang="es-ES" sz="2400" dirty="0"/>
              <a:t>Del descontento nacieron las metodologías ágiles.</a:t>
            </a:r>
            <a:endParaRPr dirty="0"/>
          </a:p>
        </p:txBody>
      </p:sp>
      <p:sp>
        <p:nvSpPr>
          <p:cNvPr id="197" name="Google Shape;197;p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3"/>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Metodologías Ágiles</a:t>
            </a:r>
            <a:br>
              <a:rPr lang="es-ES"/>
            </a:br>
            <a:r>
              <a:rPr lang="es-ES"/>
              <a:t>Introducción</a:t>
            </a:r>
            <a:endParaRPr/>
          </a:p>
        </p:txBody>
      </p:sp>
      <p:sp>
        <p:nvSpPr>
          <p:cNvPr id="204" name="Google Shape;204;p3"/>
          <p:cNvSpPr txBox="1">
            <a:spLocks noGrp="1"/>
          </p:cNvSpPr>
          <p:nvPr>
            <p:ph type="body" idx="1"/>
          </p:nvPr>
        </p:nvSpPr>
        <p:spPr>
          <a:xfrm>
            <a:off x="767408" y="1988840"/>
            <a:ext cx="10388272" cy="4023300"/>
          </a:xfrm>
          <a:prstGeom prst="rect">
            <a:avLst/>
          </a:prstGeom>
          <a:noFill/>
          <a:ln>
            <a:noFill/>
          </a:ln>
        </p:spPr>
        <p:txBody>
          <a:bodyPr spcFirstLastPara="1" wrap="square" lIns="0" tIns="45700" rIns="0" bIns="45700" anchor="t" anchorCtr="0">
            <a:normAutofit lnSpcReduction="10000"/>
          </a:bodyPr>
          <a:lstStyle/>
          <a:p>
            <a:pPr marL="457200" lvl="0" indent="-342900" algn="just" rtl="0">
              <a:lnSpc>
                <a:spcPct val="90000"/>
              </a:lnSpc>
              <a:spcBef>
                <a:spcPts val="1195"/>
              </a:spcBef>
              <a:spcAft>
                <a:spcPts val="0"/>
              </a:spcAft>
              <a:buSzPts val="1800"/>
              <a:buChar char=" "/>
            </a:pPr>
            <a:r>
              <a:rPr lang="es-ES" sz="2400" dirty="0"/>
              <a:t>El éxito de un desarrollo esta dado por la metodología empleada la cual nos da una dirección a seguir para su correcta conclusión.</a:t>
            </a:r>
            <a:endParaRPr dirty="0"/>
          </a:p>
          <a:p>
            <a:pPr marL="457200" lvl="0" indent="-342900" algn="just" rtl="0">
              <a:lnSpc>
                <a:spcPct val="90000"/>
              </a:lnSpc>
              <a:spcBef>
                <a:spcPts val="1195"/>
              </a:spcBef>
              <a:spcAft>
                <a:spcPts val="0"/>
              </a:spcAft>
              <a:buSzPts val="1800"/>
              <a:buChar char=" "/>
            </a:pPr>
            <a:r>
              <a:rPr lang="es-ES" sz="2400" dirty="0"/>
              <a:t>Generalmente esta metodología lleva asociado un marcado énfasis en el control del proceso, definiendo roles, actividades, herramientas y documentación detallada.</a:t>
            </a:r>
            <a:endParaRPr dirty="0"/>
          </a:p>
          <a:p>
            <a:pPr marL="457200" lvl="0" indent="-342900" algn="just" rtl="0">
              <a:lnSpc>
                <a:spcPct val="90000"/>
              </a:lnSpc>
              <a:spcBef>
                <a:spcPts val="1195"/>
              </a:spcBef>
              <a:spcAft>
                <a:spcPts val="0"/>
              </a:spcAft>
              <a:buSzPts val="1800"/>
              <a:buChar char=" "/>
            </a:pPr>
            <a:r>
              <a:rPr lang="es-ES" sz="2400" dirty="0"/>
              <a:t>Este enfoque no resulta ser muy adecuado para proyectos actuales donde el entorno del sistema es muy cambiante y se exige una reducción de tiempo.</a:t>
            </a:r>
            <a:endParaRPr dirty="0"/>
          </a:p>
          <a:p>
            <a:pPr marL="457200" lvl="0" indent="-342900" algn="just" rtl="0">
              <a:lnSpc>
                <a:spcPct val="90000"/>
              </a:lnSpc>
              <a:spcBef>
                <a:spcPts val="1195"/>
              </a:spcBef>
              <a:spcAft>
                <a:spcPts val="0"/>
              </a:spcAft>
              <a:buSzPts val="1800"/>
              <a:buChar char=" "/>
            </a:pPr>
            <a:r>
              <a:rPr lang="es-ES" sz="2400" dirty="0"/>
              <a:t>Ante estas dificultades, muchos equipos se resignan a prescindir de las buenas prácticas, asumiendo los riesgos.</a:t>
            </a:r>
            <a:endParaRPr dirty="0"/>
          </a:p>
          <a:p>
            <a:pPr marL="457200" lvl="0" indent="-342900" algn="just" rtl="0">
              <a:lnSpc>
                <a:spcPct val="90000"/>
              </a:lnSpc>
              <a:spcBef>
                <a:spcPts val="1195"/>
              </a:spcBef>
              <a:spcAft>
                <a:spcPts val="0"/>
              </a:spcAft>
              <a:buSzPts val="1800"/>
              <a:buChar char=" "/>
            </a:pPr>
            <a:r>
              <a:rPr lang="es-ES" sz="2400" dirty="0"/>
              <a:t>En este contexto, las metodologías ágiles emergen como una posible solución.</a:t>
            </a:r>
            <a:endParaRPr dirty="0"/>
          </a:p>
          <a:p>
            <a:pPr marL="457200" lvl="0" indent="-228600" algn="just" rtl="0">
              <a:lnSpc>
                <a:spcPct val="90000"/>
              </a:lnSpc>
              <a:spcBef>
                <a:spcPts val="1195"/>
              </a:spcBef>
              <a:spcAft>
                <a:spcPts val="0"/>
              </a:spcAft>
              <a:buSzPts val="1800"/>
              <a:buNone/>
            </a:pPr>
            <a:endParaRPr sz="2400" dirty="0"/>
          </a:p>
        </p:txBody>
      </p:sp>
      <p:sp>
        <p:nvSpPr>
          <p:cNvPr id="205" name="Google Shape;205;p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pic>
        <p:nvPicPr>
          <p:cNvPr id="218" name="Google Shape;218;p4" descr="http://upload.wikimedia.org/wikipedia/commons/thumb/8/89/Agile_Software_Development_methodology.svg/512px-Agile_Software_Development_methodology.svg.png?uselang=es"/>
          <p:cNvPicPr preferRelativeResize="0"/>
          <p:nvPr/>
        </p:nvPicPr>
        <p:blipFill rotWithShape="1">
          <a:blip r:embed="rId3">
            <a:alphaModFix/>
          </a:blip>
          <a:srcRect/>
          <a:stretch/>
        </p:blipFill>
        <p:spPr>
          <a:xfrm>
            <a:off x="10250046" y="33113"/>
            <a:ext cx="1924625" cy="2421329"/>
          </a:xfrm>
          <a:prstGeom prst="rect">
            <a:avLst/>
          </a:prstGeom>
          <a:noFill/>
          <a:ln>
            <a:noFill/>
          </a:ln>
        </p:spPr>
      </p:pic>
      <p:sp>
        <p:nvSpPr>
          <p:cNvPr id="213" name="Google Shape;213;p4"/>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Metodologías Ágiles</a:t>
            </a:r>
            <a:br>
              <a:rPr lang="es-ES"/>
            </a:br>
            <a:r>
              <a:rPr lang="es-ES"/>
              <a:t>Introducción</a:t>
            </a:r>
            <a:endParaRPr/>
          </a:p>
        </p:txBody>
      </p:sp>
      <p:sp>
        <p:nvSpPr>
          <p:cNvPr id="214" name="Google Shape;214;p4"/>
          <p:cNvSpPr txBox="1">
            <a:spLocks noGrp="1"/>
          </p:cNvSpPr>
          <p:nvPr>
            <p:ph type="body" idx="1"/>
          </p:nvPr>
        </p:nvSpPr>
        <p:spPr>
          <a:xfrm>
            <a:off x="920096" y="1819390"/>
            <a:ext cx="10235584" cy="4212442"/>
          </a:xfrm>
          <a:prstGeom prst="rect">
            <a:avLst/>
          </a:prstGeom>
          <a:noFill/>
          <a:ln>
            <a:noFill/>
          </a:ln>
        </p:spPr>
        <p:txBody>
          <a:bodyPr spcFirstLastPara="1" wrap="square" lIns="0" tIns="45700" rIns="0" bIns="45700" anchor="t" anchorCtr="0">
            <a:normAutofit lnSpcReduction="10000"/>
          </a:bodyPr>
          <a:lstStyle/>
          <a:p>
            <a:pPr marL="457200" lvl="0" indent="-342899" algn="just" rtl="0">
              <a:lnSpc>
                <a:spcPct val="90000"/>
              </a:lnSpc>
              <a:spcBef>
                <a:spcPts val="1195"/>
              </a:spcBef>
              <a:spcAft>
                <a:spcPts val="0"/>
              </a:spcAft>
              <a:buSzPct val="81081"/>
              <a:buChar char=" "/>
            </a:pPr>
            <a:r>
              <a:rPr lang="es-ES" sz="2400" dirty="0"/>
              <a:t>“Es un enfoque iterativo e incremental (evolutivo) de desarrollo de software” </a:t>
            </a:r>
            <a:endParaRPr dirty="0"/>
          </a:p>
          <a:p>
            <a:pPr marL="457200" lvl="0" indent="-228600" algn="just" rtl="0">
              <a:lnSpc>
                <a:spcPct val="90000"/>
              </a:lnSpc>
              <a:spcBef>
                <a:spcPts val="1195"/>
              </a:spcBef>
              <a:spcAft>
                <a:spcPts val="0"/>
              </a:spcAft>
              <a:buSzPct val="81081"/>
              <a:buNone/>
            </a:pPr>
            <a:endParaRPr sz="2400" dirty="0"/>
          </a:p>
          <a:p>
            <a:pPr marL="457200" lvl="0" indent="-342899" algn="just" rtl="0">
              <a:lnSpc>
                <a:spcPct val="90000"/>
              </a:lnSpc>
              <a:spcBef>
                <a:spcPts val="1195"/>
              </a:spcBef>
              <a:spcAft>
                <a:spcPts val="0"/>
              </a:spcAft>
              <a:buSzPct val="81081"/>
              <a:buChar char=" "/>
            </a:pPr>
            <a:r>
              <a:rPr lang="es-ES" sz="2400" dirty="0"/>
              <a:t>Objetivos : </a:t>
            </a:r>
            <a:endParaRPr dirty="0"/>
          </a:p>
          <a:p>
            <a:pPr marL="914400" lvl="1" indent="-342900" algn="just" rtl="0">
              <a:lnSpc>
                <a:spcPct val="90000"/>
              </a:lnSpc>
              <a:spcBef>
                <a:spcPts val="199"/>
              </a:spcBef>
              <a:spcAft>
                <a:spcPts val="0"/>
              </a:spcAft>
              <a:buSzPct val="81081"/>
              <a:buChar char="◦"/>
            </a:pPr>
            <a:r>
              <a:rPr lang="es-ES" sz="2400" dirty="0"/>
              <a:t>Producir software de alta calidad con un costo efectivo  y en el tiempo apropiado.</a:t>
            </a:r>
            <a:endParaRPr dirty="0"/>
          </a:p>
          <a:p>
            <a:pPr marL="914400" lvl="1" indent="-342900" algn="just" rtl="0">
              <a:lnSpc>
                <a:spcPct val="90000"/>
              </a:lnSpc>
              <a:spcBef>
                <a:spcPts val="199"/>
              </a:spcBef>
              <a:spcAft>
                <a:spcPts val="0"/>
              </a:spcAft>
              <a:buSzPct val="81081"/>
              <a:buChar char="◦"/>
            </a:pPr>
            <a:r>
              <a:rPr lang="es-ES" sz="2400" dirty="0"/>
              <a:t>Esbozar los valores y principios que deberían permitir a los equipos desarrollar software rápidamente y respondiendo a los cambios que puedan surgir a lo largo del proyecto.</a:t>
            </a:r>
            <a:endParaRPr dirty="0"/>
          </a:p>
          <a:p>
            <a:pPr marL="914400" lvl="1" indent="-342900" algn="just" rtl="0">
              <a:lnSpc>
                <a:spcPct val="90000"/>
              </a:lnSpc>
              <a:spcBef>
                <a:spcPts val="199"/>
              </a:spcBef>
              <a:spcAft>
                <a:spcPts val="0"/>
              </a:spcAft>
              <a:buSzPct val="81081"/>
              <a:buChar char="◦"/>
            </a:pPr>
            <a:r>
              <a:rPr lang="es-ES" sz="2400" dirty="0"/>
              <a:t>Ofrecer una alternativa a los procesos de desarrollo de software tradicionales, caracterizados por ser rígidos y dirigidos por la documentación que se genera en cada una de las actividades desarrolladas.</a:t>
            </a:r>
            <a:endParaRPr dirty="0"/>
          </a:p>
        </p:txBody>
      </p:sp>
      <p:sp>
        <p:nvSpPr>
          <p:cNvPr id="215" name="Google Shape;215;p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4</a:t>
            </a:fld>
            <a:endParaRPr/>
          </a:p>
        </p:txBody>
      </p:sp>
      <p:sp>
        <p:nvSpPr>
          <p:cNvPr id="216" name="Google Shape;216;p4"/>
          <p:cNvSpPr/>
          <p:nvPr/>
        </p:nvSpPr>
        <p:spPr>
          <a:xfrm>
            <a:off x="6903902" y="2240005"/>
            <a:ext cx="3282835" cy="2043237"/>
          </a:xfrm>
          <a:prstGeom prst="wedgeRoundRectCallout">
            <a:avLst>
              <a:gd name="adj1" fmla="val -102413"/>
              <a:gd name="adj2" fmla="val -46053"/>
              <a:gd name="adj3" fmla="val 16667"/>
            </a:avLst>
          </a:prstGeom>
          <a:solidFill>
            <a:schemeClr val="lt1"/>
          </a:solidFill>
          <a:ln w="254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s-ES" sz="1800" i="1" dirty="0">
                <a:solidFill>
                  <a:schemeClr val="dk1"/>
                </a:solidFill>
                <a:latin typeface="Calibri" panose="020F0502020204030204" pitchFamily="34" charset="0"/>
                <a:cs typeface="Calibri" panose="020F0502020204030204" pitchFamily="34" charset="0"/>
              </a:rPr>
              <a:t>E</a:t>
            </a:r>
            <a:r>
              <a:rPr lang="es-ES" sz="1800" b="0" i="1" u="none" strike="noStrike" cap="none" dirty="0">
                <a:solidFill>
                  <a:schemeClr val="dk1"/>
                </a:solidFill>
                <a:latin typeface="Calibri" panose="020F0502020204030204" pitchFamily="34" charset="0"/>
                <a:cs typeface="Calibri" panose="020F0502020204030204" pitchFamily="34" charset="0"/>
                <a:sym typeface="Arial"/>
              </a:rPr>
              <a:t>s una estrategia programada y en etapas, en la que las diferentes partes del sistema se desarrollan en diferentes momentos o a diferentes velocidades, y se integran a medida que se completan</a:t>
            </a:r>
            <a:endParaRPr sz="1800" b="0" i="1" u="none" strike="noStrike" cap="none" dirty="0">
              <a:solidFill>
                <a:schemeClr val="dk1"/>
              </a:solidFill>
              <a:latin typeface="Calibri" panose="020F0502020204030204" pitchFamily="34" charset="0"/>
              <a:cs typeface="Calibri" panose="020F0502020204030204" pitchFamily="34" charset="0"/>
              <a:sym typeface="Arial"/>
            </a:endParaRPr>
          </a:p>
        </p:txBody>
      </p:sp>
      <p:sp>
        <p:nvSpPr>
          <p:cNvPr id="217" name="Google Shape;217;p4"/>
          <p:cNvSpPr/>
          <p:nvPr/>
        </p:nvSpPr>
        <p:spPr>
          <a:xfrm>
            <a:off x="4362289" y="3620605"/>
            <a:ext cx="3097290" cy="1753230"/>
          </a:xfrm>
          <a:prstGeom prst="wedgeRoundRectCallout">
            <a:avLst>
              <a:gd name="adj1" fmla="val -82442"/>
              <a:gd name="adj2" fmla="val -129553"/>
              <a:gd name="adj3" fmla="val 16667"/>
            </a:avLst>
          </a:prstGeom>
          <a:solidFill>
            <a:schemeClr val="lt1"/>
          </a:solidFill>
          <a:ln w="25400" cap="flat" cmpd="sng">
            <a:solidFill>
              <a:srgbClr val="3D7329"/>
            </a:solidFill>
            <a:prstDash val="solid"/>
            <a:round/>
            <a:headEnd type="none" w="sm" len="sm"/>
            <a:tailEnd type="none" w="sm" len="sm"/>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rgbClr val="000000"/>
              </a:buClr>
              <a:buSzPts val="1600"/>
              <a:buFont typeface="Arial"/>
              <a:buNone/>
            </a:pPr>
            <a:r>
              <a:rPr lang="es-ES" sz="1800" b="0" i="1" u="none" strike="noStrike" cap="none" dirty="0">
                <a:solidFill>
                  <a:schemeClr val="dk1"/>
                </a:solidFill>
                <a:latin typeface="Calibri" panose="020F0502020204030204" pitchFamily="34" charset="0"/>
                <a:cs typeface="Calibri" panose="020F0502020204030204" pitchFamily="34" charset="0"/>
                <a:sym typeface="Arial"/>
              </a:rPr>
              <a:t>El desarrollo iterativo es una estrategia de reproceso en la que el tiempo se separa para revisar y mejorar partes del sistema.</a:t>
            </a:r>
            <a:endParaRPr sz="1600" b="0" i="0" u="none" strike="noStrike" cap="none" dirty="0">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7"/>
                                        </p:tgtEl>
                                        <p:attrNameLst>
                                          <p:attrName>style.visibility</p:attrName>
                                        </p:attrNameLst>
                                      </p:cBhvr>
                                      <p:to>
                                        <p:strVal val="visible"/>
                                      </p:to>
                                    </p:set>
                                    <p:animEffect transition="in" filter="fade">
                                      <p:cBhvr>
                                        <p:cTn id="7" dur="500"/>
                                        <p:tgtEl>
                                          <p:spTgt spid="2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grpId="1" nodeType="clickEffect">
                                  <p:stCondLst>
                                    <p:cond delay="0"/>
                                  </p:stCondLst>
                                  <p:childTnLst>
                                    <p:animEffect transition="out" filter="fade">
                                      <p:cBhvr>
                                        <p:cTn id="11" dur="500"/>
                                        <p:tgtEl>
                                          <p:spTgt spid="217"/>
                                        </p:tgtEl>
                                      </p:cBhvr>
                                    </p:animEffect>
                                    <p:set>
                                      <p:cBhvr>
                                        <p:cTn id="12" dur="1" fill="hold">
                                          <p:stCondLst>
                                            <p:cond delay="499"/>
                                          </p:stCondLst>
                                        </p:cTn>
                                        <p:tgtEl>
                                          <p:spTgt spid="217"/>
                                        </p:tgtEl>
                                        <p:attrNameLst>
                                          <p:attrName>style.visibility</p:attrName>
                                        </p:attrNameLst>
                                      </p:cBhvr>
                                      <p:to>
                                        <p:strVal val="hidden"/>
                                      </p:to>
                                    </p:set>
                                  </p:childTnLst>
                                </p:cTn>
                              </p:par>
                              <p:par>
                                <p:cTn id="13" presetID="10" presetClass="entr" presetSubtype="0" fill="hold" grpId="0" nodeType="withEffect">
                                  <p:stCondLst>
                                    <p:cond delay="0"/>
                                  </p:stCondLst>
                                  <p:childTnLst>
                                    <p:set>
                                      <p:cBhvr>
                                        <p:cTn id="14" dur="1" fill="hold">
                                          <p:stCondLst>
                                            <p:cond delay="0"/>
                                          </p:stCondLst>
                                        </p:cTn>
                                        <p:tgtEl>
                                          <p:spTgt spid="216"/>
                                        </p:tgtEl>
                                        <p:attrNameLst>
                                          <p:attrName>style.visibility</p:attrName>
                                        </p:attrNameLst>
                                      </p:cBhvr>
                                      <p:to>
                                        <p:strVal val="visible"/>
                                      </p:to>
                                    </p:set>
                                    <p:animEffect transition="in" filter="fade">
                                      <p:cBhvr>
                                        <p:cTn id="15"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217" grpId="0" animBg="1"/>
      <p:bldP spid="21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5"/>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Reseña...</a:t>
            </a:r>
            <a:endParaRPr/>
          </a:p>
        </p:txBody>
      </p:sp>
      <p:sp>
        <p:nvSpPr>
          <p:cNvPr id="224" name="Google Shape;224;p5"/>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5</a:t>
            </a:fld>
            <a:endParaRPr/>
          </a:p>
        </p:txBody>
      </p:sp>
      <p:sp>
        <p:nvSpPr>
          <p:cNvPr id="225" name="Google Shape;225;p5"/>
          <p:cNvSpPr txBox="1"/>
          <p:nvPr/>
        </p:nvSpPr>
        <p:spPr>
          <a:xfrm>
            <a:off x="905160" y="2325985"/>
            <a:ext cx="10250520" cy="2431394"/>
          </a:xfrm>
          <a:prstGeom prst="rect">
            <a:avLst/>
          </a:prstGeom>
          <a:noFill/>
          <a:ln>
            <a:noFill/>
          </a:ln>
        </p:spPr>
        <p:txBody>
          <a:bodyPr spcFirstLastPara="1" wrap="square" lIns="91425" tIns="45700" rIns="91425" bIns="45700" anchor="t" anchorCtr="0">
            <a:spAutoFit/>
          </a:bodyPr>
          <a:lstStyle/>
          <a:p>
            <a:pPr marL="457200" marR="0" lvl="0" indent="-342900" algn="just" rtl="0">
              <a:lnSpc>
                <a:spcPct val="90000"/>
              </a:lnSpc>
              <a:spcBef>
                <a:spcPts val="0"/>
              </a:spcBef>
              <a:spcAft>
                <a:spcPts val="0"/>
              </a:spcAft>
              <a:buClr>
                <a:schemeClr val="accent1"/>
              </a:buClr>
              <a:buSzPts val="1800"/>
              <a:buFont typeface="Calibri"/>
              <a:buChar char=" "/>
            </a:pPr>
            <a:r>
              <a:rPr lang="es-ES" sz="2400" b="0" i="0" u="none" strike="noStrike" cap="none">
                <a:solidFill>
                  <a:srgbClr val="3F3F3F"/>
                </a:solidFill>
                <a:latin typeface="Calibri"/>
                <a:ea typeface="Calibri"/>
                <a:cs typeface="Calibri"/>
                <a:sym typeface="Calibri"/>
              </a:rPr>
              <a:t>Una Metodología Ágil es aquella en la que “se da prioridad a las tareas que dan resultados directos y que reducen la burocracia tanto como sea posible” [Fowler], adaptándose además rápidamente  al cambio de los proyectos. </a:t>
            </a:r>
            <a:endParaRPr sz="2400" b="0" i="0" u="none" strike="noStrike" cap="none">
              <a:solidFill>
                <a:srgbClr val="3F3F3F"/>
              </a:solidFill>
              <a:latin typeface="Calibri"/>
              <a:ea typeface="Calibri"/>
              <a:cs typeface="Calibri"/>
              <a:sym typeface="Calibri"/>
            </a:endParaRPr>
          </a:p>
          <a:p>
            <a:pPr marL="457200" marR="0" lvl="0" indent="-342900" algn="just" rtl="0">
              <a:lnSpc>
                <a:spcPct val="90000"/>
              </a:lnSpc>
              <a:spcBef>
                <a:spcPts val="1195"/>
              </a:spcBef>
              <a:spcAft>
                <a:spcPts val="0"/>
              </a:spcAft>
              <a:buClr>
                <a:schemeClr val="accent1"/>
              </a:buClr>
              <a:buSzPts val="1800"/>
              <a:buFont typeface="Calibri"/>
              <a:buChar char=" "/>
            </a:pPr>
            <a:r>
              <a:rPr lang="es-ES" sz="2400" b="0" i="0" u="none" strike="noStrike" cap="none">
                <a:solidFill>
                  <a:srgbClr val="3F3F3F"/>
                </a:solidFill>
                <a:latin typeface="Calibri"/>
                <a:ea typeface="Calibri"/>
                <a:cs typeface="Calibri"/>
                <a:sym typeface="Calibri"/>
              </a:rPr>
              <a:t>Ese enfoque ha sido utilizado desde hace más de dos décadas por un grupo de profesionales de software.</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1200"/>
              </a:spcBef>
              <a:spcAft>
                <a:spcPts val="0"/>
              </a:spcAft>
              <a:buClr>
                <a:srgbClr val="000000"/>
              </a:buClr>
              <a:buSzPts val="2400"/>
              <a:buFont typeface="Arial"/>
              <a:buNone/>
            </a:pPr>
            <a:endParaRPr sz="2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6"/>
          <p:cNvSpPr txBox="1">
            <a:spLocks noGrp="1"/>
          </p:cNvSpPr>
          <p:nvPr>
            <p:ph type="title"/>
          </p:nvPr>
        </p:nvSpPr>
        <p:spPr>
          <a:xfrm>
            <a:off x="1097280" y="286605"/>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4800"/>
              <a:buNone/>
            </a:pPr>
            <a:r>
              <a:rPr lang="es-ES"/>
              <a:t>Un Poco De Historia...</a:t>
            </a:r>
            <a:endParaRPr/>
          </a:p>
        </p:txBody>
      </p:sp>
      <p:sp>
        <p:nvSpPr>
          <p:cNvPr id="232" name="Google Shape;232;p6"/>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s-ES"/>
              <a:t>6</a:t>
            </a:fld>
            <a:endParaRPr/>
          </a:p>
        </p:txBody>
      </p:sp>
      <p:sp>
        <p:nvSpPr>
          <p:cNvPr id="233" name="Google Shape;233;p6"/>
          <p:cNvSpPr txBox="1"/>
          <p:nvPr/>
        </p:nvSpPr>
        <p:spPr>
          <a:xfrm>
            <a:off x="1013339" y="1737405"/>
            <a:ext cx="10142342" cy="461664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3F3F3F"/>
                </a:solidFill>
                <a:latin typeface="Calibri"/>
                <a:ea typeface="Calibri"/>
                <a:cs typeface="Calibri"/>
                <a:sym typeface="Calibri"/>
              </a:rPr>
              <a:t>Así es como nace “</a:t>
            </a:r>
            <a:r>
              <a:rPr lang="es-ES" sz="2400" b="0" i="0" u="none" strike="noStrike" cap="none" dirty="0" err="1">
                <a:solidFill>
                  <a:srgbClr val="3F3F3F"/>
                </a:solidFill>
                <a:latin typeface="Calibri"/>
                <a:ea typeface="Calibri"/>
                <a:cs typeface="Calibri"/>
                <a:sym typeface="Calibri"/>
              </a:rPr>
              <a:t>The</a:t>
            </a:r>
            <a:r>
              <a:rPr lang="es-ES" sz="2400" b="0" i="0" u="none" strike="noStrike" cap="none" dirty="0">
                <a:solidFill>
                  <a:srgbClr val="3F3F3F"/>
                </a:solidFill>
                <a:latin typeface="Calibri"/>
                <a:ea typeface="Calibri"/>
                <a:cs typeface="Calibri"/>
                <a:sym typeface="Calibri"/>
              </a:rPr>
              <a:t> Agile Alliance”(AA),  [</a:t>
            </a:r>
            <a:r>
              <a:rPr lang="es-ES" sz="2400" b="0" i="0" u="none" strike="noStrike" cap="none" dirty="0" err="1">
                <a:solidFill>
                  <a:srgbClr val="3F3F3F"/>
                </a:solidFill>
                <a:latin typeface="Calibri"/>
                <a:ea typeface="Calibri"/>
                <a:cs typeface="Calibri"/>
                <a:sym typeface="Calibri"/>
              </a:rPr>
              <a:t>AAlliance</a:t>
            </a:r>
            <a:r>
              <a:rPr lang="es-ES" sz="2400" b="0" i="0" u="none" strike="noStrike" cap="none" dirty="0">
                <a:solidFill>
                  <a:srgbClr val="3F3F3F"/>
                </a:solidFill>
                <a:latin typeface="Calibri"/>
                <a:ea typeface="Calibri"/>
                <a:cs typeface="Calibri"/>
                <a:sym typeface="Calibri"/>
              </a:rPr>
              <a:t>-www], una organización dedicada a promover los conceptos de desarrollo de software ágil, y de ayudar a las organizaciones a adoptar dichos conceptos. Estos conceptos están resumidos en el Manifiesto para el Desarrollo Ágil de Software y consta de valores y principios. </a:t>
            </a:r>
            <a:r>
              <a:rPr lang="es-ES" sz="2400" b="0" i="0" u="sng" strike="noStrike" cap="none" dirty="0">
                <a:solidFill>
                  <a:srgbClr val="3F3F3F"/>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https://www.agilealliance.org/</a:t>
            </a:r>
            <a:endParaRPr sz="2400" b="0" i="0" u="none" strike="noStrike" cap="none" dirty="0">
              <a:solidFill>
                <a:srgbClr val="3F3F3F"/>
              </a:solidFill>
              <a:latin typeface="Calibri"/>
              <a:ea typeface="Calibri"/>
              <a:cs typeface="Calibri"/>
              <a:sym typeface="Calibri"/>
            </a:endParaRPr>
          </a:p>
          <a:p>
            <a:pPr marL="0" marR="0" lvl="0" indent="0" algn="just" rtl="0">
              <a:lnSpc>
                <a:spcPct val="100000"/>
              </a:lnSpc>
              <a:spcBef>
                <a:spcPts val="1200"/>
              </a:spcBef>
              <a:spcAft>
                <a:spcPts val="0"/>
              </a:spcAft>
              <a:buClr>
                <a:srgbClr val="000000"/>
              </a:buClr>
              <a:buSzPts val="2400"/>
              <a:buFont typeface="Arial"/>
              <a:buNone/>
            </a:pPr>
            <a:r>
              <a:rPr lang="es-ES" sz="2400" b="0" i="0" u="none" strike="noStrike" cap="none" dirty="0">
                <a:solidFill>
                  <a:srgbClr val="3F3F3F"/>
                </a:solidFill>
                <a:latin typeface="Calibri"/>
                <a:ea typeface="Calibri"/>
                <a:cs typeface="Calibri"/>
                <a:sym typeface="Calibri"/>
              </a:rPr>
              <a:t>El Manifiesto [</a:t>
            </a:r>
            <a:r>
              <a:rPr lang="es-ES" sz="2400" b="0" i="0" u="none" strike="noStrike" cap="none" dirty="0" err="1">
                <a:solidFill>
                  <a:srgbClr val="3F3F3F"/>
                </a:solidFill>
                <a:latin typeface="Calibri"/>
                <a:ea typeface="Calibri"/>
                <a:cs typeface="Calibri"/>
                <a:sym typeface="Calibri"/>
              </a:rPr>
              <a:t>AManifesto</a:t>
            </a:r>
            <a:r>
              <a:rPr lang="es-ES" sz="2400" b="0" i="0" u="none" strike="noStrike" cap="none" dirty="0">
                <a:solidFill>
                  <a:srgbClr val="3F3F3F"/>
                </a:solidFill>
                <a:latin typeface="Calibri"/>
                <a:ea typeface="Calibri"/>
                <a:cs typeface="Calibri"/>
                <a:sym typeface="Calibri"/>
              </a:rPr>
              <a:t>-www] fue redactado, entre otros, por Kent Beck, el “padre” de XP.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1200"/>
              </a:spcBef>
              <a:spcAft>
                <a:spcPts val="0"/>
              </a:spcAft>
              <a:buClr>
                <a:srgbClr val="000000"/>
              </a:buClr>
              <a:buSzPts val="2400"/>
              <a:buFont typeface="Arial"/>
              <a:buNone/>
            </a:pPr>
            <a:r>
              <a:rPr lang="es-ES" sz="2400" b="0" i="0" u="none" strike="noStrike" cap="none" dirty="0">
                <a:solidFill>
                  <a:srgbClr val="3F3F3F"/>
                </a:solidFill>
                <a:latin typeface="Calibri"/>
                <a:ea typeface="Calibri"/>
                <a:cs typeface="Calibri"/>
                <a:sym typeface="Calibri"/>
              </a:rPr>
              <a:t>La definición moderna de desarrollo ágil de software evolucionó a mediados de los años 1990 y en el año 2001, miembros prominentes de la comunidad se reunieron en </a:t>
            </a:r>
            <a:r>
              <a:rPr lang="es-ES" sz="2400" b="0" i="0" u="none" strike="noStrike" cap="none" dirty="0" err="1">
                <a:solidFill>
                  <a:srgbClr val="3F3F3F"/>
                </a:solidFill>
                <a:latin typeface="Calibri"/>
                <a:ea typeface="Calibri"/>
                <a:cs typeface="Calibri"/>
                <a:sym typeface="Calibri"/>
              </a:rPr>
              <a:t>Snowbird</a:t>
            </a:r>
            <a:r>
              <a:rPr lang="es-ES" sz="2400" b="0" i="0" u="none" strike="noStrike" cap="none" dirty="0">
                <a:solidFill>
                  <a:srgbClr val="3F3F3F"/>
                </a:solidFill>
                <a:latin typeface="Calibri"/>
                <a:ea typeface="Calibri"/>
                <a:cs typeface="Calibri"/>
                <a:sym typeface="Calibri"/>
              </a:rPr>
              <a:t>, Utah”</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1000"/>
              </a:spcBef>
              <a:spcAft>
                <a:spcPts val="0"/>
              </a:spcAft>
              <a:buClr>
                <a:srgbClr val="000000"/>
              </a:buClr>
              <a:buSzPts val="2000"/>
              <a:buFont typeface="Arial"/>
              <a:buNone/>
            </a:pP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7"/>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Valores...</a:t>
            </a:r>
            <a:endParaRPr/>
          </a:p>
        </p:txBody>
      </p:sp>
      <p:sp>
        <p:nvSpPr>
          <p:cNvPr id="239" name="Google Shape;239;p7"/>
          <p:cNvSpPr txBox="1">
            <a:spLocks noGrp="1"/>
          </p:cNvSpPr>
          <p:nvPr>
            <p:ph type="body" idx="1"/>
          </p:nvPr>
        </p:nvSpPr>
        <p:spPr>
          <a:xfrm>
            <a:off x="520388" y="1936909"/>
            <a:ext cx="4228075" cy="3344222"/>
          </a:xfrm>
          <a:prstGeom prst="rect">
            <a:avLst/>
          </a:prstGeom>
          <a:noFill/>
          <a:ln>
            <a:noFill/>
          </a:ln>
        </p:spPr>
        <p:txBody>
          <a:bodyPr spcFirstLastPara="1" wrap="square" lIns="0" tIns="45700" rIns="0" bIns="45700" anchor="t" anchorCtr="0">
            <a:normAutofit/>
          </a:bodyPr>
          <a:lstStyle/>
          <a:p>
            <a:pPr marL="457200" lvl="0" indent="-342900" rtl="0">
              <a:lnSpc>
                <a:spcPct val="90000"/>
              </a:lnSpc>
              <a:spcBef>
                <a:spcPts val="1000"/>
              </a:spcBef>
              <a:spcAft>
                <a:spcPts val="0"/>
              </a:spcAft>
              <a:buSzPts val="1800"/>
              <a:buChar char=" "/>
            </a:pPr>
            <a:r>
              <a:rPr lang="es-ES" dirty="0">
                <a:solidFill>
                  <a:srgbClr val="FF0000"/>
                </a:solidFill>
              </a:rPr>
              <a:t>Es importante comprender que los valores escritos en colores son conceptos de las metodologías agiles sin perder de vista que intentan superar</a:t>
            </a:r>
            <a:endParaRPr dirty="0"/>
          </a:p>
          <a:p>
            <a:pPr marL="457200" lvl="0" indent="-342900" rtl="0">
              <a:lnSpc>
                <a:spcPct val="90000"/>
              </a:lnSpc>
              <a:spcBef>
                <a:spcPts val="1000"/>
              </a:spcBef>
              <a:spcAft>
                <a:spcPts val="0"/>
              </a:spcAft>
              <a:buSzPts val="1800"/>
              <a:buChar char=" "/>
            </a:pPr>
            <a:r>
              <a:rPr lang="es-ES" dirty="0">
                <a:solidFill>
                  <a:srgbClr val="FF0000"/>
                </a:solidFill>
              </a:rPr>
              <a:t>Una buena manera de interpretar el manifiesto, es asumir que éste </a:t>
            </a:r>
            <a:r>
              <a:rPr lang="es-ES" u="sng" dirty="0">
                <a:solidFill>
                  <a:schemeClr val="dk1"/>
                </a:solidFill>
              </a:rPr>
              <a:t>define preferencias</a:t>
            </a:r>
            <a:r>
              <a:rPr lang="es-ES" dirty="0">
                <a:solidFill>
                  <a:srgbClr val="FF0000"/>
                </a:solidFill>
              </a:rPr>
              <a:t>, no alternativas. </a:t>
            </a:r>
            <a:endParaRPr dirty="0"/>
          </a:p>
          <a:p>
            <a:pPr marL="457200" lvl="0" indent="-228600" rtl="0">
              <a:lnSpc>
                <a:spcPct val="90000"/>
              </a:lnSpc>
              <a:spcBef>
                <a:spcPts val="1195"/>
              </a:spcBef>
              <a:spcAft>
                <a:spcPts val="0"/>
              </a:spcAft>
              <a:buSzPts val="1800"/>
              <a:buNone/>
            </a:pPr>
            <a:endParaRPr dirty="0">
              <a:solidFill>
                <a:srgbClr val="FF0000"/>
              </a:solidFill>
            </a:endParaRPr>
          </a:p>
        </p:txBody>
      </p:sp>
      <p:sp>
        <p:nvSpPr>
          <p:cNvPr id="240" name="Google Shape;240;p7"/>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7</a:t>
            </a:fld>
            <a:endParaRPr/>
          </a:p>
        </p:txBody>
      </p:sp>
      <p:pic>
        <p:nvPicPr>
          <p:cNvPr id="241" name="Google Shape;241;p7"/>
          <p:cNvPicPr preferRelativeResize="0"/>
          <p:nvPr/>
        </p:nvPicPr>
        <p:blipFill rotWithShape="1">
          <a:blip r:embed="rId3">
            <a:alphaModFix/>
          </a:blip>
          <a:srcRect/>
          <a:stretch/>
        </p:blipFill>
        <p:spPr>
          <a:xfrm>
            <a:off x="5454315" y="33113"/>
            <a:ext cx="6473378" cy="611960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8"/>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Principios</a:t>
            </a:r>
            <a:endParaRPr/>
          </a:p>
        </p:txBody>
      </p:sp>
      <p:sp>
        <p:nvSpPr>
          <p:cNvPr id="247" name="Google Shape;247;p8"/>
          <p:cNvSpPr txBox="1">
            <a:spLocks noGrp="1"/>
          </p:cNvSpPr>
          <p:nvPr>
            <p:ph type="body" idx="1"/>
          </p:nvPr>
        </p:nvSpPr>
        <p:spPr>
          <a:xfrm>
            <a:off x="1097280" y="1845734"/>
            <a:ext cx="10058400" cy="4023300"/>
          </a:xfrm>
          <a:prstGeom prst="rect">
            <a:avLst/>
          </a:prstGeom>
          <a:noFill/>
          <a:ln>
            <a:noFill/>
          </a:ln>
        </p:spPr>
        <p:txBody>
          <a:bodyPr spcFirstLastPara="1" wrap="square" lIns="0" tIns="45700" rIns="0" bIns="45700" anchor="t" anchorCtr="0">
            <a:normAutofit/>
          </a:bodyPr>
          <a:lstStyle/>
          <a:p>
            <a:pPr marL="449263" lvl="1" indent="-280988" algn="just" rtl="0">
              <a:lnSpc>
                <a:spcPct val="115000"/>
              </a:lnSpc>
              <a:spcBef>
                <a:spcPts val="199"/>
              </a:spcBef>
              <a:spcAft>
                <a:spcPts val="0"/>
              </a:spcAft>
              <a:buSzPct val="100000"/>
              <a:buFont typeface="Arial"/>
              <a:buAutoNum type="arabicPeriod"/>
            </a:pPr>
            <a:r>
              <a:rPr lang="es-ES" sz="2400" dirty="0"/>
              <a:t> Nuestra mayor prioridad es satisfacer al cliente a través de fáciles y continuas </a:t>
            </a:r>
            <a:r>
              <a:rPr lang="es-ES" sz="2400" b="1" dirty="0"/>
              <a:t>entregas de software </a:t>
            </a:r>
            <a:r>
              <a:rPr lang="es-ES" sz="2400" b="1" dirty="0" err="1"/>
              <a:t>valuable</a:t>
            </a:r>
            <a:r>
              <a:rPr lang="es-ES" sz="2400" b="1" dirty="0"/>
              <a:t>.</a:t>
            </a:r>
            <a:endParaRPr b="1" dirty="0"/>
          </a:p>
          <a:p>
            <a:pPr marL="449263" lvl="1" indent="-280988" algn="just" rtl="0">
              <a:lnSpc>
                <a:spcPct val="115000"/>
              </a:lnSpc>
              <a:spcBef>
                <a:spcPts val="199"/>
              </a:spcBef>
              <a:spcAft>
                <a:spcPts val="0"/>
              </a:spcAft>
              <a:buSzPct val="100000"/>
              <a:buFont typeface="Arial"/>
              <a:buAutoNum type="arabicPeriod"/>
            </a:pPr>
            <a:r>
              <a:rPr lang="es-ES" sz="2400" dirty="0"/>
              <a:t> </a:t>
            </a:r>
            <a:r>
              <a:rPr lang="es-ES" sz="2400" b="1" dirty="0"/>
              <a:t>Los cambios de requerimientos son bienvenidos</a:t>
            </a:r>
            <a:r>
              <a:rPr lang="es-ES" sz="2400" dirty="0"/>
              <a:t>, aún tardíos, en el desarrollo. Los procesos Ágiles capturan los cambios para que el cliente obtenga ventajas competitivas.</a:t>
            </a:r>
            <a:endParaRPr dirty="0"/>
          </a:p>
          <a:p>
            <a:pPr marL="449263" lvl="1" indent="-280988" algn="just" rtl="0">
              <a:lnSpc>
                <a:spcPct val="115000"/>
              </a:lnSpc>
              <a:spcBef>
                <a:spcPts val="199"/>
              </a:spcBef>
              <a:spcAft>
                <a:spcPts val="0"/>
              </a:spcAft>
              <a:buSzPct val="100000"/>
              <a:buFont typeface="Arial"/>
              <a:buAutoNum type="arabicPeriod"/>
            </a:pPr>
            <a:r>
              <a:rPr lang="es-ES" sz="2400" dirty="0"/>
              <a:t> </a:t>
            </a:r>
            <a:r>
              <a:rPr lang="es-ES" sz="2400" b="1" dirty="0"/>
              <a:t>Entregas frecuentes de software,</a:t>
            </a:r>
            <a:r>
              <a:rPr lang="es-ES" sz="2400" dirty="0"/>
              <a:t> desde un par de semanas a un par de meses, con el menor intervalo de tiempo posible entre una entrega y la siguiente.</a:t>
            </a:r>
            <a:endParaRPr dirty="0"/>
          </a:p>
          <a:p>
            <a:pPr marL="449263" lvl="1" indent="-280988" algn="just" rtl="0">
              <a:lnSpc>
                <a:spcPct val="115000"/>
              </a:lnSpc>
              <a:spcBef>
                <a:spcPts val="199"/>
              </a:spcBef>
              <a:spcAft>
                <a:spcPts val="0"/>
              </a:spcAft>
              <a:buSzPct val="100000"/>
              <a:buFont typeface="Arial"/>
              <a:buAutoNum type="arabicPeriod"/>
            </a:pPr>
            <a:r>
              <a:rPr lang="es-ES" sz="2400" dirty="0"/>
              <a:t> </a:t>
            </a:r>
            <a:r>
              <a:rPr lang="es-ES" sz="2400" b="1" dirty="0"/>
              <a:t>Usuarios y desarrolladores deben trabajar juntos</a:t>
            </a:r>
            <a:r>
              <a:rPr lang="es-ES" sz="2400" dirty="0"/>
              <a:t> durante todo el proyecto. </a:t>
            </a:r>
            <a:endParaRPr dirty="0"/>
          </a:p>
        </p:txBody>
      </p:sp>
      <p:sp>
        <p:nvSpPr>
          <p:cNvPr id="248" name="Google Shape;248;p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8</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Principios...</a:t>
            </a:r>
            <a:endParaRPr/>
          </a:p>
        </p:txBody>
      </p:sp>
      <p:sp>
        <p:nvSpPr>
          <p:cNvPr id="254" name="Google Shape;254;p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9</a:t>
            </a:fld>
            <a:endParaRPr/>
          </a:p>
        </p:txBody>
      </p:sp>
      <p:sp>
        <p:nvSpPr>
          <p:cNvPr id="255" name="Google Shape;255;p9"/>
          <p:cNvSpPr txBox="1"/>
          <p:nvPr/>
        </p:nvSpPr>
        <p:spPr>
          <a:xfrm>
            <a:off x="1097279" y="1942150"/>
            <a:ext cx="10058400" cy="3991822"/>
          </a:xfrm>
          <a:prstGeom prst="rect">
            <a:avLst/>
          </a:prstGeom>
          <a:noFill/>
          <a:ln>
            <a:noFill/>
          </a:ln>
        </p:spPr>
        <p:txBody>
          <a:bodyPr spcFirstLastPara="1" wrap="square" lIns="91425" tIns="45700" rIns="91425" bIns="45700" anchor="t" anchorCtr="0">
            <a:spAutoFit/>
          </a:bodyPr>
          <a:lstStyle/>
          <a:p>
            <a:pPr marL="352425" marR="0" lvl="1" indent="-255588" algn="just" rtl="0">
              <a:lnSpc>
                <a:spcPct val="115000"/>
              </a:lnSpc>
              <a:spcBef>
                <a:spcPts val="0"/>
              </a:spcBef>
              <a:spcAft>
                <a:spcPts val="0"/>
              </a:spcAft>
              <a:buClr>
                <a:schemeClr val="accent1"/>
              </a:buClr>
              <a:buSzPct val="100000"/>
              <a:buFont typeface="Arial"/>
              <a:buAutoNum type="arabicPeriod" startAt="5"/>
            </a:pP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Construir proyectos alrededor de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motivaciones individuales. </a:t>
            </a:r>
            <a:endParaRPr sz="2400" b="1" i="0" u="none" strike="noStrike" cap="none" dirty="0">
              <a:solidFill>
                <a:srgbClr val="000000"/>
              </a:solidFill>
              <a:latin typeface="Calibri" panose="020F0502020204030204" pitchFamily="34" charset="0"/>
              <a:cs typeface="Calibri" panose="020F0502020204030204" pitchFamily="34" charset="0"/>
            </a:endParaRPr>
          </a:p>
          <a:p>
            <a:pPr marL="352425" marR="0" lvl="1" indent="-255588" algn="just" rtl="0">
              <a:lnSpc>
                <a:spcPct val="115000"/>
              </a:lnSpc>
              <a:spcBef>
                <a:spcPts val="199"/>
              </a:spcBef>
              <a:spcAft>
                <a:spcPts val="0"/>
              </a:spcAft>
              <a:buClr>
                <a:schemeClr val="accent1"/>
              </a:buClr>
              <a:buSzPct val="100000"/>
              <a:buFont typeface="Arial"/>
              <a:buAutoNum type="arabicPeriod" startAt="5"/>
            </a:pPr>
            <a:r>
              <a:rPr lang="es-ES" sz="2400" i="0" u="none" strike="noStrike" cap="none" dirty="0">
                <a:solidFill>
                  <a:srgbClr val="3F3F3F"/>
                </a:solidFill>
                <a:latin typeface="Calibri" panose="020F0502020204030204" pitchFamily="34" charset="0"/>
                <a:ea typeface="Calibri"/>
                <a:cs typeface="Calibri" panose="020F0502020204030204" pitchFamily="34" charset="0"/>
                <a:sym typeface="Calibri"/>
              </a:rPr>
              <a:t>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Darles el ambiente y el soporte que ellos necesitan </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y confiar el trabajo dado. El diálogo cara a cara es el método más eficiente y efectivo de intercambiar información entre el equipo de  desarrolladores. </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a:p>
            <a:pPr marL="352425" marR="0" lvl="1" indent="-255588" algn="just" rtl="0">
              <a:lnSpc>
                <a:spcPct val="115000"/>
              </a:lnSpc>
              <a:spcBef>
                <a:spcPts val="199"/>
              </a:spcBef>
              <a:spcAft>
                <a:spcPts val="0"/>
              </a:spcAft>
              <a:buClr>
                <a:schemeClr val="accent1"/>
              </a:buClr>
              <a:buSzPct val="100000"/>
              <a:buAutoNum type="arabicPeriod" startAt="5"/>
            </a:pPr>
            <a:r>
              <a:rPr lang="es-ES" sz="2400" i="0" u="none" strike="noStrike" cap="none" dirty="0">
                <a:solidFill>
                  <a:srgbClr val="3F3F3F"/>
                </a:solidFill>
                <a:latin typeface="Calibri" panose="020F0502020204030204" pitchFamily="34" charset="0"/>
                <a:ea typeface="Calibri"/>
                <a:cs typeface="Calibri" panose="020F0502020204030204" pitchFamily="34" charset="0"/>
                <a:sym typeface="Calibri"/>
              </a:rPr>
              <a:t>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El software que funciona es la medida clave de progreso.</a:t>
            </a:r>
            <a:endParaRPr sz="2400" b="1" i="0" u="none" strike="noStrike" cap="none" dirty="0">
              <a:solidFill>
                <a:srgbClr val="000000"/>
              </a:solidFill>
              <a:latin typeface="Calibri" panose="020F0502020204030204" pitchFamily="34" charset="0"/>
              <a:cs typeface="Calibri" panose="020F0502020204030204" pitchFamily="34" charset="0"/>
            </a:endParaRPr>
          </a:p>
          <a:p>
            <a:pPr marL="352425" marR="0" lvl="1" indent="-255588" algn="just" rtl="0">
              <a:lnSpc>
                <a:spcPct val="115000"/>
              </a:lnSpc>
              <a:spcBef>
                <a:spcPts val="199"/>
              </a:spcBef>
              <a:spcAft>
                <a:spcPts val="0"/>
              </a:spcAft>
              <a:buClr>
                <a:schemeClr val="accent1"/>
              </a:buClr>
              <a:buSzPct val="100000"/>
              <a:buFont typeface="Arial"/>
              <a:buAutoNum type="arabicPeriod" startAt="5"/>
            </a:pP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Los procesos ágiles promueven un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desarrollo sostenible.</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Los </a:t>
            </a:r>
            <a:r>
              <a:rPr lang="es-ES" sz="2400" b="0" i="0" u="none" strike="noStrike" cap="none" dirty="0" err="1">
                <a:solidFill>
                  <a:srgbClr val="3F3F3F"/>
                </a:solidFill>
                <a:latin typeface="Calibri" panose="020F0502020204030204" pitchFamily="34" charset="0"/>
                <a:ea typeface="Calibri"/>
                <a:cs typeface="Calibri" panose="020F0502020204030204" pitchFamily="34" charset="0"/>
                <a:sym typeface="Calibri"/>
              </a:rPr>
              <a:t>stakeholders</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desarrolladores y usuarios deberían ser capaces  de mantener un paso constante indefinidamente.</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a:p>
            <a:pPr marL="792000" marR="0" lvl="1" indent="0" algn="just" rtl="0">
              <a:lnSpc>
                <a:spcPct val="115000"/>
              </a:lnSpc>
              <a:spcBef>
                <a:spcPts val="0"/>
              </a:spcBef>
              <a:spcAft>
                <a:spcPts val="0"/>
              </a:spcAft>
              <a:buClr>
                <a:srgbClr val="000000"/>
              </a:buClr>
              <a:buSzPts val="2400"/>
              <a:buFont typeface="Arial"/>
              <a:buNone/>
            </a:pPr>
            <a:r>
              <a:rPr lang="es-ES" sz="24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1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Principios...</a:t>
            </a:r>
            <a:endParaRPr/>
          </a:p>
        </p:txBody>
      </p:sp>
      <p:sp>
        <p:nvSpPr>
          <p:cNvPr id="261" name="Google Shape;261;p1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10</a:t>
            </a:fld>
            <a:endParaRPr/>
          </a:p>
        </p:txBody>
      </p:sp>
      <p:sp>
        <p:nvSpPr>
          <p:cNvPr id="262" name="Google Shape;262;p10"/>
          <p:cNvSpPr txBox="1"/>
          <p:nvPr/>
        </p:nvSpPr>
        <p:spPr>
          <a:xfrm>
            <a:off x="868680" y="1865314"/>
            <a:ext cx="10286999" cy="3567090"/>
          </a:xfrm>
          <a:prstGeom prst="rect">
            <a:avLst/>
          </a:prstGeom>
          <a:noFill/>
          <a:ln>
            <a:noFill/>
          </a:ln>
        </p:spPr>
        <p:txBody>
          <a:bodyPr spcFirstLastPara="1" wrap="square" lIns="91425" tIns="45700" rIns="91425" bIns="45700" anchor="t" anchorCtr="0">
            <a:spAutoFit/>
          </a:bodyPr>
          <a:lstStyle/>
          <a:p>
            <a:pPr marL="546100" marR="0" lvl="1" indent="-369888" algn="just" rtl="0">
              <a:lnSpc>
                <a:spcPct val="115000"/>
              </a:lnSpc>
              <a:spcBef>
                <a:spcPts val="0"/>
              </a:spcBef>
              <a:spcAft>
                <a:spcPts val="0"/>
              </a:spcAft>
              <a:buClr>
                <a:schemeClr val="accent1"/>
              </a:buClr>
              <a:buSzPct val="100000"/>
              <a:buFont typeface="Arial"/>
              <a:buAutoNum type="arabicPeriod" startAt="9"/>
            </a:pPr>
            <a:r>
              <a:rPr lang="es-ES" sz="2400" i="0" u="none" strike="noStrike" cap="none" dirty="0">
                <a:solidFill>
                  <a:srgbClr val="3F3F3F"/>
                </a:solidFill>
                <a:latin typeface="Calibri" panose="020F0502020204030204" pitchFamily="34" charset="0"/>
                <a:ea typeface="Calibri"/>
                <a:cs typeface="Calibri" panose="020F0502020204030204" pitchFamily="34" charset="0"/>
                <a:sym typeface="Calibri"/>
              </a:rPr>
              <a:t>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Atención continua a la excelencia técnica </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y buen diseño incrementa la agilidad.</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a:p>
            <a:pPr marL="546100" marR="0" lvl="1" indent="-369888" algn="just" rtl="0">
              <a:lnSpc>
                <a:spcPct val="115000"/>
              </a:lnSpc>
              <a:spcBef>
                <a:spcPts val="199"/>
              </a:spcBef>
              <a:spcAft>
                <a:spcPts val="0"/>
              </a:spcAft>
              <a:buClr>
                <a:schemeClr val="accent1"/>
              </a:buClr>
              <a:buSzPct val="100000"/>
              <a:buFont typeface="Arial"/>
              <a:buAutoNum type="arabicPeriod" startAt="9"/>
            </a:pPr>
            <a:r>
              <a:rPr lang="es-ES" sz="2400" i="0" u="none" strike="noStrike" cap="none" dirty="0">
                <a:solidFill>
                  <a:srgbClr val="3F3F3F"/>
                </a:solidFill>
                <a:latin typeface="Calibri" panose="020F0502020204030204" pitchFamily="34" charset="0"/>
                <a:ea typeface="Calibri"/>
                <a:cs typeface="Calibri" panose="020F0502020204030204" pitchFamily="34" charset="0"/>
                <a:sym typeface="Calibri"/>
              </a:rPr>
              <a:t>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Simplicidad </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(el arte de maximizar la cantidad de trabajo no dado) es esencial.</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a:p>
            <a:pPr marL="546100" marR="0" lvl="1" indent="-369888" algn="just" rtl="0">
              <a:lnSpc>
                <a:spcPct val="115000"/>
              </a:lnSpc>
              <a:spcBef>
                <a:spcPts val="199"/>
              </a:spcBef>
              <a:spcAft>
                <a:spcPts val="0"/>
              </a:spcAft>
              <a:buClr>
                <a:schemeClr val="accent1"/>
              </a:buClr>
              <a:buSzPct val="100000"/>
              <a:buFont typeface="Arial"/>
              <a:buAutoNum type="arabicPeriod" startAt="9"/>
            </a:pPr>
            <a:r>
              <a:rPr lang="es-ES" sz="2400" i="0" u="none" strike="noStrike" cap="none" dirty="0">
                <a:solidFill>
                  <a:srgbClr val="3F3F3F"/>
                </a:solidFill>
                <a:latin typeface="Calibri" panose="020F0502020204030204" pitchFamily="34" charset="0"/>
                <a:ea typeface="Calibri"/>
                <a:cs typeface="Calibri" panose="020F0502020204030204" pitchFamily="34" charset="0"/>
                <a:sym typeface="Calibri"/>
              </a:rPr>
              <a:t>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Las mejores arquitecturas,</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requerimientos y diseños surgen de la propia organización de los equipos.</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a:p>
            <a:pPr marL="546100" marR="0" lvl="1" indent="-369888" algn="just" rtl="0">
              <a:lnSpc>
                <a:spcPct val="115000"/>
              </a:lnSpc>
              <a:spcBef>
                <a:spcPts val="199"/>
              </a:spcBef>
              <a:spcAft>
                <a:spcPts val="0"/>
              </a:spcAft>
              <a:buClr>
                <a:schemeClr val="accent1"/>
              </a:buClr>
              <a:buSzPct val="100000"/>
              <a:buFont typeface="Arial"/>
              <a:buAutoNum type="arabicPeriod" startAt="9"/>
            </a:pP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  A intervalos regulares, </a:t>
            </a:r>
            <a:r>
              <a:rPr lang="es-ES" sz="2400" b="1" i="0" u="none" strike="noStrike" cap="none" dirty="0">
                <a:solidFill>
                  <a:srgbClr val="3F3F3F"/>
                </a:solidFill>
                <a:latin typeface="Calibri" panose="020F0502020204030204" pitchFamily="34" charset="0"/>
                <a:ea typeface="Calibri"/>
                <a:cs typeface="Calibri" panose="020F0502020204030204" pitchFamily="34" charset="0"/>
                <a:sym typeface="Calibri"/>
              </a:rPr>
              <a:t>el equipo reflexiona </a:t>
            </a:r>
            <a:r>
              <a:rPr lang="es-ES" sz="2400" b="0" i="0" u="none" strike="noStrike" cap="none" dirty="0">
                <a:solidFill>
                  <a:srgbClr val="3F3F3F"/>
                </a:solidFill>
                <a:latin typeface="Calibri" panose="020F0502020204030204" pitchFamily="34" charset="0"/>
                <a:ea typeface="Calibri"/>
                <a:cs typeface="Calibri" panose="020F0502020204030204" pitchFamily="34" charset="0"/>
                <a:sym typeface="Calibri"/>
              </a:rPr>
              <a:t>sobre cómo volverse más efectivo, entonces afina y ajusta su comportamiento en consecuencia.</a:t>
            </a:r>
            <a:endParaRPr sz="2400" b="0" i="0" u="none" strike="noStrike" cap="none" dirty="0">
              <a:solidFill>
                <a:srgbClr val="000000"/>
              </a:solidFill>
              <a:latin typeface="Calibri" panose="020F0502020204030204" pitchFamily="34" charset="0"/>
              <a:cs typeface="Calibri" panose="020F0502020204030204" pitchFamily="34" charset="0"/>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1"/>
          <p:cNvSpPr txBox="1">
            <a:spLocks noGrp="1"/>
          </p:cNvSpPr>
          <p:nvPr>
            <p:ph type="title"/>
          </p:nvPr>
        </p:nvSpPr>
        <p:spPr>
          <a:xfrm>
            <a:off x="479376" y="2361858"/>
            <a:ext cx="3600400" cy="213428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Comparación Ágil vs. No Ágil </a:t>
            </a:r>
            <a:endParaRPr/>
          </a:p>
        </p:txBody>
      </p:sp>
      <p:sp>
        <p:nvSpPr>
          <p:cNvPr id="268" name="Google Shape;268;p11"/>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11</a:t>
            </a:fld>
            <a:endParaRPr/>
          </a:p>
        </p:txBody>
      </p:sp>
      <p:pic>
        <p:nvPicPr>
          <p:cNvPr id="269" name="Google Shape;269;p11"/>
          <p:cNvPicPr preferRelativeResize="0"/>
          <p:nvPr/>
        </p:nvPicPr>
        <p:blipFill rotWithShape="1">
          <a:blip r:embed="rId3">
            <a:alphaModFix/>
          </a:blip>
          <a:srcRect/>
          <a:stretch/>
        </p:blipFill>
        <p:spPr>
          <a:xfrm>
            <a:off x="5041212" y="0"/>
            <a:ext cx="4311335" cy="62724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1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Desventajas</a:t>
            </a:r>
            <a:endParaRPr/>
          </a:p>
        </p:txBody>
      </p:sp>
      <p:sp>
        <p:nvSpPr>
          <p:cNvPr id="275" name="Google Shape;275;p12"/>
          <p:cNvSpPr txBox="1">
            <a:spLocks noGrp="1"/>
          </p:cNvSpPr>
          <p:nvPr>
            <p:ph type="body" idx="1"/>
          </p:nvPr>
        </p:nvSpPr>
        <p:spPr>
          <a:xfrm>
            <a:off x="983432" y="1737405"/>
            <a:ext cx="10228927" cy="3766185"/>
          </a:xfrm>
          <a:prstGeom prst="rect">
            <a:avLst/>
          </a:prstGeom>
          <a:noFill/>
          <a:ln>
            <a:noFill/>
          </a:ln>
        </p:spPr>
        <p:txBody>
          <a:bodyPr spcFirstLastPara="1" wrap="square" lIns="0" tIns="45700" rIns="0" bIns="45700" anchor="t" anchorCtr="0">
            <a:noAutofit/>
          </a:bodyPr>
          <a:lstStyle/>
          <a:p>
            <a:pPr marL="96838" lvl="0" indent="17463" algn="just" rtl="0">
              <a:lnSpc>
                <a:spcPct val="90000"/>
              </a:lnSpc>
              <a:spcBef>
                <a:spcPts val="1195"/>
              </a:spcBef>
              <a:spcAft>
                <a:spcPts val="0"/>
              </a:spcAft>
              <a:buSzPts val="1800"/>
              <a:buNone/>
              <a:tabLst>
                <a:tab pos="96838" algn="l"/>
              </a:tabLst>
            </a:pPr>
            <a:r>
              <a:rPr lang="es-ES" sz="2000" dirty="0"/>
              <a:t>En la práctica, los principios que subyacen a los métodos ágiles son a veces difíciles de cumplir:</a:t>
            </a:r>
            <a:endParaRPr dirty="0"/>
          </a:p>
          <a:p>
            <a:pPr marL="96838" lvl="0" indent="17463" algn="just" rtl="0">
              <a:lnSpc>
                <a:spcPct val="90000"/>
              </a:lnSpc>
              <a:spcBef>
                <a:spcPts val="1195"/>
              </a:spcBef>
              <a:spcAft>
                <a:spcPts val="0"/>
              </a:spcAft>
              <a:buSzPts val="1800"/>
              <a:buNone/>
              <a:tabLst>
                <a:tab pos="96838" algn="l"/>
              </a:tabLst>
            </a:pPr>
            <a:r>
              <a:rPr lang="es-ES" sz="2000" b="1" dirty="0"/>
              <a:t>. Aunque es atractiva la idea de involucrar al cliente en el proceso de desarrollo, </a:t>
            </a:r>
            <a:r>
              <a:rPr lang="es-ES" sz="2000" dirty="0"/>
              <a:t>los representantes del cliente están sujetos a otras presiones, y no intervienen por completo en el desarrollo del software.</a:t>
            </a:r>
            <a:endParaRPr dirty="0"/>
          </a:p>
          <a:p>
            <a:pPr marL="96838" lvl="0" indent="17463" algn="just" rtl="0">
              <a:lnSpc>
                <a:spcPct val="90000"/>
              </a:lnSpc>
              <a:spcBef>
                <a:spcPts val="1195"/>
              </a:spcBef>
              <a:spcAft>
                <a:spcPts val="0"/>
              </a:spcAft>
              <a:buSzPts val="1800"/>
              <a:buNone/>
              <a:tabLst>
                <a:tab pos="96838" algn="l"/>
              </a:tabLst>
            </a:pPr>
            <a:r>
              <a:rPr lang="es-ES" sz="2000" b="1" dirty="0"/>
              <a:t>. Priorizar los cambios podría ser difícil, </a:t>
            </a:r>
            <a:r>
              <a:rPr lang="es-ES" sz="2000" dirty="0"/>
              <a:t>sobre todo en sistemas donde  existen muchos participantes. Cada uno por lo general ofrece diversas prioridades a diferentes cambios.</a:t>
            </a:r>
            <a:endParaRPr dirty="0"/>
          </a:p>
          <a:p>
            <a:pPr marL="96838" lvl="0" indent="17463" algn="just" rtl="0">
              <a:lnSpc>
                <a:spcPct val="90000"/>
              </a:lnSpc>
              <a:spcBef>
                <a:spcPts val="1195"/>
              </a:spcBef>
              <a:spcAft>
                <a:spcPts val="0"/>
              </a:spcAft>
              <a:buSzPts val="1800"/>
              <a:buNone/>
              <a:tabLst>
                <a:tab pos="96838" algn="l"/>
              </a:tabLst>
            </a:pPr>
            <a:r>
              <a:rPr lang="es-ES" sz="2000" b="1" dirty="0"/>
              <a:t>. Mantener la simplicidad requiere trabajo adicional. </a:t>
            </a:r>
            <a:r>
              <a:rPr lang="es-ES" sz="2000" dirty="0"/>
              <a:t>Bajo la presión de fechas de entrega, es posible que los miembros del equipo carezcan de tiempo para realizar las  simplificaciones deseables al sistema.</a:t>
            </a:r>
            <a:endParaRPr dirty="0"/>
          </a:p>
          <a:p>
            <a:pPr marL="96838" lvl="0" indent="17463" algn="just" rtl="0">
              <a:lnSpc>
                <a:spcPct val="90000"/>
              </a:lnSpc>
              <a:spcBef>
                <a:spcPts val="1195"/>
              </a:spcBef>
              <a:spcAft>
                <a:spcPts val="0"/>
              </a:spcAft>
              <a:buSzPts val="1800"/>
              <a:buNone/>
              <a:tabLst>
                <a:tab pos="96838" algn="l"/>
              </a:tabLst>
            </a:pPr>
            <a:r>
              <a:rPr lang="es-ES" sz="2000" b="1" dirty="0"/>
              <a:t>. Muchas organizaciones, especialmente las grandes compañías, pasan años cambiando su cultura, de tal modo que los procesos se definan y continúen</a:t>
            </a:r>
            <a:r>
              <a:rPr lang="es-ES" sz="2000" dirty="0"/>
              <a:t>. Para ellas, resulta difícil moverse hacia un modelo de trabajo donde los procesos sean informales y estén definidos por equipos de desarrollo.</a:t>
            </a:r>
            <a:endParaRPr dirty="0"/>
          </a:p>
        </p:txBody>
      </p:sp>
      <p:sp>
        <p:nvSpPr>
          <p:cNvPr id="276" name="Google Shape;276;p1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13"/>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Desventajas</a:t>
            </a:r>
            <a:endParaRPr/>
          </a:p>
        </p:txBody>
      </p:sp>
      <p:sp>
        <p:nvSpPr>
          <p:cNvPr id="282" name="Google Shape;282;p13"/>
          <p:cNvSpPr txBox="1">
            <a:spLocks noGrp="1"/>
          </p:cNvSpPr>
          <p:nvPr>
            <p:ph type="body" idx="1"/>
          </p:nvPr>
        </p:nvSpPr>
        <p:spPr>
          <a:xfrm>
            <a:off x="749617" y="1988840"/>
            <a:ext cx="10406063" cy="3766185"/>
          </a:xfrm>
          <a:prstGeom prst="rect">
            <a:avLst/>
          </a:prstGeom>
          <a:noFill/>
          <a:ln>
            <a:noFill/>
          </a:ln>
        </p:spPr>
        <p:txBody>
          <a:bodyPr spcFirstLastPara="1" wrap="square" lIns="0" tIns="45700" rIns="0" bIns="45700" anchor="t" anchorCtr="0">
            <a:noAutofit/>
          </a:bodyPr>
          <a:lstStyle/>
          <a:p>
            <a:pPr marL="457200" lvl="0" indent="-342900" algn="just" rtl="0">
              <a:lnSpc>
                <a:spcPct val="90000"/>
              </a:lnSpc>
              <a:spcBef>
                <a:spcPts val="1195"/>
              </a:spcBef>
              <a:spcAft>
                <a:spcPts val="0"/>
              </a:spcAft>
              <a:buSzPts val="1800"/>
              <a:buChar char=" "/>
            </a:pPr>
            <a:r>
              <a:rPr lang="es-ES" sz="2400" dirty="0"/>
              <a:t>Por lo general, el documento de requerimientos del software forma parte del contrato entre el cliente y el proveedor. Como en los métodos ágiles se minimiza la documentación, suele ser complejo reglamentarlo.</a:t>
            </a:r>
            <a:endParaRPr dirty="0"/>
          </a:p>
          <a:p>
            <a:pPr marL="457200" lvl="0" indent="-342900" algn="just" rtl="0">
              <a:lnSpc>
                <a:spcPct val="90000"/>
              </a:lnSpc>
              <a:spcBef>
                <a:spcPts val="1195"/>
              </a:spcBef>
              <a:spcAft>
                <a:spcPts val="0"/>
              </a:spcAft>
              <a:buSzPts val="1800"/>
              <a:buChar char=" "/>
            </a:pPr>
            <a:r>
              <a:rPr lang="es-ES" sz="2400" dirty="0"/>
              <a:t>La mayoría de los libros que describen los métodos ágiles y las experiencias con éstos hablan del uso de dichos métodos para el desarrollo de nuevos sistemas. Sin embargo, una enorme cantidad de esfuerzo en ingeniería de software se usa en el mantenimiento y la evolución de los sistemas de software existentes. Al no existir documentación se complejizaría.</a:t>
            </a:r>
            <a:endParaRPr dirty="0"/>
          </a:p>
        </p:txBody>
      </p:sp>
      <p:sp>
        <p:nvSpPr>
          <p:cNvPr id="283" name="Google Shape;283;p1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14"/>
          <p:cNvSpPr txBox="1">
            <a:spLocks noGrp="1"/>
          </p:cNvSpPr>
          <p:nvPr>
            <p:ph type="title"/>
          </p:nvPr>
        </p:nvSpPr>
        <p:spPr>
          <a:xfrm>
            <a:off x="1153959" y="188640"/>
            <a:ext cx="10058400" cy="900693"/>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Principales Metodologías Agiles </a:t>
            </a:r>
            <a:endParaRPr/>
          </a:p>
        </p:txBody>
      </p:sp>
      <p:sp>
        <p:nvSpPr>
          <p:cNvPr id="289" name="Google Shape;289;p1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14</a:t>
            </a:fld>
            <a:endParaRPr/>
          </a:p>
        </p:txBody>
      </p:sp>
      <p:grpSp>
        <p:nvGrpSpPr>
          <p:cNvPr id="290" name="Google Shape;290;p14"/>
          <p:cNvGrpSpPr/>
          <p:nvPr/>
        </p:nvGrpSpPr>
        <p:grpSpPr>
          <a:xfrm>
            <a:off x="1954059" y="1196752"/>
            <a:ext cx="8566709" cy="5060752"/>
            <a:chOff x="1954059" y="1196752"/>
            <a:chExt cx="8566709" cy="5060752"/>
          </a:xfrm>
        </p:grpSpPr>
        <p:pic>
          <p:nvPicPr>
            <p:cNvPr id="291" name="Google Shape;291;p14"/>
            <p:cNvPicPr preferRelativeResize="0"/>
            <p:nvPr/>
          </p:nvPicPr>
          <p:blipFill rotWithShape="1">
            <a:blip r:embed="rId3">
              <a:alphaModFix/>
            </a:blip>
            <a:srcRect/>
            <a:stretch/>
          </p:blipFill>
          <p:spPr>
            <a:xfrm>
              <a:off x="1954059" y="1196752"/>
              <a:ext cx="8458200" cy="4752975"/>
            </a:xfrm>
            <a:prstGeom prst="rect">
              <a:avLst/>
            </a:prstGeom>
            <a:noFill/>
            <a:ln>
              <a:noFill/>
            </a:ln>
          </p:spPr>
        </p:pic>
        <p:sp>
          <p:nvSpPr>
            <p:cNvPr id="292" name="Google Shape;292;p14"/>
            <p:cNvSpPr/>
            <p:nvPr/>
          </p:nvSpPr>
          <p:spPr>
            <a:xfrm>
              <a:off x="2063552" y="3933056"/>
              <a:ext cx="263084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www.extremeprogramming.org</a:t>
              </a:r>
              <a:endParaRPr sz="1400" b="0" i="0" u="none" strike="noStrike" cap="none">
                <a:solidFill>
                  <a:srgbClr val="000000"/>
                </a:solidFill>
                <a:latin typeface="Arial"/>
                <a:ea typeface="Arial"/>
                <a:cs typeface="Arial"/>
                <a:sym typeface="Arial"/>
              </a:endParaRPr>
            </a:p>
          </p:txBody>
        </p:sp>
        <p:sp>
          <p:nvSpPr>
            <p:cNvPr id="293" name="Google Shape;293;p14"/>
            <p:cNvSpPr/>
            <p:nvPr/>
          </p:nvSpPr>
          <p:spPr>
            <a:xfrm>
              <a:off x="3431704" y="5949727"/>
              <a:ext cx="136928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rgbClr val="000000"/>
                  </a:solidFill>
                  <a:latin typeface="Arial"/>
                  <a:ea typeface="Arial"/>
                  <a:cs typeface="Arial"/>
                  <a:sym typeface="Arial"/>
                  <a:hlinkClick r:id="rId5">
                    <a:extLst>
                      <a:ext uri="{A12FA001-AC4F-418D-AE19-62706E023703}">
                        <ahyp:hlinkClr xmlns:ahyp="http://schemas.microsoft.com/office/drawing/2018/hyperlinkcolor" val="tx"/>
                      </a:ext>
                    </a:extLst>
                  </a:hlinkClick>
                </a:rPr>
                <a:t>www.dsdm.org</a:t>
              </a:r>
              <a:endParaRPr sz="1400" b="0" i="0" u="none" strike="noStrike" cap="none">
                <a:solidFill>
                  <a:srgbClr val="000000"/>
                </a:solidFill>
                <a:latin typeface="Arial"/>
                <a:ea typeface="Arial"/>
                <a:cs typeface="Arial"/>
                <a:sym typeface="Arial"/>
              </a:endParaRPr>
            </a:p>
          </p:txBody>
        </p:sp>
        <p:sp>
          <p:nvSpPr>
            <p:cNvPr id="294" name="Google Shape;294;p14"/>
            <p:cNvSpPr/>
            <p:nvPr/>
          </p:nvSpPr>
          <p:spPr>
            <a:xfrm>
              <a:off x="6321719" y="5949726"/>
              <a:ext cx="2613216"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rgbClr val="000000"/>
                  </a:solidFill>
                  <a:latin typeface="Arial"/>
                  <a:ea typeface="Arial"/>
                  <a:cs typeface="Arial"/>
                  <a:sym typeface="Arial"/>
                  <a:hlinkClick r:id="rId6">
                    <a:extLst>
                      <a:ext uri="{A12FA001-AC4F-418D-AE19-62706E023703}">
                        <ahyp:hlinkClr xmlns:ahyp="http://schemas.microsoft.com/office/drawing/2018/hyperlinkcolor" val="tx"/>
                      </a:ext>
                    </a:extLst>
                  </a:hlinkClick>
                </a:rPr>
                <a:t>www.crystalmethodologies.org</a:t>
              </a:r>
              <a:endParaRPr sz="1400" b="0" i="0" u="none" strike="noStrike" cap="none">
                <a:solidFill>
                  <a:srgbClr val="000000"/>
                </a:solidFill>
                <a:latin typeface="Arial"/>
                <a:ea typeface="Arial"/>
                <a:cs typeface="Arial"/>
                <a:sym typeface="Arial"/>
              </a:endParaRPr>
            </a:p>
          </p:txBody>
        </p:sp>
        <p:sp>
          <p:nvSpPr>
            <p:cNvPr id="295" name="Google Shape;295;p14"/>
            <p:cNvSpPr/>
            <p:nvPr/>
          </p:nvSpPr>
          <p:spPr>
            <a:xfrm>
              <a:off x="2351584" y="1636002"/>
              <a:ext cx="1877437"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rgbClr val="000000"/>
                  </a:solidFill>
                  <a:latin typeface="Arial"/>
                  <a:ea typeface="Arial"/>
                  <a:cs typeface="Arial"/>
                  <a:sym typeface="Arial"/>
                  <a:hlinkClick r:id="rId7">
                    <a:extLst>
                      <a:ext uri="{A12FA001-AC4F-418D-AE19-62706E023703}">
                        <ahyp:hlinkClr xmlns:ahyp="http://schemas.microsoft.com/office/drawing/2018/hyperlinkcolor" val="tx"/>
                      </a:ext>
                    </a:extLst>
                  </a:hlinkClick>
                </a:rPr>
                <a:t>www.adaptivesd.com</a:t>
              </a:r>
              <a:endParaRPr sz="1400" b="0" i="0" u="none" strike="noStrike" cap="none">
                <a:solidFill>
                  <a:srgbClr val="000000"/>
                </a:solidFill>
                <a:latin typeface="Arial"/>
                <a:ea typeface="Arial"/>
                <a:cs typeface="Arial"/>
                <a:sym typeface="Arial"/>
              </a:endParaRPr>
            </a:p>
          </p:txBody>
        </p:sp>
        <p:sp>
          <p:nvSpPr>
            <p:cNvPr id="296" name="Google Shape;296;p14"/>
            <p:cNvSpPr/>
            <p:nvPr/>
          </p:nvSpPr>
          <p:spPr>
            <a:xfrm>
              <a:off x="7392144" y="1482113"/>
              <a:ext cx="2252540"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chemeClr val="accent2"/>
                  </a:solidFill>
                  <a:latin typeface="Arial"/>
                  <a:ea typeface="Arial"/>
                  <a:cs typeface="Arial"/>
                  <a:sym typeface="Arial"/>
                  <a:hlinkClick r:id="rId8">
                    <a:extLst>
                      <a:ext uri="{A12FA001-AC4F-418D-AE19-62706E023703}">
                        <ahyp:hlinkClr xmlns:ahyp="http://schemas.microsoft.com/office/drawing/2018/hyperlinkcolor" val="tx"/>
                      </a:ext>
                    </a:extLst>
                  </a:hlinkClick>
                </a:rPr>
                <a:t>https://acortar.link/ZZd3k2</a:t>
              </a:r>
              <a:endParaRPr sz="1400" b="0" i="0" u="none" strike="noStrike" cap="none">
                <a:solidFill>
                  <a:schemeClr val="accent2"/>
                </a:solidFill>
                <a:latin typeface="Arial"/>
                <a:ea typeface="Arial"/>
                <a:cs typeface="Arial"/>
                <a:sym typeface="Arial"/>
              </a:endParaRPr>
            </a:p>
          </p:txBody>
        </p:sp>
        <p:sp>
          <p:nvSpPr>
            <p:cNvPr id="297" name="Google Shape;297;p14"/>
            <p:cNvSpPr/>
            <p:nvPr/>
          </p:nvSpPr>
          <p:spPr>
            <a:xfrm>
              <a:off x="7054755" y="4240833"/>
              <a:ext cx="3466013"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sng" strike="noStrike" cap="none">
                  <a:solidFill>
                    <a:schemeClr val="accent2"/>
                  </a:solidFill>
                  <a:latin typeface="Arial"/>
                  <a:ea typeface="Arial"/>
                  <a:cs typeface="Arial"/>
                  <a:sym typeface="Arial"/>
                  <a:hlinkClick r:id="rId9">
                    <a:extLst>
                      <a:ext uri="{A12FA001-AC4F-418D-AE19-62706E023703}">
                        <ahyp:hlinkClr xmlns:ahyp="http://schemas.microsoft.com/office/drawing/2018/hyperlinkcolor" val="tx"/>
                      </a:ext>
                    </a:extLst>
                  </a:hlinkClick>
                </a:rPr>
                <a:t>https://proyectosagiles.org/que-es-scrum/</a:t>
              </a:r>
              <a:endParaRPr sz="1400" b="0" i="0" u="none" strike="noStrike" cap="none">
                <a:solidFill>
                  <a:schemeClr val="accent2"/>
                </a:solidFill>
                <a:latin typeface="Arial"/>
                <a:ea typeface="Arial"/>
                <a:cs typeface="Arial"/>
                <a:sym typeface="Arial"/>
              </a:endParaRPr>
            </a:p>
          </p:txBody>
        </p:sp>
      </p:grpSp>
      <p:grpSp>
        <p:nvGrpSpPr>
          <p:cNvPr id="298" name="Google Shape;298;p14"/>
          <p:cNvGrpSpPr/>
          <p:nvPr/>
        </p:nvGrpSpPr>
        <p:grpSpPr>
          <a:xfrm>
            <a:off x="151526" y="1482113"/>
            <a:ext cx="4077495" cy="738664"/>
            <a:chOff x="151526" y="1482113"/>
            <a:chExt cx="4077495" cy="738664"/>
          </a:xfrm>
        </p:grpSpPr>
        <p:sp>
          <p:nvSpPr>
            <p:cNvPr id="299" name="Google Shape;299;p14"/>
            <p:cNvSpPr/>
            <p:nvPr/>
          </p:nvSpPr>
          <p:spPr>
            <a:xfrm>
              <a:off x="151526" y="1482113"/>
              <a:ext cx="1334197" cy="738664"/>
            </a:xfrm>
            <a:prstGeom prst="rect">
              <a:avLst/>
            </a:prstGeom>
            <a:solidFill>
              <a:schemeClr val="accen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Adaptative Software Development </a:t>
              </a:r>
              <a:endParaRPr sz="1400" b="0" i="0" u="none" strike="noStrike" cap="none">
                <a:solidFill>
                  <a:schemeClr val="lt1"/>
                </a:solidFill>
                <a:latin typeface="Arial"/>
                <a:ea typeface="Arial"/>
                <a:cs typeface="Arial"/>
                <a:sym typeface="Arial"/>
              </a:endParaRPr>
            </a:p>
          </p:txBody>
        </p:sp>
        <p:cxnSp>
          <p:nvCxnSpPr>
            <p:cNvPr id="300" name="Google Shape;300;p14"/>
            <p:cNvCxnSpPr/>
            <p:nvPr/>
          </p:nvCxnSpPr>
          <p:spPr>
            <a:xfrm>
              <a:off x="1485723" y="1556792"/>
              <a:ext cx="2743298" cy="0"/>
            </a:xfrm>
            <a:prstGeom prst="straightConnector1">
              <a:avLst/>
            </a:prstGeom>
            <a:noFill/>
            <a:ln w="9525" cap="flat" cmpd="sng">
              <a:solidFill>
                <a:srgbClr val="509C34"/>
              </a:solidFill>
              <a:prstDash val="solid"/>
              <a:round/>
              <a:headEnd type="none" w="sm" len="sm"/>
              <a:tailEnd type="triangle" w="med" len="med"/>
            </a:ln>
          </p:spPr>
        </p:cxnSp>
      </p:grpSp>
      <p:grpSp>
        <p:nvGrpSpPr>
          <p:cNvPr id="301" name="Google Shape;301;p14"/>
          <p:cNvGrpSpPr/>
          <p:nvPr/>
        </p:nvGrpSpPr>
        <p:grpSpPr>
          <a:xfrm>
            <a:off x="225300" y="4086944"/>
            <a:ext cx="3891096" cy="954107"/>
            <a:chOff x="225300" y="4086944"/>
            <a:chExt cx="3891096" cy="954107"/>
          </a:xfrm>
        </p:grpSpPr>
        <p:sp>
          <p:nvSpPr>
            <p:cNvPr id="302" name="Google Shape;302;p14"/>
            <p:cNvSpPr/>
            <p:nvPr/>
          </p:nvSpPr>
          <p:spPr>
            <a:xfrm>
              <a:off x="225300" y="4086944"/>
              <a:ext cx="1334196" cy="954107"/>
            </a:xfrm>
            <a:prstGeom prst="rect">
              <a:avLst/>
            </a:prstGeom>
            <a:solidFill>
              <a:schemeClr val="accent4"/>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Dynamic Systems Development Method</a:t>
              </a:r>
              <a:endParaRPr sz="1400" b="0" i="0" u="none" strike="noStrike" cap="none">
                <a:solidFill>
                  <a:schemeClr val="lt1"/>
                </a:solidFill>
                <a:latin typeface="Arial"/>
                <a:ea typeface="Arial"/>
                <a:cs typeface="Arial"/>
                <a:sym typeface="Arial"/>
              </a:endParaRPr>
            </a:p>
          </p:txBody>
        </p:sp>
        <p:cxnSp>
          <p:nvCxnSpPr>
            <p:cNvPr id="303" name="Google Shape;303;p14"/>
            <p:cNvCxnSpPr>
              <a:stCxn id="302" idx="3"/>
            </p:cNvCxnSpPr>
            <p:nvPr/>
          </p:nvCxnSpPr>
          <p:spPr>
            <a:xfrm>
              <a:off x="1559496" y="4563998"/>
              <a:ext cx="2556900" cy="234900"/>
            </a:xfrm>
            <a:prstGeom prst="straightConnector1">
              <a:avLst/>
            </a:prstGeom>
            <a:noFill/>
            <a:ln w="9525" cap="flat" cmpd="sng">
              <a:solidFill>
                <a:srgbClr val="509C34"/>
              </a:solidFill>
              <a:prstDash val="solid"/>
              <a:round/>
              <a:headEnd type="none" w="sm" len="sm"/>
              <a:tailEnd type="triangle" w="med" len="med"/>
            </a:ln>
          </p:spPr>
        </p:cxnSp>
      </p:grpSp>
      <p:grpSp>
        <p:nvGrpSpPr>
          <p:cNvPr id="304" name="Google Shape;304;p14"/>
          <p:cNvGrpSpPr/>
          <p:nvPr/>
        </p:nvGrpSpPr>
        <p:grpSpPr>
          <a:xfrm>
            <a:off x="7392144" y="1320296"/>
            <a:ext cx="4549320" cy="738664"/>
            <a:chOff x="7392144" y="1320296"/>
            <a:chExt cx="4549320" cy="738664"/>
          </a:xfrm>
        </p:grpSpPr>
        <p:sp>
          <p:nvSpPr>
            <p:cNvPr id="305" name="Google Shape;305;p14"/>
            <p:cNvSpPr/>
            <p:nvPr/>
          </p:nvSpPr>
          <p:spPr>
            <a:xfrm>
              <a:off x="10237941" y="1320296"/>
              <a:ext cx="1703523" cy="738664"/>
            </a:xfrm>
            <a:prstGeom prst="rect">
              <a:avLst/>
            </a:prstGeom>
            <a:solidFill>
              <a:schemeClr val="accent3"/>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Feature-Driven Development</a:t>
              </a:r>
              <a:endParaRPr sz="1400" b="0" i="0" u="none" strike="noStrike" cap="none">
                <a:solidFill>
                  <a:schemeClr val="lt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cxnSp>
          <p:nvCxnSpPr>
            <p:cNvPr id="306" name="Google Shape;306;p14"/>
            <p:cNvCxnSpPr/>
            <p:nvPr/>
          </p:nvCxnSpPr>
          <p:spPr>
            <a:xfrm rot="10800000">
              <a:off x="7392144" y="1482113"/>
              <a:ext cx="2845797" cy="218695"/>
            </a:xfrm>
            <a:prstGeom prst="straightConnector1">
              <a:avLst/>
            </a:prstGeom>
            <a:noFill/>
            <a:ln w="9525" cap="flat" cmpd="sng">
              <a:solidFill>
                <a:srgbClr val="509C34"/>
              </a:solidFill>
              <a:prstDash val="solid"/>
              <a:round/>
              <a:headEnd type="none" w="sm" len="sm"/>
              <a:tailEnd type="triangle" w="med" len="med"/>
            </a:ln>
          </p:spPr>
        </p:cxnSp>
      </p:grpSp>
      <p:grpSp>
        <p:nvGrpSpPr>
          <p:cNvPr id="307" name="Google Shape;307;p14"/>
          <p:cNvGrpSpPr/>
          <p:nvPr/>
        </p:nvGrpSpPr>
        <p:grpSpPr>
          <a:xfrm>
            <a:off x="8400159" y="4799040"/>
            <a:ext cx="3456582" cy="738664"/>
            <a:chOff x="8400159" y="4799040"/>
            <a:chExt cx="3456582" cy="738664"/>
          </a:xfrm>
        </p:grpSpPr>
        <p:sp>
          <p:nvSpPr>
            <p:cNvPr id="308" name="Google Shape;308;p14"/>
            <p:cNvSpPr/>
            <p:nvPr/>
          </p:nvSpPr>
          <p:spPr>
            <a:xfrm>
              <a:off x="10412259" y="4799040"/>
              <a:ext cx="1444482" cy="738664"/>
            </a:xfrm>
            <a:prstGeom prst="rect">
              <a:avLst/>
            </a:prstGeom>
            <a:gradFill>
              <a:gsLst>
                <a:gs pos="0">
                  <a:srgbClr val="065B76"/>
                </a:gs>
                <a:gs pos="48000">
                  <a:srgbClr val="088FB9"/>
                </a:gs>
                <a:gs pos="100000">
                  <a:srgbClr val="44CCF6"/>
                </a:gs>
              </a:gsLst>
              <a:lin ang="16200000" scaled="0"/>
            </a:gra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chemeClr val="lt1"/>
                  </a:solidFill>
                  <a:latin typeface="Arial"/>
                  <a:ea typeface="Arial"/>
                  <a:cs typeface="Arial"/>
                  <a:sym typeface="Arial"/>
                </a:rPr>
                <a:t>Cockburn’s Crystal Family Methodologies</a:t>
              </a:r>
              <a:endParaRPr sz="1400" b="0" i="0" u="none" strike="noStrike" cap="none">
                <a:solidFill>
                  <a:schemeClr val="lt1"/>
                </a:solidFill>
                <a:latin typeface="Arial"/>
                <a:ea typeface="Arial"/>
                <a:cs typeface="Arial"/>
                <a:sym typeface="Arial"/>
              </a:endParaRPr>
            </a:p>
          </p:txBody>
        </p:sp>
        <p:cxnSp>
          <p:nvCxnSpPr>
            <p:cNvPr id="309" name="Google Shape;309;p14"/>
            <p:cNvCxnSpPr>
              <a:stCxn id="308" idx="1"/>
            </p:cNvCxnSpPr>
            <p:nvPr/>
          </p:nvCxnSpPr>
          <p:spPr>
            <a:xfrm rot="10800000">
              <a:off x="8400159" y="4941272"/>
              <a:ext cx="2012100" cy="227100"/>
            </a:xfrm>
            <a:prstGeom prst="straightConnector1">
              <a:avLst/>
            </a:prstGeom>
            <a:noFill/>
            <a:ln w="9525" cap="flat" cmpd="sng">
              <a:solidFill>
                <a:srgbClr val="509C34"/>
              </a:solidFill>
              <a:prstDash val="solid"/>
              <a:round/>
              <a:headEnd type="none" w="sm" len="sm"/>
              <a:tailEnd type="triangle" w="med" len="med"/>
            </a:ln>
          </p:spPr>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8"/>
                                        </p:tgtEl>
                                        <p:attrNameLst>
                                          <p:attrName>style.visibility</p:attrName>
                                        </p:attrNameLst>
                                      </p:cBhvr>
                                      <p:to>
                                        <p:strVal val="visible"/>
                                      </p:to>
                                    </p:set>
                                    <p:animEffect transition="in" filter="fade">
                                      <p:cBhvr>
                                        <p:cTn id="7" dur="1000"/>
                                        <p:tgtEl>
                                          <p:spTgt spid="29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1"/>
                                        </p:tgtEl>
                                        <p:attrNameLst>
                                          <p:attrName>style.visibility</p:attrName>
                                        </p:attrNameLst>
                                      </p:cBhvr>
                                      <p:to>
                                        <p:strVal val="visible"/>
                                      </p:to>
                                    </p:set>
                                    <p:animEffect transition="in" filter="fade">
                                      <p:cBhvr>
                                        <p:cTn id="12" dur="1000"/>
                                        <p:tgtEl>
                                          <p:spTgt spid="30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4"/>
                                        </p:tgtEl>
                                        <p:attrNameLst>
                                          <p:attrName>style.visibility</p:attrName>
                                        </p:attrNameLst>
                                      </p:cBhvr>
                                      <p:to>
                                        <p:strVal val="visible"/>
                                      </p:to>
                                    </p:set>
                                    <p:animEffect transition="in" filter="fade">
                                      <p:cBhvr>
                                        <p:cTn id="17" dur="1000"/>
                                        <p:tgtEl>
                                          <p:spTgt spid="30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7"/>
                                        </p:tgtEl>
                                        <p:attrNameLst>
                                          <p:attrName>style.visibility</p:attrName>
                                        </p:attrNameLst>
                                      </p:cBhvr>
                                      <p:to>
                                        <p:strVal val="visible"/>
                                      </p:to>
                                    </p:set>
                                    <p:animEffect transition="in" filter="fade">
                                      <p:cBhvr>
                                        <p:cTn id="22" dur="1000"/>
                                        <p:tgtEl>
                                          <p:spTgt spid="3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5"/>
          <p:cNvSpPr txBox="1">
            <a:spLocks noGrp="1"/>
          </p:cNvSpPr>
          <p:nvPr>
            <p:ph type="title"/>
          </p:nvPr>
        </p:nvSpPr>
        <p:spPr>
          <a:xfrm>
            <a:off x="623391" y="605009"/>
            <a:ext cx="10772775" cy="112944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4800"/>
              <a:buNone/>
            </a:pPr>
            <a:r>
              <a:rPr lang="es-ES" dirty="0" err="1"/>
              <a:t>eXtreme</a:t>
            </a:r>
            <a:r>
              <a:rPr lang="es-ES" dirty="0"/>
              <a:t> </a:t>
            </a:r>
            <a:r>
              <a:rPr lang="es-ES" dirty="0" err="1"/>
              <a:t>Programming</a:t>
            </a:r>
            <a:endParaRPr dirty="0"/>
          </a:p>
        </p:txBody>
      </p:sp>
      <p:sp>
        <p:nvSpPr>
          <p:cNvPr id="316" name="Google Shape;316;p15"/>
          <p:cNvSpPr txBox="1">
            <a:spLocks noGrp="1"/>
          </p:cNvSpPr>
          <p:nvPr>
            <p:ph type="body" idx="1"/>
          </p:nvPr>
        </p:nvSpPr>
        <p:spPr>
          <a:xfrm>
            <a:off x="623391" y="1774238"/>
            <a:ext cx="10772774" cy="4478753"/>
          </a:xfrm>
          <a:prstGeom prst="rect">
            <a:avLst/>
          </a:prstGeom>
          <a:noFill/>
          <a:ln>
            <a:noFill/>
          </a:ln>
        </p:spPr>
        <p:txBody>
          <a:bodyPr spcFirstLastPara="1" wrap="square" lIns="0" tIns="45700" rIns="0" bIns="45700" anchor="t" anchorCtr="0">
            <a:normAutofit/>
          </a:bodyPr>
          <a:lstStyle/>
          <a:p>
            <a:pPr marL="91440" lvl="0" indent="-91440" algn="just" rtl="0">
              <a:lnSpc>
                <a:spcPct val="90000"/>
              </a:lnSpc>
              <a:spcBef>
                <a:spcPts val="1200"/>
              </a:spcBef>
              <a:spcAft>
                <a:spcPts val="0"/>
              </a:spcAft>
              <a:buClr>
                <a:srgbClr val="C00000"/>
              </a:buClr>
              <a:buSzPts val="2000"/>
              <a:buFont typeface="Arial"/>
              <a:buChar char="»"/>
            </a:pPr>
            <a:r>
              <a:rPr lang="es-ES" sz="2400" dirty="0"/>
              <a:t>Es una disciplina de desarrollo de software basado en los valores de la </a:t>
            </a:r>
            <a:r>
              <a:rPr lang="es-ES" sz="2400" i="1" dirty="0"/>
              <a:t>sencillez</a:t>
            </a:r>
            <a:r>
              <a:rPr lang="es-ES" sz="2400" dirty="0"/>
              <a:t>, la </a:t>
            </a:r>
            <a:r>
              <a:rPr lang="es-ES" sz="2400" i="1" dirty="0"/>
              <a:t>comunicación</a:t>
            </a:r>
            <a:r>
              <a:rPr lang="es-ES" sz="2400" dirty="0"/>
              <a:t>, la </a:t>
            </a:r>
            <a:r>
              <a:rPr lang="es-ES" sz="2400" i="1" dirty="0"/>
              <a:t>retroalimentación</a:t>
            </a:r>
            <a:r>
              <a:rPr lang="es-ES" sz="2400" dirty="0"/>
              <a:t>, la </a:t>
            </a:r>
            <a:r>
              <a:rPr lang="es-ES" sz="2400" i="1" dirty="0"/>
              <a:t>valentía</a:t>
            </a:r>
            <a:r>
              <a:rPr lang="es-ES" sz="2400" dirty="0"/>
              <a:t> y el </a:t>
            </a:r>
            <a:r>
              <a:rPr lang="es-ES" sz="2400" i="1" dirty="0"/>
              <a:t>respeto</a:t>
            </a:r>
            <a:endParaRPr dirty="0"/>
          </a:p>
          <a:p>
            <a:pPr marL="91440" lvl="0" indent="-91440" algn="just" rtl="0">
              <a:lnSpc>
                <a:spcPct val="90000"/>
              </a:lnSpc>
              <a:spcBef>
                <a:spcPts val="1200"/>
              </a:spcBef>
              <a:spcAft>
                <a:spcPts val="0"/>
              </a:spcAft>
              <a:buClr>
                <a:srgbClr val="C00000"/>
              </a:buClr>
              <a:buSzPts val="2000"/>
              <a:buFont typeface="Arial"/>
              <a:buChar char="»"/>
            </a:pPr>
            <a:r>
              <a:rPr lang="es-ES" sz="2400" dirty="0"/>
              <a:t>Su acción consiste en llevar a todo el equipo reunido en la presencia de prácticas simples, con suficiente información para ver dónde están y para ajustar las prácticas a su situación particular.</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16"/>
          <p:cNvSpPr txBox="1">
            <a:spLocks noGrp="1"/>
          </p:cNvSpPr>
          <p:nvPr>
            <p:ph type="title"/>
          </p:nvPr>
        </p:nvSpPr>
        <p:spPr>
          <a:xfrm>
            <a:off x="623391" y="643372"/>
            <a:ext cx="10772775" cy="1129444"/>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4800"/>
              <a:buNone/>
            </a:pPr>
            <a:r>
              <a:rPr lang="es-ES" dirty="0" err="1"/>
              <a:t>eXtreme</a:t>
            </a:r>
            <a:r>
              <a:rPr lang="es-ES" dirty="0"/>
              <a:t> </a:t>
            </a:r>
            <a:r>
              <a:rPr lang="es-ES" dirty="0" err="1"/>
              <a:t>Programming</a:t>
            </a:r>
            <a:endParaRPr dirty="0"/>
          </a:p>
        </p:txBody>
      </p:sp>
      <p:sp>
        <p:nvSpPr>
          <p:cNvPr id="323" name="Google Shape;323;p16"/>
          <p:cNvSpPr txBox="1">
            <a:spLocks noGrp="1"/>
          </p:cNvSpPr>
          <p:nvPr>
            <p:ph type="body" idx="1"/>
          </p:nvPr>
        </p:nvSpPr>
        <p:spPr>
          <a:xfrm>
            <a:off x="623391" y="1902575"/>
            <a:ext cx="10573997" cy="4478753"/>
          </a:xfrm>
          <a:prstGeom prst="rect">
            <a:avLst/>
          </a:prstGeom>
          <a:noFill/>
          <a:ln>
            <a:noFill/>
          </a:ln>
        </p:spPr>
        <p:txBody>
          <a:bodyPr spcFirstLastPara="1" wrap="square" lIns="0" tIns="45700" rIns="0" bIns="45700" anchor="t" anchorCtr="0">
            <a:normAutofit/>
          </a:bodyPr>
          <a:lstStyle/>
          <a:p>
            <a:pPr marL="914400" lvl="1" indent="-342900" algn="just" rtl="0">
              <a:lnSpc>
                <a:spcPct val="90000"/>
              </a:lnSpc>
              <a:spcBef>
                <a:spcPts val="200"/>
              </a:spcBef>
              <a:spcAft>
                <a:spcPts val="0"/>
              </a:spcAft>
              <a:buSzPts val="1800"/>
              <a:buFont typeface="Noto Sans Symbols"/>
              <a:buChar char="❑"/>
            </a:pPr>
            <a:r>
              <a:rPr lang="es-ES" sz="2400" dirty="0"/>
              <a:t>Desarrollo iterativo e incremental: pequeñas mejoras, unas tras otras.</a:t>
            </a:r>
            <a:endParaRPr dirty="0"/>
          </a:p>
          <a:p>
            <a:pPr marL="914400" lvl="1" indent="-342900" algn="just" rtl="0">
              <a:lnSpc>
                <a:spcPct val="90000"/>
              </a:lnSpc>
              <a:spcBef>
                <a:spcPts val="200"/>
              </a:spcBef>
              <a:spcAft>
                <a:spcPts val="0"/>
              </a:spcAft>
              <a:buSzPts val="1800"/>
              <a:buFont typeface="Noto Sans Symbols"/>
              <a:buChar char="❑"/>
            </a:pPr>
            <a:r>
              <a:rPr lang="es-ES" sz="2400" dirty="0"/>
              <a:t>Pruebas unitarias continuas, frecuentemente repetidas y automatizadas, incluyendo pruebas de regresión. </a:t>
            </a:r>
            <a:endParaRPr dirty="0"/>
          </a:p>
          <a:p>
            <a:pPr marL="914400" lvl="1" indent="-342900" algn="just" rtl="0">
              <a:lnSpc>
                <a:spcPct val="90000"/>
              </a:lnSpc>
              <a:spcBef>
                <a:spcPts val="200"/>
              </a:spcBef>
              <a:spcAft>
                <a:spcPts val="0"/>
              </a:spcAft>
              <a:buSzPts val="1800"/>
              <a:buFont typeface="Noto Sans Symbols"/>
              <a:buChar char="❑"/>
            </a:pPr>
            <a:r>
              <a:rPr lang="es-ES" sz="2400" dirty="0"/>
              <a:t>Programación en parejas</a:t>
            </a:r>
            <a:endParaRPr dirty="0"/>
          </a:p>
          <a:p>
            <a:pPr marL="914400" lvl="1" indent="-342900" algn="just" rtl="0">
              <a:lnSpc>
                <a:spcPct val="90000"/>
              </a:lnSpc>
              <a:spcBef>
                <a:spcPts val="200"/>
              </a:spcBef>
              <a:spcAft>
                <a:spcPts val="0"/>
              </a:spcAft>
              <a:buSzPts val="1800"/>
              <a:buFont typeface="Noto Sans Symbols"/>
              <a:buChar char="❑"/>
            </a:pPr>
            <a:r>
              <a:rPr lang="es-ES" sz="2400" dirty="0"/>
              <a:t>Frecuente integración del equipo de programación con el cliente o usuario. </a:t>
            </a:r>
            <a:endParaRPr dirty="0"/>
          </a:p>
          <a:p>
            <a:pPr marL="914400" lvl="1" indent="-342900" algn="just" rtl="0">
              <a:lnSpc>
                <a:spcPct val="90000"/>
              </a:lnSpc>
              <a:spcBef>
                <a:spcPts val="200"/>
              </a:spcBef>
              <a:spcAft>
                <a:spcPts val="0"/>
              </a:spcAft>
              <a:buSzPts val="1800"/>
              <a:buFont typeface="Noto Sans Symbols"/>
              <a:buChar char="❑"/>
            </a:pPr>
            <a:r>
              <a:rPr lang="es-ES" sz="2400" dirty="0"/>
              <a:t>Corrección de todos los errores antes de añadir nueva funcionalidad. </a:t>
            </a:r>
            <a:endParaRPr dirty="0"/>
          </a:p>
          <a:p>
            <a:pPr marL="914400" lvl="1" indent="-342900" algn="just" rtl="0">
              <a:lnSpc>
                <a:spcPct val="90000"/>
              </a:lnSpc>
              <a:spcBef>
                <a:spcPts val="200"/>
              </a:spcBef>
              <a:spcAft>
                <a:spcPts val="0"/>
              </a:spcAft>
              <a:buSzPts val="1800"/>
              <a:buFont typeface="Noto Sans Symbols"/>
              <a:buChar char="❑"/>
            </a:pPr>
            <a:r>
              <a:rPr lang="es-ES" sz="2400" dirty="0"/>
              <a:t>Refactorización del código</a:t>
            </a:r>
            <a:endParaRPr dirty="0"/>
          </a:p>
          <a:p>
            <a:pPr marL="914400" lvl="1" indent="-342900" algn="just" rtl="0">
              <a:lnSpc>
                <a:spcPct val="90000"/>
              </a:lnSpc>
              <a:spcBef>
                <a:spcPts val="200"/>
              </a:spcBef>
              <a:spcAft>
                <a:spcPts val="0"/>
              </a:spcAft>
              <a:buSzPts val="1800"/>
              <a:buFont typeface="Noto Sans Symbols"/>
              <a:buChar char="❑"/>
            </a:pPr>
            <a:r>
              <a:rPr lang="es-ES" sz="2400" dirty="0"/>
              <a:t>Propiedad del código compartida</a:t>
            </a:r>
            <a:endParaRPr dirty="0"/>
          </a:p>
          <a:p>
            <a:pPr marL="914400" lvl="1" indent="-342900" algn="just" rtl="0">
              <a:lnSpc>
                <a:spcPct val="90000"/>
              </a:lnSpc>
              <a:spcBef>
                <a:spcPts val="200"/>
              </a:spcBef>
              <a:spcAft>
                <a:spcPts val="0"/>
              </a:spcAft>
              <a:buSzPts val="1800"/>
              <a:buFont typeface="Noto Sans Symbols"/>
              <a:buChar char="❑"/>
            </a:pPr>
            <a:r>
              <a:rPr lang="es-ES" sz="2400" dirty="0"/>
              <a:t>Simplicidad en el código</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9" name="Google Shape;329;p17"/>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17</a:t>
            </a:fld>
            <a:endParaRPr/>
          </a:p>
        </p:txBody>
      </p:sp>
      <p:pic>
        <p:nvPicPr>
          <p:cNvPr id="330" name="Google Shape;330;p17"/>
          <p:cNvPicPr preferRelativeResize="0">
            <a:picLocks noGrp="1"/>
          </p:cNvPicPr>
          <p:nvPr>
            <p:ph type="body" idx="4294967295"/>
          </p:nvPr>
        </p:nvPicPr>
        <p:blipFill rotWithShape="1">
          <a:blip r:embed="rId3">
            <a:alphaModFix/>
          </a:blip>
          <a:srcRect/>
          <a:stretch/>
        </p:blipFill>
        <p:spPr>
          <a:xfrm>
            <a:off x="9751534" y="675029"/>
            <a:ext cx="1500187" cy="862012"/>
          </a:xfrm>
          <a:prstGeom prst="rect">
            <a:avLst/>
          </a:prstGeom>
          <a:noFill/>
          <a:ln>
            <a:noFill/>
          </a:ln>
        </p:spPr>
      </p:pic>
      <p:sp>
        <p:nvSpPr>
          <p:cNvPr id="331" name="Google Shape;331;p17"/>
          <p:cNvSpPr/>
          <p:nvPr/>
        </p:nvSpPr>
        <p:spPr>
          <a:xfrm>
            <a:off x="1263627" y="2198688"/>
            <a:ext cx="5105089" cy="1938992"/>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es-ES" sz="2400" b="0" i="0" u="none" strike="noStrike" cap="none" dirty="0">
                <a:solidFill>
                  <a:srgbClr val="000000"/>
                </a:solidFill>
                <a:latin typeface="Arial"/>
                <a:ea typeface="Arial"/>
                <a:cs typeface="Arial"/>
                <a:sym typeface="Arial"/>
              </a:rPr>
              <a:t>Los principios básicos de la </a:t>
            </a:r>
            <a:r>
              <a:rPr lang="es-ES" sz="2400" b="0" i="1" u="none" strike="noStrike" cap="none" dirty="0">
                <a:solidFill>
                  <a:srgbClr val="000000"/>
                </a:solidFill>
                <a:latin typeface="Arial"/>
                <a:ea typeface="Arial"/>
                <a:cs typeface="Arial"/>
                <a:sym typeface="Arial"/>
              </a:rPr>
              <a:t>Programación Extrema (XP) [Beck, 1999] </a:t>
            </a:r>
            <a:r>
              <a:rPr lang="es-ES" sz="2400" b="0" i="0" u="none" strike="noStrike" cap="none" dirty="0">
                <a:solidFill>
                  <a:srgbClr val="000000"/>
                </a:solidFill>
                <a:latin typeface="Arial"/>
                <a:ea typeface="Arial"/>
                <a:cs typeface="Arial"/>
                <a:sym typeface="Arial"/>
              </a:rPr>
              <a:t>son :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400"/>
              <a:buFont typeface="Arial"/>
              <a:buNone/>
            </a:pPr>
            <a:endParaRPr sz="2400" b="0" i="0" u="none" strike="noStrike" cap="none" dirty="0">
              <a:solidFill>
                <a:srgbClr val="000000"/>
              </a:solidFill>
              <a:latin typeface="Arial"/>
              <a:ea typeface="Arial"/>
              <a:cs typeface="Arial"/>
              <a:sym typeface="Arial"/>
            </a:endParaRPr>
          </a:p>
        </p:txBody>
      </p:sp>
      <p:pic>
        <p:nvPicPr>
          <p:cNvPr id="332" name="Google Shape;332;p17"/>
          <p:cNvPicPr preferRelativeResize="0"/>
          <p:nvPr/>
        </p:nvPicPr>
        <p:blipFill rotWithShape="1">
          <a:blip r:embed="rId4">
            <a:alphaModFix/>
          </a:blip>
          <a:srcRect/>
          <a:stretch/>
        </p:blipFill>
        <p:spPr>
          <a:xfrm>
            <a:off x="7016061" y="1816432"/>
            <a:ext cx="4822800" cy="4100824"/>
          </a:xfrm>
          <a:prstGeom prst="rect">
            <a:avLst/>
          </a:prstGeom>
          <a:noFill/>
          <a:ln>
            <a:noFill/>
          </a:ln>
        </p:spPr>
      </p:pic>
      <p:sp>
        <p:nvSpPr>
          <p:cNvPr id="4" name="Google Shape;321;p16">
            <a:extLst>
              <a:ext uri="{FF2B5EF4-FFF2-40B4-BE49-F238E27FC236}">
                <a16:creationId xmlns:a16="http://schemas.microsoft.com/office/drawing/2014/main" id="{8D9ADEF5-80EC-011A-B94F-633A1D45E93D}"/>
              </a:ext>
            </a:extLst>
          </p:cNvPr>
          <p:cNvSpPr txBox="1">
            <a:spLocks/>
          </p:cNvSpPr>
          <p:nvPr/>
        </p:nvSpPr>
        <p:spPr>
          <a:xfrm>
            <a:off x="1066086" y="541313"/>
            <a:ext cx="10772775" cy="1129444"/>
          </a:xfrm>
          <a:prstGeom prst="rect">
            <a:avLst/>
          </a:prstGeom>
          <a:noFill/>
          <a:ln>
            <a:noFill/>
          </a:ln>
        </p:spPr>
        <p:txBody>
          <a:bodyPr spcFirstLastPara="1" wrap="square" lIns="91425" tIns="45700" rIns="91425" bIns="45700" anchor="b" anchorCtr="0">
            <a:normAutofit/>
          </a:bodyPr>
          <a:lstStyle>
            <a:defPPr marR="0" lvl="0" algn="l" rtl="0">
              <a:lnSpc>
                <a:spcPct val="100000"/>
              </a:lnSpc>
              <a:spcBef>
                <a:spcPts val="0"/>
              </a:spcBef>
              <a:spcAft>
                <a:spcPts val="0"/>
              </a:spcAft>
            </a:defPPr>
            <a:lvl1pPr marR="0" lvl="0" algn="l" rtl="0">
              <a:lnSpc>
                <a:spcPct val="85000"/>
              </a:lnSpc>
              <a:spcBef>
                <a:spcPts val="0"/>
              </a:spcBef>
              <a:spcAft>
                <a:spcPts val="0"/>
              </a:spcAft>
              <a:buClr>
                <a:srgbClr val="3F3F3F"/>
              </a:buClr>
              <a:buSzPts val="1800"/>
              <a:buFont typeface="Calibri"/>
              <a:buNone/>
              <a:defRPr sz="4800" b="0" i="0" u="none" strike="noStrike" cap="none">
                <a:solidFill>
                  <a:srgbClr val="3F3F3F"/>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4800"/>
            </a:pPr>
            <a:r>
              <a:rPr lang="es-ES" sz="4000" dirty="0" err="1"/>
              <a:t>eXtreme</a:t>
            </a:r>
            <a:r>
              <a:rPr lang="es-ES" sz="4000" dirty="0"/>
              <a:t> </a:t>
            </a:r>
            <a:r>
              <a:rPr lang="es-ES" sz="4000" dirty="0" err="1"/>
              <a:t>Programming</a:t>
            </a:r>
            <a:endParaRPr lang="es-ES" sz="4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18"/>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err="1"/>
              <a:t>eXtreme</a:t>
            </a:r>
            <a:r>
              <a:rPr lang="es-ES" sz="4000" dirty="0"/>
              <a:t> </a:t>
            </a:r>
            <a:r>
              <a:rPr lang="es-ES" sz="4000" dirty="0" err="1"/>
              <a:t>Programming</a:t>
            </a:r>
            <a:r>
              <a:rPr lang="es-ES" sz="4000" dirty="0"/>
              <a:t> - Características</a:t>
            </a:r>
            <a:endParaRPr sz="4000" dirty="0"/>
          </a:p>
        </p:txBody>
      </p:sp>
      <p:sp>
        <p:nvSpPr>
          <p:cNvPr id="338" name="Google Shape;338;p1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18</a:t>
            </a:fld>
            <a:endParaRPr/>
          </a:p>
        </p:txBody>
      </p:sp>
      <p:sp>
        <p:nvSpPr>
          <p:cNvPr id="339" name="Google Shape;339;p18"/>
          <p:cNvSpPr txBox="1"/>
          <p:nvPr/>
        </p:nvSpPr>
        <p:spPr>
          <a:xfrm>
            <a:off x="1097280" y="1905506"/>
            <a:ext cx="7200900" cy="3046988"/>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800"/>
              <a:buFont typeface="Arial"/>
              <a:buNone/>
            </a:pPr>
            <a:r>
              <a:rPr lang="es-ES" sz="2800" b="0" i="0" u="none" strike="noStrike" cap="none" dirty="0">
                <a:solidFill>
                  <a:schemeClr val="dk1"/>
                </a:solidFill>
                <a:latin typeface="Arial"/>
                <a:ea typeface="Arial"/>
                <a:cs typeface="Arial"/>
                <a:sym typeface="Arial"/>
              </a:rPr>
              <a:t>Las características esenciales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800"/>
              <a:buFont typeface="Arial"/>
              <a:buNone/>
            </a:pPr>
            <a:r>
              <a:rPr lang="es-ES" sz="28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914400" marR="0" lvl="1" indent="-457200" algn="just" rtl="0">
              <a:lnSpc>
                <a:spcPct val="100000"/>
              </a:lnSpc>
              <a:spcBef>
                <a:spcPts val="0"/>
              </a:spcBef>
              <a:spcAft>
                <a:spcPts val="0"/>
              </a:spcAft>
              <a:buClr>
                <a:srgbClr val="000000"/>
              </a:buClr>
              <a:buSzPts val="2800"/>
              <a:buFont typeface="Noto Sans Symbols"/>
              <a:buChar char="❑"/>
            </a:pPr>
            <a:r>
              <a:rPr lang="es-ES" sz="2800" b="0" i="0" u="none" strike="noStrike" cap="none" dirty="0">
                <a:solidFill>
                  <a:schemeClr val="dk1"/>
                </a:solidFill>
                <a:latin typeface="Arial"/>
                <a:ea typeface="Arial"/>
                <a:cs typeface="Arial"/>
                <a:sym typeface="Arial"/>
              </a:rPr>
              <a:t>Historias de usuario</a:t>
            </a:r>
            <a:endParaRPr sz="1400" b="0" i="0" u="none" strike="noStrike" cap="none" dirty="0">
              <a:solidFill>
                <a:srgbClr val="000000"/>
              </a:solidFill>
              <a:latin typeface="Arial"/>
              <a:ea typeface="Arial"/>
              <a:cs typeface="Arial"/>
              <a:sym typeface="Arial"/>
            </a:endParaRPr>
          </a:p>
          <a:p>
            <a:pPr marL="914400" marR="0" lvl="1" indent="-457200" algn="just" rtl="0">
              <a:lnSpc>
                <a:spcPct val="100000"/>
              </a:lnSpc>
              <a:spcBef>
                <a:spcPts val="0"/>
              </a:spcBef>
              <a:spcAft>
                <a:spcPts val="0"/>
              </a:spcAft>
              <a:buClr>
                <a:srgbClr val="000000"/>
              </a:buClr>
              <a:buSzPts val="2800"/>
              <a:buFont typeface="Noto Sans Symbols"/>
              <a:buChar char="❑"/>
            </a:pPr>
            <a:r>
              <a:rPr lang="es-ES" sz="2800" b="0" i="0" u="none" strike="noStrike" cap="none" dirty="0">
                <a:solidFill>
                  <a:schemeClr val="dk1"/>
                </a:solidFill>
                <a:latin typeface="Arial"/>
                <a:ea typeface="Arial"/>
                <a:cs typeface="Arial"/>
                <a:sym typeface="Arial"/>
              </a:rPr>
              <a:t>Roles</a:t>
            </a:r>
            <a:endParaRPr sz="1400" b="0" i="0" u="none" strike="noStrike" cap="none" dirty="0">
              <a:solidFill>
                <a:srgbClr val="000000"/>
              </a:solidFill>
              <a:latin typeface="Arial"/>
              <a:ea typeface="Arial"/>
              <a:cs typeface="Arial"/>
              <a:sym typeface="Arial"/>
            </a:endParaRPr>
          </a:p>
          <a:p>
            <a:pPr marL="914400" marR="0" lvl="1" indent="-457200" algn="just" rtl="0">
              <a:lnSpc>
                <a:spcPct val="100000"/>
              </a:lnSpc>
              <a:spcBef>
                <a:spcPts val="0"/>
              </a:spcBef>
              <a:spcAft>
                <a:spcPts val="0"/>
              </a:spcAft>
              <a:buClr>
                <a:srgbClr val="000000"/>
              </a:buClr>
              <a:buSzPts val="2800"/>
              <a:buFont typeface="Noto Sans Symbols"/>
              <a:buChar char="❑"/>
            </a:pPr>
            <a:r>
              <a:rPr lang="es-ES" sz="2800" b="0" i="0" u="none" strike="noStrike" cap="none" dirty="0">
                <a:solidFill>
                  <a:schemeClr val="dk1"/>
                </a:solidFill>
                <a:latin typeface="Arial"/>
                <a:ea typeface="Arial"/>
                <a:cs typeface="Arial"/>
                <a:sym typeface="Arial"/>
              </a:rPr>
              <a:t>Proceso </a:t>
            </a:r>
            <a:endParaRPr sz="1400" b="0" i="0" u="none" strike="noStrike" cap="none" dirty="0">
              <a:solidFill>
                <a:srgbClr val="000000"/>
              </a:solidFill>
              <a:latin typeface="Arial"/>
              <a:ea typeface="Arial"/>
              <a:cs typeface="Arial"/>
              <a:sym typeface="Arial"/>
            </a:endParaRPr>
          </a:p>
          <a:p>
            <a:pPr marL="914400" marR="0" lvl="1" indent="-457200" algn="just" rtl="0">
              <a:lnSpc>
                <a:spcPct val="100000"/>
              </a:lnSpc>
              <a:spcBef>
                <a:spcPts val="0"/>
              </a:spcBef>
              <a:spcAft>
                <a:spcPts val="0"/>
              </a:spcAft>
              <a:buClr>
                <a:srgbClr val="000000"/>
              </a:buClr>
              <a:buSzPts val="2800"/>
              <a:buFont typeface="Noto Sans Symbols"/>
              <a:buChar char="❑"/>
            </a:pPr>
            <a:r>
              <a:rPr lang="es-ES" sz="2800" b="0" i="0" u="none" strike="noStrike" cap="none" dirty="0">
                <a:solidFill>
                  <a:schemeClr val="dk1"/>
                </a:solidFill>
                <a:latin typeface="Arial"/>
                <a:ea typeface="Arial"/>
                <a:cs typeface="Arial"/>
                <a:sym typeface="Arial"/>
              </a:rPr>
              <a:t>Prácticas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400"/>
              <a:buFont typeface="Arial"/>
              <a:buNone/>
            </a:pPr>
            <a:endParaRPr sz="2400" b="0" i="0" u="none" strike="noStrike" cap="none" dirty="0">
              <a:solidFill>
                <a:schemeClr val="dk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1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1800"/>
              <a:buNone/>
            </a:pPr>
            <a:r>
              <a:rPr lang="es-ES" sz="4000"/>
              <a:t>XP - Roles </a:t>
            </a:r>
            <a:endParaRPr/>
          </a:p>
        </p:txBody>
      </p:sp>
      <p:sp>
        <p:nvSpPr>
          <p:cNvPr id="345" name="Google Shape;345;p19"/>
          <p:cNvSpPr txBox="1">
            <a:spLocks noGrp="1"/>
          </p:cNvSpPr>
          <p:nvPr>
            <p:ph type="body" idx="1"/>
          </p:nvPr>
        </p:nvSpPr>
        <p:spPr>
          <a:xfrm>
            <a:off x="1097281" y="1845734"/>
            <a:ext cx="4465321" cy="4023360"/>
          </a:xfrm>
          <a:prstGeom prst="rect">
            <a:avLst/>
          </a:prstGeom>
          <a:solidFill>
            <a:schemeClr val="lt1"/>
          </a:solidFill>
          <a:ln>
            <a:noFill/>
          </a:ln>
        </p:spPr>
        <p:txBody>
          <a:bodyPr spcFirstLastPara="1" wrap="square" lIns="0" tIns="45700" rIns="0" bIns="45700" anchor="t" anchorCtr="0">
            <a:normAutofit/>
          </a:bodyPr>
          <a:lstStyle/>
          <a:p>
            <a:pPr marL="182880" lvl="0" indent="-182880" algn="l" rtl="0">
              <a:lnSpc>
                <a:spcPct val="120000"/>
              </a:lnSpc>
              <a:spcBef>
                <a:spcPts val="1195"/>
              </a:spcBef>
              <a:spcAft>
                <a:spcPts val="0"/>
              </a:spcAft>
              <a:buSzPts val="1800"/>
              <a:buFont typeface="Arial"/>
              <a:buChar char="•"/>
            </a:pPr>
            <a:r>
              <a:rPr lang="es-ES" sz="3200" dirty="0">
                <a:solidFill>
                  <a:schemeClr val="dk1"/>
                </a:solidFill>
              </a:rPr>
              <a:t>Programador </a:t>
            </a:r>
            <a:r>
              <a:rPr lang="es-ES" sz="2400" i="1" dirty="0">
                <a:solidFill>
                  <a:schemeClr val="dk1"/>
                </a:solidFill>
              </a:rPr>
              <a:t>(</a:t>
            </a:r>
            <a:r>
              <a:rPr lang="es-ES" sz="2400" i="1" dirty="0" err="1">
                <a:solidFill>
                  <a:schemeClr val="dk1"/>
                </a:solidFill>
              </a:rPr>
              <a:t>Programmer</a:t>
            </a:r>
            <a:r>
              <a:rPr lang="es-ES" sz="2400" i="1" dirty="0">
                <a:solidFill>
                  <a:schemeClr val="dk1"/>
                </a:solidFill>
              </a:rPr>
              <a:t>)</a:t>
            </a:r>
            <a:endParaRPr dirty="0"/>
          </a:p>
          <a:p>
            <a:pPr marL="914400" lvl="1" indent="-342900" algn="l" rtl="0">
              <a:lnSpc>
                <a:spcPct val="120000"/>
              </a:lnSpc>
              <a:spcBef>
                <a:spcPts val="199"/>
              </a:spcBef>
              <a:spcAft>
                <a:spcPts val="0"/>
              </a:spcAft>
              <a:buSzPts val="1800"/>
              <a:buFont typeface="Arial"/>
              <a:buChar char="•"/>
            </a:pPr>
            <a:r>
              <a:rPr lang="es-ES" dirty="0">
                <a:solidFill>
                  <a:schemeClr val="dk1"/>
                </a:solidFill>
              </a:rPr>
              <a:t>Responsable de decisiones técnicas</a:t>
            </a:r>
            <a:endParaRPr dirty="0"/>
          </a:p>
          <a:p>
            <a:pPr marL="914400" lvl="1" indent="-342900" algn="l" rtl="0">
              <a:lnSpc>
                <a:spcPct val="120000"/>
              </a:lnSpc>
              <a:spcBef>
                <a:spcPts val="199"/>
              </a:spcBef>
              <a:spcAft>
                <a:spcPts val="0"/>
              </a:spcAft>
              <a:buSzPts val="1800"/>
              <a:buFont typeface="Arial"/>
              <a:buChar char="•"/>
            </a:pPr>
            <a:r>
              <a:rPr lang="es-ES" dirty="0">
                <a:solidFill>
                  <a:schemeClr val="dk1"/>
                </a:solidFill>
              </a:rPr>
              <a:t>Responsable de construir el sistema</a:t>
            </a:r>
            <a:endParaRPr dirty="0"/>
          </a:p>
          <a:p>
            <a:pPr marL="914400" lvl="1" indent="-342900" algn="l" rtl="0">
              <a:lnSpc>
                <a:spcPct val="120000"/>
              </a:lnSpc>
              <a:spcBef>
                <a:spcPts val="199"/>
              </a:spcBef>
              <a:spcAft>
                <a:spcPts val="0"/>
              </a:spcAft>
              <a:buSzPts val="1800"/>
              <a:buFont typeface="Arial"/>
              <a:buChar char="•"/>
            </a:pPr>
            <a:r>
              <a:rPr lang="es-ES" dirty="0">
                <a:solidFill>
                  <a:schemeClr val="dk1"/>
                </a:solidFill>
              </a:rPr>
              <a:t>Sin distinción entre analistas, diseñadores o codificadores</a:t>
            </a:r>
            <a:endParaRPr dirty="0"/>
          </a:p>
          <a:p>
            <a:pPr marL="914400" lvl="1" indent="-342900" algn="l" rtl="0">
              <a:lnSpc>
                <a:spcPct val="120000"/>
              </a:lnSpc>
              <a:spcBef>
                <a:spcPts val="199"/>
              </a:spcBef>
              <a:spcAft>
                <a:spcPts val="0"/>
              </a:spcAft>
              <a:buSzPts val="1800"/>
              <a:buFont typeface="Arial"/>
              <a:buChar char="•"/>
            </a:pPr>
            <a:r>
              <a:rPr lang="es-ES" dirty="0">
                <a:solidFill>
                  <a:schemeClr val="dk1"/>
                </a:solidFill>
              </a:rPr>
              <a:t>En XP, los programadores diseñan, programan y realizan las pruebas</a:t>
            </a:r>
            <a:endParaRPr dirty="0">
              <a:solidFill>
                <a:schemeClr val="dk1"/>
              </a:solidFill>
            </a:endParaRPr>
          </a:p>
        </p:txBody>
      </p:sp>
      <p:sp>
        <p:nvSpPr>
          <p:cNvPr id="346" name="Google Shape;346;p1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19</a:t>
            </a:fld>
            <a:endParaRPr/>
          </a:p>
        </p:txBody>
      </p:sp>
      <p:sp>
        <p:nvSpPr>
          <p:cNvPr id="347" name="Google Shape;347;p19"/>
          <p:cNvSpPr txBox="1">
            <a:spLocks noGrp="1"/>
          </p:cNvSpPr>
          <p:nvPr>
            <p:ph type="body" idx="4294967295"/>
          </p:nvPr>
        </p:nvSpPr>
        <p:spPr>
          <a:xfrm>
            <a:off x="6560819" y="2010004"/>
            <a:ext cx="4533900" cy="4114800"/>
          </a:xfrm>
          <a:prstGeom prst="rect">
            <a:avLst/>
          </a:prstGeom>
          <a:solidFill>
            <a:schemeClr val="lt1"/>
          </a:solidFill>
          <a:ln>
            <a:noFill/>
          </a:ln>
        </p:spPr>
        <p:txBody>
          <a:bodyPr spcFirstLastPara="1" wrap="square" lIns="0" tIns="45700" rIns="0" bIns="45700" anchor="t" anchorCtr="0">
            <a:normAutofit/>
          </a:bodyPr>
          <a:lstStyle/>
          <a:p>
            <a:pPr marL="182880" lvl="0" indent="-182880" algn="l" rtl="0">
              <a:lnSpc>
                <a:spcPct val="110000"/>
              </a:lnSpc>
              <a:spcBef>
                <a:spcPts val="1200"/>
              </a:spcBef>
              <a:spcAft>
                <a:spcPts val="0"/>
              </a:spcAft>
              <a:buSzPts val="2000"/>
              <a:buFont typeface="Arial"/>
              <a:buChar char="•"/>
            </a:pPr>
            <a:r>
              <a:rPr lang="es-ES" sz="3200">
                <a:solidFill>
                  <a:schemeClr val="dk1"/>
                </a:solidFill>
              </a:rPr>
              <a:t>Jefe de Proyecto</a:t>
            </a:r>
            <a:r>
              <a:rPr lang="es-ES">
                <a:solidFill>
                  <a:schemeClr val="dk1"/>
                </a:solidFill>
              </a:rPr>
              <a:t> </a:t>
            </a:r>
            <a:r>
              <a:rPr lang="es-ES" i="1">
                <a:solidFill>
                  <a:schemeClr val="dk1"/>
                </a:solidFill>
              </a:rPr>
              <a:t>(Manager)</a:t>
            </a:r>
            <a:endParaRPr/>
          </a:p>
          <a:p>
            <a:pPr marL="914400" lvl="1" indent="-342900" algn="l" rtl="0">
              <a:lnSpc>
                <a:spcPct val="110000"/>
              </a:lnSpc>
              <a:spcBef>
                <a:spcPts val="200"/>
              </a:spcBef>
              <a:spcAft>
                <a:spcPts val="0"/>
              </a:spcAft>
              <a:buSzPts val="1800"/>
              <a:buFont typeface="Arial"/>
              <a:buChar char="•"/>
            </a:pPr>
            <a:r>
              <a:rPr lang="es-ES">
                <a:solidFill>
                  <a:schemeClr val="dk1"/>
                </a:solidFill>
              </a:rPr>
              <a:t>Organiza y guía las reuniones</a:t>
            </a:r>
            <a:endParaRPr/>
          </a:p>
          <a:p>
            <a:pPr marL="914400" lvl="1" indent="-342900" algn="l" rtl="0">
              <a:lnSpc>
                <a:spcPct val="110000"/>
              </a:lnSpc>
              <a:spcBef>
                <a:spcPts val="200"/>
              </a:spcBef>
              <a:spcAft>
                <a:spcPts val="0"/>
              </a:spcAft>
              <a:buSzPts val="1800"/>
              <a:buFont typeface="Arial"/>
              <a:buChar char="•"/>
            </a:pPr>
            <a:r>
              <a:rPr lang="es-ES">
                <a:solidFill>
                  <a:schemeClr val="dk1"/>
                </a:solidFill>
              </a:rPr>
              <a:t>Asegura condiciones adecuadas para el proyecto</a:t>
            </a:r>
            <a:endParaRPr/>
          </a:p>
          <a:p>
            <a:pPr marL="914400" lvl="1" indent="-228600" algn="l" rtl="0">
              <a:lnSpc>
                <a:spcPct val="110000"/>
              </a:lnSpc>
              <a:spcBef>
                <a:spcPts val="200"/>
              </a:spcBef>
              <a:spcAft>
                <a:spcPts val="0"/>
              </a:spcAft>
              <a:buSzPts val="1800"/>
              <a:buFont typeface="Arial"/>
              <a:buNone/>
            </a:pPr>
            <a:endParaRPr>
              <a:solidFill>
                <a:schemeClr val="dk1"/>
              </a:solidFill>
            </a:endParaRPr>
          </a:p>
          <a:p>
            <a:pPr marL="182880" lvl="0" indent="-182880" algn="l" rtl="0">
              <a:lnSpc>
                <a:spcPct val="110000"/>
              </a:lnSpc>
              <a:spcBef>
                <a:spcPts val="1200"/>
              </a:spcBef>
              <a:spcAft>
                <a:spcPts val="0"/>
              </a:spcAft>
              <a:buSzPts val="2000"/>
              <a:buFont typeface="Arial"/>
              <a:buChar char="•"/>
            </a:pPr>
            <a:r>
              <a:rPr lang="es-ES" sz="3200">
                <a:solidFill>
                  <a:schemeClr val="dk1"/>
                </a:solidFill>
              </a:rPr>
              <a:t>Cliente</a:t>
            </a:r>
            <a:r>
              <a:rPr lang="es-ES">
                <a:solidFill>
                  <a:schemeClr val="dk1"/>
                </a:solidFill>
              </a:rPr>
              <a:t> </a:t>
            </a:r>
            <a:r>
              <a:rPr lang="es-ES" i="1">
                <a:solidFill>
                  <a:schemeClr val="dk1"/>
                </a:solidFill>
              </a:rPr>
              <a:t>(Customer)</a:t>
            </a:r>
            <a:endParaRPr/>
          </a:p>
          <a:p>
            <a:pPr marL="914400" lvl="1" indent="-342900" algn="l" rtl="0">
              <a:lnSpc>
                <a:spcPct val="110000"/>
              </a:lnSpc>
              <a:spcBef>
                <a:spcPts val="200"/>
              </a:spcBef>
              <a:spcAft>
                <a:spcPts val="0"/>
              </a:spcAft>
              <a:buSzPts val="1800"/>
              <a:buFont typeface="Arial"/>
              <a:buChar char="•"/>
            </a:pPr>
            <a:r>
              <a:rPr lang="es-ES">
                <a:solidFill>
                  <a:schemeClr val="dk1"/>
                </a:solidFill>
              </a:rPr>
              <a:t>Es parte del equipo</a:t>
            </a:r>
            <a:endParaRPr/>
          </a:p>
          <a:p>
            <a:pPr marL="914400" lvl="1" indent="-342900" algn="l" rtl="0">
              <a:lnSpc>
                <a:spcPct val="110000"/>
              </a:lnSpc>
              <a:spcBef>
                <a:spcPts val="200"/>
              </a:spcBef>
              <a:spcAft>
                <a:spcPts val="0"/>
              </a:spcAft>
              <a:buSzPts val="1800"/>
              <a:buFont typeface="Arial"/>
              <a:buChar char="•"/>
            </a:pPr>
            <a:r>
              <a:rPr lang="es-ES">
                <a:solidFill>
                  <a:schemeClr val="dk1"/>
                </a:solidFill>
              </a:rPr>
              <a:t>Determina qué construir y cuándo</a:t>
            </a:r>
            <a:endParaRPr/>
          </a:p>
          <a:p>
            <a:pPr marL="914400" lvl="1" indent="-342900" algn="l" rtl="0">
              <a:lnSpc>
                <a:spcPct val="110000"/>
              </a:lnSpc>
              <a:spcBef>
                <a:spcPts val="200"/>
              </a:spcBef>
              <a:spcAft>
                <a:spcPts val="0"/>
              </a:spcAft>
              <a:buSzPts val="1800"/>
              <a:buFont typeface="Arial"/>
              <a:buChar char="•"/>
            </a:pPr>
            <a:r>
              <a:rPr lang="es-ES">
                <a:solidFill>
                  <a:schemeClr val="dk1"/>
                </a:solidFill>
              </a:rPr>
              <a:t>Establece las pruebas funcionales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2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1800"/>
              <a:buNone/>
            </a:pPr>
            <a:r>
              <a:rPr lang="es-ES" sz="4000"/>
              <a:t>XP - Roles</a:t>
            </a:r>
            <a:endParaRPr/>
          </a:p>
        </p:txBody>
      </p:sp>
      <p:sp>
        <p:nvSpPr>
          <p:cNvPr id="353" name="Google Shape;353;p20"/>
          <p:cNvSpPr txBox="1">
            <a:spLocks noGrp="1"/>
          </p:cNvSpPr>
          <p:nvPr>
            <p:ph type="body" idx="1"/>
          </p:nvPr>
        </p:nvSpPr>
        <p:spPr>
          <a:xfrm>
            <a:off x="1097281" y="1845734"/>
            <a:ext cx="4822800" cy="4023360"/>
          </a:xfrm>
          <a:prstGeom prst="rect">
            <a:avLst/>
          </a:prstGeom>
          <a:noFill/>
          <a:ln>
            <a:noFill/>
          </a:ln>
        </p:spPr>
        <p:txBody>
          <a:bodyPr spcFirstLastPara="1" wrap="square" lIns="0" tIns="45700" rIns="0" bIns="45700" anchor="t" anchorCtr="0">
            <a:normAutofit/>
          </a:bodyPr>
          <a:lstStyle/>
          <a:p>
            <a:pPr marL="182880" lvl="0" indent="-182880" algn="l" rtl="0">
              <a:lnSpc>
                <a:spcPct val="120000"/>
              </a:lnSpc>
              <a:spcBef>
                <a:spcPts val="1195"/>
              </a:spcBef>
              <a:spcAft>
                <a:spcPts val="0"/>
              </a:spcAft>
              <a:buSzPts val="1800"/>
              <a:buFont typeface="Arial"/>
              <a:buChar char="•"/>
            </a:pPr>
            <a:r>
              <a:rPr lang="es-ES" sz="3200">
                <a:solidFill>
                  <a:schemeClr val="dk1"/>
                </a:solidFill>
              </a:rPr>
              <a:t>Entrenador</a:t>
            </a:r>
            <a:r>
              <a:rPr lang="es-ES" sz="3600">
                <a:solidFill>
                  <a:schemeClr val="dk1"/>
                </a:solidFill>
              </a:rPr>
              <a:t> </a:t>
            </a:r>
            <a:r>
              <a:rPr lang="es-ES" sz="2400" i="1">
                <a:solidFill>
                  <a:schemeClr val="dk1"/>
                </a:solidFill>
              </a:rPr>
              <a:t>(Coach)</a:t>
            </a:r>
            <a:endParaRPr/>
          </a:p>
          <a:p>
            <a:pPr marL="914400" lvl="1" indent="-342900" algn="l" rtl="0">
              <a:lnSpc>
                <a:spcPct val="120000"/>
              </a:lnSpc>
              <a:spcBef>
                <a:spcPts val="199"/>
              </a:spcBef>
              <a:spcAft>
                <a:spcPts val="0"/>
              </a:spcAft>
              <a:buSzPts val="1800"/>
              <a:buFont typeface="Arial"/>
              <a:buChar char="•"/>
            </a:pPr>
            <a:r>
              <a:rPr lang="es-ES">
                <a:solidFill>
                  <a:schemeClr val="dk1"/>
                </a:solidFill>
              </a:rPr>
              <a:t>Responsable del proceso</a:t>
            </a:r>
            <a:endParaRPr/>
          </a:p>
          <a:p>
            <a:pPr marL="914400" lvl="1" indent="-342900" algn="l" rtl="0">
              <a:lnSpc>
                <a:spcPct val="120000"/>
              </a:lnSpc>
              <a:spcBef>
                <a:spcPts val="199"/>
              </a:spcBef>
              <a:spcAft>
                <a:spcPts val="0"/>
              </a:spcAft>
              <a:buSzPts val="1800"/>
              <a:buFont typeface="Arial"/>
              <a:buChar char="•"/>
            </a:pPr>
            <a:r>
              <a:rPr lang="es-ES">
                <a:solidFill>
                  <a:schemeClr val="dk1"/>
                </a:solidFill>
              </a:rPr>
              <a:t>Tiende a estar en un segundo plano a medida que el equipo madura</a:t>
            </a:r>
            <a:endParaRPr/>
          </a:p>
          <a:p>
            <a:pPr marL="914400" lvl="1" indent="-228600" algn="l" rtl="0">
              <a:lnSpc>
                <a:spcPct val="120000"/>
              </a:lnSpc>
              <a:spcBef>
                <a:spcPts val="199"/>
              </a:spcBef>
              <a:spcAft>
                <a:spcPts val="0"/>
              </a:spcAft>
              <a:buSzPts val="1800"/>
              <a:buFont typeface="Arial"/>
              <a:buNone/>
            </a:pPr>
            <a:endParaRPr sz="2800">
              <a:solidFill>
                <a:schemeClr val="dk1"/>
              </a:solidFill>
            </a:endParaRPr>
          </a:p>
        </p:txBody>
      </p:sp>
      <p:sp>
        <p:nvSpPr>
          <p:cNvPr id="354" name="Google Shape;354;p2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20</a:t>
            </a:fld>
            <a:endParaRPr/>
          </a:p>
        </p:txBody>
      </p:sp>
      <p:sp>
        <p:nvSpPr>
          <p:cNvPr id="355" name="Google Shape;355;p20"/>
          <p:cNvSpPr txBox="1">
            <a:spLocks noGrp="1"/>
          </p:cNvSpPr>
          <p:nvPr>
            <p:ph type="body" idx="4294967295"/>
          </p:nvPr>
        </p:nvSpPr>
        <p:spPr>
          <a:xfrm>
            <a:off x="6590381" y="2051112"/>
            <a:ext cx="4751387" cy="4000500"/>
          </a:xfrm>
          <a:prstGeom prst="rect">
            <a:avLst/>
          </a:prstGeom>
          <a:noFill/>
          <a:ln>
            <a:noFill/>
          </a:ln>
        </p:spPr>
        <p:txBody>
          <a:bodyPr spcFirstLastPara="1" wrap="square" lIns="0" tIns="45700" rIns="0" bIns="45700" anchor="t" anchorCtr="0">
            <a:normAutofit/>
          </a:bodyPr>
          <a:lstStyle/>
          <a:p>
            <a:pPr marL="182880" lvl="0" indent="-182880" algn="l" rtl="0">
              <a:lnSpc>
                <a:spcPct val="120000"/>
              </a:lnSpc>
              <a:spcBef>
                <a:spcPts val="1200"/>
              </a:spcBef>
              <a:spcAft>
                <a:spcPts val="0"/>
              </a:spcAft>
              <a:buSzPts val="2000"/>
              <a:buFont typeface="Arial"/>
              <a:buChar char="•"/>
            </a:pPr>
            <a:r>
              <a:rPr lang="es-ES" sz="3200" dirty="0">
                <a:solidFill>
                  <a:schemeClr val="dk1"/>
                </a:solidFill>
              </a:rPr>
              <a:t>Encargado de Pruebas</a:t>
            </a:r>
            <a:r>
              <a:rPr lang="es-ES" dirty="0">
                <a:solidFill>
                  <a:schemeClr val="dk1"/>
                </a:solidFill>
              </a:rPr>
              <a:t> (</a:t>
            </a:r>
            <a:r>
              <a:rPr lang="es-ES" i="1" dirty="0" err="1">
                <a:solidFill>
                  <a:schemeClr val="dk1"/>
                </a:solidFill>
              </a:rPr>
              <a:t>Tester</a:t>
            </a:r>
            <a:r>
              <a:rPr lang="es-ES" dirty="0">
                <a:solidFill>
                  <a:schemeClr val="dk1"/>
                </a:solidFill>
              </a:rPr>
              <a:t>) </a:t>
            </a:r>
            <a:endParaRPr i="1" dirty="0">
              <a:solidFill>
                <a:schemeClr val="dk1"/>
              </a:solidFill>
            </a:endParaRPr>
          </a:p>
          <a:p>
            <a:pPr marL="914400" lvl="1" indent="-342900" algn="l" rtl="0">
              <a:lnSpc>
                <a:spcPct val="120000"/>
              </a:lnSpc>
              <a:spcBef>
                <a:spcPts val="200"/>
              </a:spcBef>
              <a:spcAft>
                <a:spcPts val="0"/>
              </a:spcAft>
              <a:buSzPts val="1800"/>
              <a:buFont typeface="Arial"/>
              <a:buChar char="•"/>
            </a:pPr>
            <a:r>
              <a:rPr lang="es-ES" dirty="0">
                <a:solidFill>
                  <a:schemeClr val="dk1"/>
                </a:solidFill>
              </a:rPr>
              <a:t>Ayuda al cliente con las pruebas funcionales</a:t>
            </a:r>
            <a:endParaRPr dirty="0"/>
          </a:p>
          <a:p>
            <a:pPr marL="914400" lvl="1" indent="-342900" algn="l" rtl="0">
              <a:lnSpc>
                <a:spcPct val="120000"/>
              </a:lnSpc>
              <a:spcBef>
                <a:spcPts val="200"/>
              </a:spcBef>
              <a:spcAft>
                <a:spcPts val="0"/>
              </a:spcAft>
              <a:buSzPts val="1800"/>
              <a:buFont typeface="Arial"/>
              <a:buChar char="•"/>
            </a:pPr>
            <a:r>
              <a:rPr lang="es-ES" dirty="0">
                <a:solidFill>
                  <a:schemeClr val="dk1"/>
                </a:solidFill>
              </a:rPr>
              <a:t>Se asegura de que las pruebas funcionales se superan</a:t>
            </a:r>
            <a:endParaRPr dirty="0"/>
          </a:p>
          <a:p>
            <a:pPr marL="182880" lvl="0" indent="-182880" algn="l" rtl="0">
              <a:lnSpc>
                <a:spcPct val="120000"/>
              </a:lnSpc>
              <a:spcBef>
                <a:spcPts val="1200"/>
              </a:spcBef>
              <a:spcAft>
                <a:spcPts val="0"/>
              </a:spcAft>
              <a:buSzPts val="2000"/>
              <a:buFont typeface="Arial"/>
              <a:buChar char="•"/>
            </a:pPr>
            <a:r>
              <a:rPr lang="es-ES" sz="3200" dirty="0">
                <a:solidFill>
                  <a:schemeClr val="dk1"/>
                </a:solidFill>
              </a:rPr>
              <a:t>Rastreador </a:t>
            </a:r>
            <a:r>
              <a:rPr lang="es-ES" sz="1800" dirty="0">
                <a:solidFill>
                  <a:schemeClr val="dk1"/>
                </a:solidFill>
              </a:rPr>
              <a:t>(</a:t>
            </a:r>
            <a:r>
              <a:rPr lang="es-ES" sz="1800" i="1" dirty="0" err="1">
                <a:solidFill>
                  <a:schemeClr val="dk1"/>
                </a:solidFill>
              </a:rPr>
              <a:t>Tracker</a:t>
            </a:r>
            <a:r>
              <a:rPr lang="es-ES" sz="1800" dirty="0">
                <a:solidFill>
                  <a:schemeClr val="dk1"/>
                </a:solidFill>
              </a:rPr>
              <a:t>)</a:t>
            </a:r>
            <a:endParaRPr sz="2400" dirty="0">
              <a:solidFill>
                <a:schemeClr val="dk1"/>
              </a:solidFill>
            </a:endParaRPr>
          </a:p>
          <a:p>
            <a:pPr marL="914400" lvl="1" indent="-342900" algn="l" rtl="0">
              <a:lnSpc>
                <a:spcPct val="120000"/>
              </a:lnSpc>
              <a:spcBef>
                <a:spcPts val="200"/>
              </a:spcBef>
              <a:spcAft>
                <a:spcPts val="0"/>
              </a:spcAft>
              <a:buSzPts val="1800"/>
              <a:buFont typeface="Arial"/>
              <a:buChar char="•"/>
            </a:pPr>
            <a:r>
              <a:rPr lang="es-ES" i="1" dirty="0" err="1">
                <a:solidFill>
                  <a:schemeClr val="dk1"/>
                </a:solidFill>
              </a:rPr>
              <a:t>Metric</a:t>
            </a:r>
            <a:r>
              <a:rPr lang="es-ES" i="1" dirty="0">
                <a:solidFill>
                  <a:schemeClr val="dk1"/>
                </a:solidFill>
              </a:rPr>
              <a:t> Man</a:t>
            </a:r>
            <a:endParaRPr dirty="0">
              <a:solidFill>
                <a:schemeClr val="dk1"/>
              </a:solidFill>
            </a:endParaRPr>
          </a:p>
          <a:p>
            <a:pPr marL="914400" lvl="1" indent="-342900" algn="l" rtl="0">
              <a:lnSpc>
                <a:spcPct val="120000"/>
              </a:lnSpc>
              <a:spcBef>
                <a:spcPts val="200"/>
              </a:spcBef>
              <a:spcAft>
                <a:spcPts val="0"/>
              </a:spcAft>
              <a:buSzPts val="1800"/>
              <a:buFont typeface="Arial"/>
              <a:buChar char="•"/>
            </a:pPr>
            <a:r>
              <a:rPr lang="es-ES" dirty="0">
                <a:solidFill>
                  <a:schemeClr val="dk1"/>
                </a:solidFill>
              </a:rPr>
              <a:t>Observa sin molestar</a:t>
            </a:r>
            <a:endParaRPr dirty="0"/>
          </a:p>
          <a:p>
            <a:pPr marL="914400" lvl="1" indent="-342900" algn="l" rtl="0">
              <a:lnSpc>
                <a:spcPct val="120000"/>
              </a:lnSpc>
              <a:spcBef>
                <a:spcPts val="200"/>
              </a:spcBef>
              <a:spcAft>
                <a:spcPts val="0"/>
              </a:spcAft>
              <a:buSzPts val="1800"/>
              <a:buFont typeface="Arial"/>
              <a:buChar char="•"/>
            </a:pPr>
            <a:r>
              <a:rPr lang="es-ES" dirty="0">
                <a:solidFill>
                  <a:schemeClr val="dk1"/>
                </a:solidFill>
              </a:rPr>
              <a:t>Conserva datos históricos</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1"/>
          <p:cNvSpPr txBox="1">
            <a:spLocks noGrp="1"/>
          </p:cNvSpPr>
          <p:nvPr>
            <p:ph type="title"/>
          </p:nvPr>
        </p:nvSpPr>
        <p:spPr>
          <a:xfrm>
            <a:off x="1147365" y="531073"/>
            <a:ext cx="7772400" cy="124925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SzPts val="4800"/>
              <a:buNone/>
            </a:pPr>
            <a:r>
              <a:rPr lang="es-ES" sz="4000"/>
              <a:t>XP - Proceso</a:t>
            </a:r>
            <a:endParaRPr/>
          </a:p>
        </p:txBody>
      </p:sp>
      <p:sp>
        <p:nvSpPr>
          <p:cNvPr id="361" name="Google Shape;361;p2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s-ES">
                <a:solidFill>
                  <a:schemeClr val="lt1"/>
                </a:solidFill>
              </a:rPr>
              <a:t>Ingeniería de Software I          </a:t>
            </a:r>
            <a:endParaRPr/>
          </a:p>
        </p:txBody>
      </p:sp>
      <p:sp>
        <p:nvSpPr>
          <p:cNvPr id="362" name="Google Shape;362;p21"/>
          <p:cNvSpPr txBox="1">
            <a:spLocks noGrp="1"/>
          </p:cNvSpPr>
          <p:nvPr>
            <p:ph type="sldNum" idx="12"/>
          </p:nvPr>
        </p:nvSpPr>
        <p:spPr>
          <a:xfrm>
            <a:off x="10879975" y="6470853"/>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s-ES">
                <a:solidFill>
                  <a:schemeClr val="lt1"/>
                </a:solidFill>
              </a:rPr>
              <a:t>21</a:t>
            </a:fld>
            <a:endParaRPr>
              <a:solidFill>
                <a:schemeClr val="lt1"/>
              </a:solidFill>
            </a:endParaRPr>
          </a:p>
        </p:txBody>
      </p:sp>
      <p:sp>
        <p:nvSpPr>
          <p:cNvPr id="363" name="Google Shape;363;p21"/>
          <p:cNvSpPr txBox="1">
            <a:spLocks noGrp="1"/>
          </p:cNvSpPr>
          <p:nvPr>
            <p:ph type="body" idx="4294967295"/>
          </p:nvPr>
        </p:nvSpPr>
        <p:spPr>
          <a:xfrm>
            <a:off x="1147365" y="1789316"/>
            <a:ext cx="8342313" cy="4681537"/>
          </a:xfrm>
          <a:prstGeom prst="rect">
            <a:avLst/>
          </a:prstGeom>
          <a:noFill/>
          <a:ln>
            <a:noFill/>
          </a:ln>
        </p:spPr>
        <p:txBody>
          <a:bodyPr spcFirstLastPara="1" wrap="square" lIns="0" tIns="45700" rIns="0" bIns="45700" anchor="t" anchorCtr="0">
            <a:normAutofit/>
          </a:bodyPr>
          <a:lstStyle/>
          <a:p>
            <a:pPr marL="182880" lvl="0" indent="-182880" algn="l" rtl="0">
              <a:lnSpc>
                <a:spcPct val="90000"/>
              </a:lnSpc>
              <a:spcBef>
                <a:spcPts val="1200"/>
              </a:spcBef>
              <a:spcAft>
                <a:spcPts val="0"/>
              </a:spcAft>
              <a:buSzPts val="2000"/>
              <a:buNone/>
            </a:pPr>
            <a:r>
              <a:rPr lang="es-ES" sz="2400" dirty="0">
                <a:solidFill>
                  <a:schemeClr val="dk1"/>
                </a:solidFill>
              </a:rPr>
              <a:t>El ciclo de vida consiste en:</a:t>
            </a:r>
            <a:endParaRPr sz="2400" dirty="0"/>
          </a:p>
          <a:p>
            <a:pPr marL="182880" lvl="0" indent="-182880" algn="l" rtl="0">
              <a:lnSpc>
                <a:spcPct val="90000"/>
              </a:lnSpc>
              <a:spcBef>
                <a:spcPts val="1200"/>
              </a:spcBef>
              <a:spcAft>
                <a:spcPts val="0"/>
              </a:spcAft>
              <a:buSzPts val="2000"/>
              <a:buNone/>
            </a:pPr>
            <a:endParaRPr dirty="0">
              <a:solidFill>
                <a:schemeClr val="dk1"/>
              </a:solidFill>
            </a:endParaRPr>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Exploración </a:t>
            </a:r>
            <a:endParaRPr dirty="0"/>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Planificación</a:t>
            </a:r>
            <a:endParaRPr dirty="0"/>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Iteraciones</a:t>
            </a:r>
            <a:endParaRPr dirty="0"/>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Producción</a:t>
            </a:r>
            <a:endParaRPr dirty="0"/>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Mantenimiento</a:t>
            </a:r>
            <a:endParaRPr dirty="0"/>
          </a:p>
          <a:p>
            <a:pPr marL="984250" lvl="3" indent="-342900" algn="l" rtl="0">
              <a:lnSpc>
                <a:spcPct val="90000"/>
              </a:lnSpc>
              <a:spcBef>
                <a:spcPts val="400"/>
              </a:spcBef>
              <a:spcAft>
                <a:spcPts val="0"/>
              </a:spcAft>
              <a:buSzPct val="100000"/>
              <a:buFont typeface="Calibri"/>
              <a:buAutoNum type="arabicPeriod"/>
            </a:pPr>
            <a:r>
              <a:rPr lang="es-ES" sz="2400" dirty="0">
                <a:solidFill>
                  <a:schemeClr val="dk1"/>
                </a:solidFill>
              </a:rPr>
              <a:t>Muerte</a:t>
            </a:r>
            <a:endParaRPr dirty="0"/>
          </a:p>
          <a:p>
            <a:pPr marL="1188720" lvl="4" indent="-137158" algn="l" rtl="0">
              <a:lnSpc>
                <a:spcPct val="90000"/>
              </a:lnSpc>
              <a:spcBef>
                <a:spcPts val="400"/>
              </a:spcBef>
              <a:spcAft>
                <a:spcPts val="0"/>
              </a:spcAft>
              <a:buSzPts val="1400"/>
              <a:buNone/>
            </a:pPr>
            <a:endParaRPr sz="2800" dirty="0">
              <a:solidFill>
                <a:schemeClr val="dk1"/>
              </a:solidFill>
            </a:endParaRPr>
          </a:p>
          <a:p>
            <a:pPr marL="182880" lvl="0" indent="-182880" algn="l" rtl="0">
              <a:lnSpc>
                <a:spcPct val="90000"/>
              </a:lnSpc>
              <a:spcBef>
                <a:spcPts val="1200"/>
              </a:spcBef>
              <a:spcAft>
                <a:spcPts val="0"/>
              </a:spcAft>
              <a:buSzPts val="2000"/>
              <a:buNone/>
            </a:pPr>
            <a:endParaRPr sz="2800" dirty="0">
              <a:solidFill>
                <a:schemeClr val="dk1"/>
              </a:solidFill>
            </a:endParaRPr>
          </a:p>
        </p:txBody>
      </p:sp>
      <p:pic>
        <p:nvPicPr>
          <p:cNvPr id="364" name="Google Shape;364;p21" descr="Ciclo de vida base de XP"/>
          <p:cNvPicPr preferRelativeResize="0"/>
          <p:nvPr/>
        </p:nvPicPr>
        <p:blipFill rotWithShape="1">
          <a:blip r:embed="rId3">
            <a:alphaModFix/>
          </a:blip>
          <a:srcRect b="17577"/>
          <a:stretch/>
        </p:blipFill>
        <p:spPr>
          <a:xfrm>
            <a:off x="4128628" y="3861435"/>
            <a:ext cx="7829399" cy="209111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a:t>XP - Proceso</a:t>
            </a:r>
            <a:endParaRPr/>
          </a:p>
        </p:txBody>
      </p:sp>
      <p:sp>
        <p:nvSpPr>
          <p:cNvPr id="370" name="Google Shape;370;p2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22</a:t>
            </a:fld>
            <a:endParaRPr/>
          </a:p>
        </p:txBody>
      </p:sp>
      <p:sp>
        <p:nvSpPr>
          <p:cNvPr id="371" name="Google Shape;371;p22"/>
          <p:cNvSpPr/>
          <p:nvPr/>
        </p:nvSpPr>
        <p:spPr>
          <a:xfrm>
            <a:off x="1097280" y="1923040"/>
            <a:ext cx="10058400" cy="3708667"/>
          </a:xfrm>
          <a:prstGeom prst="rect">
            <a:avLst/>
          </a:prstGeom>
          <a:noFill/>
          <a:ln>
            <a:noFill/>
          </a:ln>
        </p:spPr>
        <p:txBody>
          <a:bodyPr spcFirstLastPara="1" wrap="square" lIns="91425" tIns="45700" rIns="91425" bIns="45700" anchor="t" anchorCtr="0">
            <a:spAutoFit/>
          </a:bodyPr>
          <a:lstStyle/>
          <a:p>
            <a:pPr marL="457200" marR="0" lvl="4" indent="-457200" algn="just" rtl="0">
              <a:lnSpc>
                <a:spcPct val="100000"/>
              </a:lnSpc>
              <a:spcBef>
                <a:spcPts val="0"/>
              </a:spcBef>
              <a:spcAft>
                <a:spcPts val="0"/>
              </a:spcAft>
              <a:buClr>
                <a:schemeClr val="tx1"/>
              </a:buClr>
              <a:buSzPts val="2200"/>
              <a:buFont typeface="Arial"/>
              <a:buAutoNum type="arabicPeriod"/>
            </a:pPr>
            <a:r>
              <a:rPr lang="es-ES" sz="2200" b="0" i="0" u="none" strike="noStrike" cap="none" dirty="0">
                <a:solidFill>
                  <a:srgbClr val="000000"/>
                </a:solidFill>
                <a:latin typeface="Arial"/>
                <a:ea typeface="Arial"/>
                <a:cs typeface="Arial"/>
                <a:sym typeface="Arial"/>
              </a:rPr>
              <a:t>Exploración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Los clientes plantean las historias de usuario que son de interés para la primera entrega del producto.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El equipo de desarrollo se familiariza con las herramientas, tecnologías y prácticas que se utilizarán en el proyecto.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Se construye un prototipo.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r>
              <a:rPr lang="es-ES" sz="2200" b="0" i="0" u="none" strike="noStrike" cap="none" dirty="0">
                <a:solidFill>
                  <a:srgbClr val="000000"/>
                </a:solidFill>
                <a:latin typeface="Arial"/>
                <a:ea typeface="Arial"/>
                <a:cs typeface="Arial"/>
                <a:sym typeface="Arial"/>
              </a:rPr>
              <a:t>La fase de exploración toma de pocas semanas a pocos meses, dependiendo del tamaño y familiaridad que tengan los programadores con la tecnología.</a:t>
            </a:r>
            <a:endParaRPr sz="1400" b="0" i="0" u="none" strike="noStrike" cap="none" dirty="0">
              <a:solidFill>
                <a:srgbClr val="000000"/>
              </a:solidFill>
              <a:latin typeface="Arial"/>
              <a:ea typeface="Arial"/>
              <a:cs typeface="Arial"/>
              <a:sym typeface="Arial"/>
            </a:endParaRPr>
          </a:p>
        </p:txBody>
      </p:sp>
      <p:sp>
        <p:nvSpPr>
          <p:cNvPr id="372" name="Google Shape;372;p22" descr="http://www.monografias.com/trabajos51/programacion-extrema/Image3551.gif"/>
          <p:cNvSpPr/>
          <p:nvPr/>
        </p:nvSpPr>
        <p:spPr>
          <a:xfrm>
            <a:off x="9342438" y="411166"/>
            <a:ext cx="1174751" cy="21542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3" name="Google Shape;373;p22" descr="Ciclo de vida base de XP"/>
          <p:cNvPicPr preferRelativeResize="0"/>
          <p:nvPr/>
        </p:nvPicPr>
        <p:blipFill rotWithShape="1">
          <a:blip r:embed="rId3">
            <a:alphaModFix/>
          </a:blip>
          <a:srcRect b="17773"/>
          <a:stretch/>
        </p:blipFill>
        <p:spPr>
          <a:xfrm>
            <a:off x="7018609" y="274639"/>
            <a:ext cx="4091305" cy="1090138"/>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23"/>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a:t>XP - Proceso</a:t>
            </a:r>
            <a:endParaRPr/>
          </a:p>
        </p:txBody>
      </p:sp>
      <p:sp>
        <p:nvSpPr>
          <p:cNvPr id="379" name="Google Shape;379;p2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23</a:t>
            </a:fld>
            <a:endParaRPr/>
          </a:p>
        </p:txBody>
      </p:sp>
      <p:sp>
        <p:nvSpPr>
          <p:cNvPr id="380" name="Google Shape;380;p23"/>
          <p:cNvSpPr/>
          <p:nvPr/>
        </p:nvSpPr>
        <p:spPr>
          <a:xfrm>
            <a:off x="1097280" y="1936750"/>
            <a:ext cx="10115079" cy="3370153"/>
          </a:xfrm>
          <a:prstGeom prst="rect">
            <a:avLst/>
          </a:prstGeom>
          <a:noFill/>
          <a:ln>
            <a:noFill/>
          </a:ln>
        </p:spPr>
        <p:txBody>
          <a:bodyPr spcFirstLastPara="1" wrap="square" lIns="91425" tIns="45700" rIns="91425" bIns="45700" anchor="t" anchorCtr="0">
            <a:spAutoFit/>
          </a:bodyPr>
          <a:lstStyle/>
          <a:p>
            <a:pPr marL="457200" marR="0" lvl="4" indent="-457200" algn="just" rtl="0">
              <a:lnSpc>
                <a:spcPct val="100000"/>
              </a:lnSpc>
              <a:spcBef>
                <a:spcPts val="0"/>
              </a:spcBef>
              <a:spcAft>
                <a:spcPts val="0"/>
              </a:spcAft>
              <a:buClr>
                <a:schemeClr val="tx1"/>
              </a:buClr>
              <a:buSzPts val="2200"/>
              <a:buFont typeface="Arial"/>
              <a:buAutoNum type="arabicPeriod" startAt="2"/>
            </a:pPr>
            <a:r>
              <a:rPr lang="es-ES" sz="2200" b="0" i="0" u="none" strike="noStrike" cap="none" dirty="0">
                <a:solidFill>
                  <a:srgbClr val="000000"/>
                </a:solidFill>
                <a:latin typeface="Arial"/>
                <a:ea typeface="Arial"/>
                <a:cs typeface="Arial"/>
                <a:sym typeface="Arial"/>
              </a:rPr>
              <a:t>Planificación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El cliente establece la prioridad de cada historia de usuario.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Los programadores realizan una estimación del esfuerzo.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Se toman acuerdos sobre el contenido de la primera entrega y se determina un cronograma en conjunto con el cliente.</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r>
              <a:rPr lang="es-ES" sz="2200" b="0" i="0" u="none" strike="noStrike" cap="none" dirty="0">
                <a:solidFill>
                  <a:srgbClr val="000000"/>
                </a:solidFill>
                <a:latin typeface="Arial"/>
                <a:ea typeface="Arial"/>
                <a:cs typeface="Arial"/>
                <a:sym typeface="Arial"/>
              </a:rPr>
              <a:t>Esta fase dura unos pocos días.</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p:txBody>
      </p:sp>
      <p:sp>
        <p:nvSpPr>
          <p:cNvPr id="381" name="Google Shape;381;p23" descr="http://www.monografias.com/trabajos51/programacion-extrema/Image3551.gif"/>
          <p:cNvSpPr/>
          <p:nvPr/>
        </p:nvSpPr>
        <p:spPr>
          <a:xfrm>
            <a:off x="8399465" y="536575"/>
            <a:ext cx="2160587" cy="28003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2" name="Google Shape;382;p23" descr="Ciclo de vida base de XP"/>
          <p:cNvPicPr preferRelativeResize="0"/>
          <p:nvPr/>
        </p:nvPicPr>
        <p:blipFill rotWithShape="1">
          <a:blip r:embed="rId3">
            <a:alphaModFix/>
          </a:blip>
          <a:srcRect b="20669"/>
          <a:stretch/>
        </p:blipFill>
        <p:spPr>
          <a:xfrm>
            <a:off x="6406842" y="490110"/>
            <a:ext cx="4464360" cy="114762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24"/>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a:t>XP - Proceso</a:t>
            </a:r>
            <a:endParaRPr/>
          </a:p>
        </p:txBody>
      </p:sp>
      <p:sp>
        <p:nvSpPr>
          <p:cNvPr id="389" name="Google Shape;389;p2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24</a:t>
            </a:fld>
            <a:endParaRPr/>
          </a:p>
        </p:txBody>
      </p:sp>
      <p:sp>
        <p:nvSpPr>
          <p:cNvPr id="390" name="Google Shape;390;p24"/>
          <p:cNvSpPr/>
          <p:nvPr/>
        </p:nvSpPr>
        <p:spPr>
          <a:xfrm>
            <a:off x="1097280" y="1891023"/>
            <a:ext cx="10058400" cy="3031559"/>
          </a:xfrm>
          <a:prstGeom prst="rect">
            <a:avLst/>
          </a:prstGeom>
          <a:noFill/>
          <a:ln>
            <a:noFill/>
          </a:ln>
        </p:spPr>
        <p:txBody>
          <a:bodyPr spcFirstLastPara="1" wrap="square" lIns="91425" tIns="45700" rIns="91425" bIns="45700" anchor="t" anchorCtr="0">
            <a:spAutoFit/>
          </a:bodyPr>
          <a:lstStyle/>
          <a:p>
            <a:pPr marL="457200" marR="0" lvl="4" indent="-457200" algn="just" rtl="0">
              <a:lnSpc>
                <a:spcPct val="100000"/>
              </a:lnSpc>
              <a:spcBef>
                <a:spcPts val="0"/>
              </a:spcBef>
              <a:spcAft>
                <a:spcPts val="0"/>
              </a:spcAft>
              <a:buClr>
                <a:schemeClr val="tx1"/>
              </a:buClr>
              <a:buSzPts val="2200"/>
              <a:buFont typeface="Arial"/>
              <a:buAutoNum type="arabicPeriod" startAt="3"/>
            </a:pPr>
            <a:r>
              <a:rPr lang="es-ES" sz="2200" b="0" i="0" u="none" strike="noStrike" cap="none" dirty="0">
                <a:solidFill>
                  <a:srgbClr val="000000"/>
                </a:solidFill>
                <a:latin typeface="Arial"/>
                <a:ea typeface="Arial"/>
                <a:cs typeface="Arial"/>
                <a:sym typeface="Arial"/>
              </a:rPr>
              <a:t>Iteración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El Plan de Entrega está compuesto por iteraciones de no más de tres semanas.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El cliente es quien decide qué historias se implementarán en cada iteración</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Al final de la última iteración el sistema estará listo para entrar en producción.</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r>
              <a:rPr lang="es-ES" sz="2200" b="0" i="0" u="none" strike="noStrike" cap="none" dirty="0">
                <a:solidFill>
                  <a:srgbClr val="000000"/>
                </a:solidFill>
                <a:latin typeface="Arial"/>
                <a:ea typeface="Arial"/>
                <a:cs typeface="Arial"/>
                <a:sym typeface="Arial"/>
              </a:rPr>
              <a:t>Esta fase incluye varias iteraciones sobre el sistema antes de ser entregado.</a:t>
            </a:r>
            <a:endParaRPr sz="1400" b="0" i="0" u="none" strike="noStrike" cap="none" dirty="0">
              <a:solidFill>
                <a:srgbClr val="000000"/>
              </a:solidFill>
              <a:latin typeface="Arial"/>
              <a:ea typeface="Arial"/>
              <a:cs typeface="Arial"/>
              <a:sym typeface="Arial"/>
            </a:endParaRPr>
          </a:p>
        </p:txBody>
      </p:sp>
      <p:sp>
        <p:nvSpPr>
          <p:cNvPr id="391" name="Google Shape;391;p24" descr="http://www.monografias.com/trabajos51/programacion-extrema/Image3551.gif"/>
          <p:cNvSpPr/>
          <p:nvPr/>
        </p:nvSpPr>
        <p:spPr>
          <a:xfrm>
            <a:off x="8580437" y="428625"/>
            <a:ext cx="2076451" cy="27447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2" name="Google Shape;392;p24" descr="Ciclo de vida base de XP"/>
          <p:cNvPicPr preferRelativeResize="0"/>
          <p:nvPr/>
        </p:nvPicPr>
        <p:blipFill rotWithShape="1">
          <a:blip r:embed="rId3">
            <a:alphaModFix/>
          </a:blip>
          <a:srcRect b="17171"/>
          <a:stretch/>
        </p:blipFill>
        <p:spPr>
          <a:xfrm>
            <a:off x="7197820" y="274639"/>
            <a:ext cx="4061583" cy="109013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25"/>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a:t>XP - Proceso</a:t>
            </a:r>
            <a:endParaRPr sz="4000"/>
          </a:p>
        </p:txBody>
      </p:sp>
      <p:sp>
        <p:nvSpPr>
          <p:cNvPr id="398" name="Google Shape;398;p25"/>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25</a:t>
            </a:fld>
            <a:endParaRPr/>
          </a:p>
        </p:txBody>
      </p:sp>
      <p:sp>
        <p:nvSpPr>
          <p:cNvPr id="399" name="Google Shape;399;p25"/>
          <p:cNvSpPr/>
          <p:nvPr/>
        </p:nvSpPr>
        <p:spPr>
          <a:xfrm>
            <a:off x="1127372" y="1951692"/>
            <a:ext cx="10058400" cy="2616060"/>
          </a:xfrm>
          <a:prstGeom prst="rect">
            <a:avLst/>
          </a:prstGeom>
          <a:noFill/>
          <a:ln>
            <a:noFill/>
          </a:ln>
        </p:spPr>
        <p:txBody>
          <a:bodyPr spcFirstLastPara="1" wrap="square" lIns="91425" tIns="45700" rIns="91425" bIns="45700" anchor="t" anchorCtr="0">
            <a:spAutoFit/>
          </a:bodyPr>
          <a:lstStyle/>
          <a:p>
            <a:pPr marL="0" marR="0" lvl="4" indent="0" algn="just" rtl="0">
              <a:lnSpc>
                <a:spcPct val="100000"/>
              </a:lnSpc>
              <a:spcBef>
                <a:spcPts val="0"/>
              </a:spcBef>
              <a:spcAft>
                <a:spcPts val="0"/>
              </a:spcAft>
              <a:buClr>
                <a:srgbClr val="000000"/>
              </a:buClr>
              <a:buSzPts val="2200"/>
              <a:buFont typeface="Arial"/>
              <a:buNone/>
            </a:pPr>
            <a:r>
              <a:rPr lang="es-ES" sz="2200" b="0" i="0" u="none" strike="noStrike" cap="none" dirty="0">
                <a:solidFill>
                  <a:srgbClr val="000000"/>
                </a:solidFill>
                <a:latin typeface="Arial"/>
                <a:ea typeface="Arial"/>
                <a:cs typeface="Arial"/>
                <a:sym typeface="Arial"/>
              </a:rPr>
              <a:t>4</a:t>
            </a:r>
            <a:r>
              <a:rPr lang="es-ES" sz="2200" dirty="0"/>
              <a:t>.</a:t>
            </a:r>
            <a:r>
              <a:rPr lang="es-ES" sz="2200" b="0" i="0" u="none" strike="noStrike" cap="none" dirty="0">
                <a:solidFill>
                  <a:srgbClr val="000000"/>
                </a:solidFill>
                <a:latin typeface="Arial"/>
                <a:ea typeface="Arial"/>
                <a:cs typeface="Arial"/>
                <a:sym typeface="Arial"/>
              </a:rPr>
              <a:t> Producción </a:t>
            </a:r>
            <a:endParaRPr sz="1400" b="0" i="0" u="none" strike="noStrike" cap="none" dirty="0">
              <a:solidFill>
                <a:srgbClr val="000000"/>
              </a:solidFill>
              <a:latin typeface="Arial"/>
              <a:ea typeface="Arial"/>
              <a:cs typeface="Arial"/>
              <a:sym typeface="Arial"/>
            </a:endParaRPr>
          </a:p>
          <a:p>
            <a:pPr marL="342900" marR="0" lvl="0" indent="-203200" algn="just" rtl="0">
              <a:lnSpc>
                <a:spcPct val="100000"/>
              </a:lnSpc>
              <a:spcBef>
                <a:spcPts val="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a:p>
            <a:pPr marL="352425" marR="0" lvl="1" indent="-34290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Esta fase requiere de pruebas adicionales  y revisiones de rendimiento antes de que el sistema sea trasladado al entorno del cliente.</a:t>
            </a:r>
            <a:endParaRPr sz="1400" b="0" i="0" u="none" strike="noStrike" cap="none" dirty="0">
              <a:solidFill>
                <a:srgbClr val="000000"/>
              </a:solidFill>
              <a:latin typeface="Arial"/>
              <a:ea typeface="Arial"/>
              <a:cs typeface="Arial"/>
              <a:sym typeface="Arial"/>
            </a:endParaRPr>
          </a:p>
          <a:p>
            <a:pPr marL="352425" marR="0" lvl="1" indent="-34290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Al mismo tiempo, se deben tomar decisiones sobre la inclusión de nuevas características a la versión actual, debido a cambios durante esta fase.</a:t>
            </a:r>
            <a:endParaRPr sz="1400" b="0" i="0" u="none" strike="noStrike" cap="none" dirty="0">
              <a:solidFill>
                <a:srgbClr val="000000"/>
              </a:solidFill>
              <a:latin typeface="Arial"/>
              <a:ea typeface="Arial"/>
              <a:cs typeface="Arial"/>
              <a:sym typeface="Arial"/>
            </a:endParaRPr>
          </a:p>
          <a:p>
            <a:pPr marL="800100" marR="0" lvl="1" indent="-203200" algn="just" rtl="0">
              <a:lnSpc>
                <a:spcPct val="100000"/>
              </a:lnSpc>
              <a:spcBef>
                <a:spcPts val="60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p:txBody>
      </p:sp>
      <p:pic>
        <p:nvPicPr>
          <p:cNvPr id="400" name="Google Shape;400;p25" descr="Ciclo de vida base de XP"/>
          <p:cNvPicPr preferRelativeResize="0"/>
          <p:nvPr/>
        </p:nvPicPr>
        <p:blipFill rotWithShape="1">
          <a:blip r:embed="rId3">
            <a:alphaModFix/>
          </a:blip>
          <a:srcRect b="16111"/>
          <a:stretch/>
        </p:blipFill>
        <p:spPr>
          <a:xfrm>
            <a:off x="7498707" y="424070"/>
            <a:ext cx="3611207" cy="981649"/>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6"/>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a:t>XP - Proceso</a:t>
            </a:r>
            <a:endParaRPr sz="4000" dirty="0"/>
          </a:p>
        </p:txBody>
      </p:sp>
      <p:sp>
        <p:nvSpPr>
          <p:cNvPr id="406" name="Google Shape;406;p2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26</a:t>
            </a:fld>
            <a:endParaRPr/>
          </a:p>
        </p:txBody>
      </p:sp>
      <p:sp>
        <p:nvSpPr>
          <p:cNvPr id="407" name="Google Shape;407;p26"/>
          <p:cNvSpPr/>
          <p:nvPr/>
        </p:nvSpPr>
        <p:spPr>
          <a:xfrm>
            <a:off x="1097280" y="1925641"/>
            <a:ext cx="10115205" cy="2954655"/>
          </a:xfrm>
          <a:prstGeom prst="rect">
            <a:avLst/>
          </a:prstGeom>
          <a:noFill/>
          <a:ln>
            <a:noFill/>
          </a:ln>
        </p:spPr>
        <p:txBody>
          <a:bodyPr spcFirstLastPara="1" wrap="square" lIns="91425" tIns="45700" rIns="91425" bIns="45700" anchor="t" anchorCtr="0">
            <a:spAutoFit/>
          </a:bodyPr>
          <a:lstStyle/>
          <a:p>
            <a:pPr marL="457200" marR="0" lvl="4" indent="-457200" algn="just" rtl="0">
              <a:lnSpc>
                <a:spcPct val="100000"/>
              </a:lnSpc>
              <a:spcBef>
                <a:spcPts val="0"/>
              </a:spcBef>
              <a:spcAft>
                <a:spcPts val="0"/>
              </a:spcAft>
              <a:buClr>
                <a:schemeClr val="tx1"/>
              </a:buClr>
              <a:buSzPts val="2200"/>
              <a:buFont typeface="+mj-lt"/>
              <a:buAutoNum type="arabicPeriod" startAt="5"/>
            </a:pPr>
            <a:r>
              <a:rPr lang="es-ES" sz="2200" b="0" i="0" u="none" strike="noStrike" cap="none" dirty="0">
                <a:solidFill>
                  <a:srgbClr val="000000"/>
                </a:solidFill>
                <a:latin typeface="Arial"/>
                <a:ea typeface="Arial"/>
                <a:cs typeface="Arial"/>
                <a:sym typeface="Arial"/>
              </a:rPr>
              <a:t>Mantenimiento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Mientras la primera versión se encuentra en producción, el proyecto XP debe mantener el sistema en funcionamiento al mismo tiempo que desarrolla nuevas iteraciones.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La fase de mantenimiento puede requerir nuevo personal dentro del equipo y cambios en su estructura.</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p:txBody>
      </p:sp>
      <p:pic>
        <p:nvPicPr>
          <p:cNvPr id="408" name="Google Shape;408;p26" descr="Ciclo de vida base de XP"/>
          <p:cNvPicPr preferRelativeResize="0"/>
          <p:nvPr/>
        </p:nvPicPr>
        <p:blipFill rotWithShape="1">
          <a:blip r:embed="rId3">
            <a:alphaModFix/>
          </a:blip>
          <a:srcRect b="17527"/>
          <a:stretch/>
        </p:blipFill>
        <p:spPr>
          <a:xfrm>
            <a:off x="6761727" y="516646"/>
            <a:ext cx="4348187" cy="116202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27"/>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a:t>XP - Proceso</a:t>
            </a:r>
            <a:endParaRPr sz="4000" dirty="0"/>
          </a:p>
        </p:txBody>
      </p:sp>
      <p:sp>
        <p:nvSpPr>
          <p:cNvPr id="414" name="Google Shape;414;p27"/>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27</a:t>
            </a:fld>
            <a:endParaRPr/>
          </a:p>
        </p:txBody>
      </p:sp>
      <p:sp>
        <p:nvSpPr>
          <p:cNvPr id="415" name="Google Shape;415;p27"/>
          <p:cNvSpPr/>
          <p:nvPr/>
        </p:nvSpPr>
        <p:spPr>
          <a:xfrm>
            <a:off x="1099421" y="1940596"/>
            <a:ext cx="10056259" cy="3370153"/>
          </a:xfrm>
          <a:prstGeom prst="rect">
            <a:avLst/>
          </a:prstGeom>
          <a:noFill/>
          <a:ln>
            <a:noFill/>
          </a:ln>
        </p:spPr>
        <p:txBody>
          <a:bodyPr spcFirstLastPara="1" wrap="square" lIns="91425" tIns="45700" rIns="91425" bIns="45700" anchor="t" anchorCtr="0">
            <a:spAutoFit/>
          </a:bodyPr>
          <a:lstStyle/>
          <a:p>
            <a:pPr marL="457200" marR="0" lvl="4" indent="-457200" algn="just" rtl="0">
              <a:lnSpc>
                <a:spcPct val="100000"/>
              </a:lnSpc>
              <a:spcBef>
                <a:spcPts val="0"/>
              </a:spcBef>
              <a:spcAft>
                <a:spcPts val="0"/>
              </a:spcAft>
              <a:buClr>
                <a:schemeClr val="tx1"/>
              </a:buClr>
              <a:buSzPts val="2200"/>
              <a:buFont typeface="Arial"/>
              <a:buAutoNum type="arabicPeriod" startAt="6"/>
            </a:pPr>
            <a:r>
              <a:rPr lang="es-ES" sz="2200" b="0" i="0" u="none" strike="noStrike" cap="none" dirty="0">
                <a:solidFill>
                  <a:srgbClr val="000000"/>
                </a:solidFill>
                <a:latin typeface="Arial"/>
                <a:ea typeface="Arial"/>
                <a:cs typeface="Arial"/>
                <a:sym typeface="Arial"/>
              </a:rPr>
              <a:t>Muerte </a:t>
            </a:r>
            <a:endParaRPr sz="1400" b="0" i="0" u="none" strike="noStrike" cap="none" dirty="0">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200"/>
              <a:buFont typeface="Arial"/>
              <a:buNone/>
            </a:pPr>
            <a:endParaRPr sz="22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Es cuando el cliente no tiene más historias para ser incluidas en el sistema.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Se genera la documentación final del sistema y no se realizan más cambios en la arquitectura.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Char char="⮚"/>
            </a:pPr>
            <a:r>
              <a:rPr lang="es-ES" sz="2200" b="0" i="0" u="none" strike="noStrike" cap="none" dirty="0">
                <a:solidFill>
                  <a:srgbClr val="000000"/>
                </a:solidFill>
                <a:latin typeface="Arial"/>
                <a:ea typeface="Arial"/>
                <a:cs typeface="Arial"/>
                <a:sym typeface="Arial"/>
              </a:rPr>
              <a:t> La muerte del proyecto también ocurre cuando el sistema no genera los beneficios esperados por el cliente o cuando no hay presupuesto para mantenerlo.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200"/>
              <a:buFont typeface="Noto Sans Symbols"/>
              <a:buNone/>
            </a:pPr>
            <a:endParaRPr sz="2200" b="0" i="0" u="none" strike="noStrike" cap="none" dirty="0">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pic>
        <p:nvPicPr>
          <p:cNvPr id="424" name="Google Shape;424;p28" descr="http://www.atherio.com/assets/images/functionality_testing_1.jpg"/>
          <p:cNvPicPr preferRelativeResize="0"/>
          <p:nvPr/>
        </p:nvPicPr>
        <p:blipFill rotWithShape="1">
          <a:blip r:embed="rId3">
            <a:alphaModFix/>
          </a:blip>
          <a:srcRect l="29721" r="19879" b="12369"/>
          <a:stretch/>
        </p:blipFill>
        <p:spPr>
          <a:xfrm>
            <a:off x="10571379" y="2440515"/>
            <a:ext cx="1558925" cy="1801813"/>
          </a:xfrm>
          <a:prstGeom prst="rect">
            <a:avLst/>
          </a:prstGeom>
          <a:noFill/>
          <a:ln>
            <a:noFill/>
          </a:ln>
        </p:spPr>
      </p:pic>
      <p:sp>
        <p:nvSpPr>
          <p:cNvPr id="420" name="Google Shape;420;p28"/>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err="1"/>
              <a:t>eXtreme</a:t>
            </a:r>
            <a:r>
              <a:rPr lang="es-ES" sz="4000" dirty="0"/>
              <a:t> </a:t>
            </a:r>
            <a:r>
              <a:rPr lang="es-ES" sz="4000" dirty="0" err="1"/>
              <a:t>Programming</a:t>
            </a:r>
            <a:r>
              <a:rPr lang="es-ES" sz="4000" dirty="0"/>
              <a:t> - Prácticas </a:t>
            </a:r>
            <a:endParaRPr sz="4000" dirty="0"/>
          </a:p>
        </p:txBody>
      </p:sp>
      <p:sp>
        <p:nvSpPr>
          <p:cNvPr id="421" name="Google Shape;421;p2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28</a:t>
            </a:fld>
            <a:endParaRPr/>
          </a:p>
        </p:txBody>
      </p:sp>
      <p:sp>
        <p:nvSpPr>
          <p:cNvPr id="422" name="Google Shape;422;p28"/>
          <p:cNvSpPr/>
          <p:nvPr/>
        </p:nvSpPr>
        <p:spPr>
          <a:xfrm>
            <a:off x="924693" y="1887838"/>
            <a:ext cx="10058400" cy="4708981"/>
          </a:xfrm>
          <a:prstGeom prst="rect">
            <a:avLst/>
          </a:prstGeom>
          <a:noFill/>
          <a:ln>
            <a:noFill/>
          </a:ln>
        </p:spPr>
        <p:txBody>
          <a:bodyPr spcFirstLastPara="1" wrap="square" lIns="91425" tIns="45700" rIns="91425" bIns="45700" anchor="ctr" anchorCtr="0">
            <a:spAutoFit/>
          </a:bodyPr>
          <a:lstStyle/>
          <a:p>
            <a:pPr marL="342900" marR="0" lvl="0" indent="-342900" algn="just" rtl="0">
              <a:lnSpc>
                <a:spcPct val="100000"/>
              </a:lnSpc>
              <a:spcBef>
                <a:spcPts val="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 </a:t>
            </a:r>
            <a:r>
              <a:rPr lang="es-ES" sz="2000" b="0" i="0" u="none" strike="noStrike" cap="none" dirty="0" err="1">
                <a:solidFill>
                  <a:srgbClr val="000000"/>
                </a:solidFill>
                <a:latin typeface="Arial"/>
                <a:ea typeface="Arial"/>
                <a:cs typeface="Arial"/>
                <a:sym typeface="Arial"/>
              </a:rPr>
              <a:t>Testing</a:t>
            </a:r>
            <a:r>
              <a:rPr lang="es-ES" sz="20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Los programadores continuamente escriben pruebas unitarias, las cuales deben correr sin problemas para que el desarrollo continúe.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Los clientes escriben pruebas demostrando que las funcionalidades están terminadas.</a:t>
            </a:r>
            <a:endParaRPr sz="1400" b="0" i="0" u="none" strike="noStrike" cap="none" dirty="0">
              <a:solidFill>
                <a:srgbClr val="000000"/>
              </a:solidFill>
              <a:latin typeface="Arial"/>
              <a:ea typeface="Arial"/>
              <a:cs typeface="Arial"/>
              <a:sym typeface="Arial"/>
            </a:endParaRPr>
          </a:p>
          <a:p>
            <a:pPr marL="800100" marR="0" lvl="1" indent="-215900" algn="just" rtl="0">
              <a:lnSpc>
                <a:spcPct val="100000"/>
              </a:lnSpc>
              <a:spcBef>
                <a:spcPts val="60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60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 </a:t>
            </a:r>
            <a:r>
              <a:rPr lang="es-ES" sz="2000" b="0" i="0" u="none" strike="noStrike" cap="none" dirty="0" err="1">
                <a:solidFill>
                  <a:srgbClr val="000000"/>
                </a:solidFill>
                <a:latin typeface="Arial"/>
                <a:ea typeface="Arial"/>
                <a:cs typeface="Arial"/>
                <a:sym typeface="Arial"/>
              </a:rPr>
              <a:t>Refactoring</a:t>
            </a:r>
            <a:r>
              <a:rPr lang="es-ES" sz="2000" b="0" i="0" u="none" strike="noStrike" cap="none" dirty="0">
                <a:solidFill>
                  <a:srgbClr val="000000"/>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Actividad constante de reestructuración del código con el objetivo de remover duplicación de código, mejorar su legibilidad, simplificarlo y hacerlo más flexible para facilitar los posteriores cambios.</a:t>
            </a:r>
            <a:endParaRPr sz="14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Programación de a Pares: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Todo el código de producción es escrito por dos programadores en una máquina.</a:t>
            </a:r>
            <a:endParaRPr sz="20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p:txBody>
      </p:sp>
      <p:pic>
        <p:nvPicPr>
          <p:cNvPr id="423" name="Google Shape;423;p28"/>
          <p:cNvPicPr preferRelativeResize="0"/>
          <p:nvPr/>
        </p:nvPicPr>
        <p:blipFill rotWithShape="1">
          <a:blip r:embed="rId4">
            <a:alphaModFix/>
          </a:blip>
          <a:srcRect/>
          <a:stretch/>
        </p:blipFill>
        <p:spPr>
          <a:xfrm>
            <a:off x="10429721" y="4907744"/>
            <a:ext cx="1565275" cy="13239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2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err="1"/>
              <a:t>eXtreme</a:t>
            </a:r>
            <a:r>
              <a:rPr lang="es-ES" sz="4000" dirty="0"/>
              <a:t> </a:t>
            </a:r>
            <a:r>
              <a:rPr lang="es-ES" sz="4000" dirty="0" err="1"/>
              <a:t>Programming</a:t>
            </a:r>
            <a:r>
              <a:rPr lang="es-ES" sz="4000" dirty="0"/>
              <a:t> - Prácticas </a:t>
            </a:r>
            <a:endParaRPr sz="4000" dirty="0"/>
          </a:p>
        </p:txBody>
      </p:sp>
      <p:sp>
        <p:nvSpPr>
          <p:cNvPr id="430" name="Google Shape;430;p2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29</a:t>
            </a:fld>
            <a:endParaRPr/>
          </a:p>
        </p:txBody>
      </p:sp>
      <p:sp>
        <p:nvSpPr>
          <p:cNvPr id="431" name="Google Shape;431;p29"/>
          <p:cNvSpPr/>
          <p:nvPr/>
        </p:nvSpPr>
        <p:spPr>
          <a:xfrm>
            <a:off x="979641" y="2093266"/>
            <a:ext cx="10232718" cy="4324220"/>
          </a:xfrm>
          <a:prstGeom prst="rect">
            <a:avLst/>
          </a:prstGeom>
          <a:noFill/>
          <a:ln>
            <a:noFill/>
          </a:ln>
        </p:spPr>
        <p:txBody>
          <a:bodyPr spcFirstLastPara="1" wrap="square" lIns="91425" tIns="45700" rIns="91425" bIns="45700" anchor="ctr" anchorCtr="0">
            <a:spAutoFit/>
          </a:bodyPr>
          <a:lstStyle/>
          <a:p>
            <a:pPr marL="342900" marR="0" lvl="0" indent="-342900" algn="just" rtl="0">
              <a:lnSpc>
                <a:spcPct val="100000"/>
              </a:lnSpc>
              <a:spcBef>
                <a:spcPts val="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Propiedad Colectiva del Código: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Cualquiera puede cambiar código en cualquier parte del sistema en cualquier momento.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Motiva a contribuir con nuevas ideas, evitando a la vez que algún programador sea imprescindible.</a:t>
            </a:r>
            <a:endParaRPr sz="14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60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60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Integración Continua: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Cada pieza de código es integrada en el sistema una vez que esté lista. Así, el sistema puede llegar a ser integrado y construido varias veces en un mismo día.</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Reduce la fragmentación de los esfuerzos de los desarrolladores por falta de comunicación sobre lo que puede ser reutilizado o compartido.</a:t>
            </a:r>
            <a:endParaRPr sz="14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60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60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p:txBody>
      </p:sp>
      <p:pic>
        <p:nvPicPr>
          <p:cNvPr id="432" name="Google Shape;432;p29" descr="https://encrypted-tbn0.gstatic.com/images?q=tbn:ANd9GcSnJH7QftIXkGpKrHUS7HT2rgFasPEJJXIB9CTb9_s3R6kzfJRP"/>
          <p:cNvPicPr preferRelativeResize="0"/>
          <p:nvPr/>
        </p:nvPicPr>
        <p:blipFill rotWithShape="1">
          <a:blip r:embed="rId3">
            <a:alphaModFix/>
          </a:blip>
          <a:srcRect l="10698" t="8557" r="7285" b="8855"/>
          <a:stretch/>
        </p:blipFill>
        <p:spPr>
          <a:xfrm>
            <a:off x="10426529" y="765927"/>
            <a:ext cx="1422400" cy="1608138"/>
          </a:xfrm>
          <a:prstGeom prst="rect">
            <a:avLst/>
          </a:prstGeom>
          <a:noFill/>
          <a:ln>
            <a:noFill/>
          </a:ln>
        </p:spPr>
      </p:pic>
      <p:pic>
        <p:nvPicPr>
          <p:cNvPr id="433" name="Google Shape;433;p29" descr="http://www.factoressencial.com/uploads/pics/Imatge_Plugins_2_11-2_06.jpg"/>
          <p:cNvPicPr preferRelativeResize="0"/>
          <p:nvPr/>
        </p:nvPicPr>
        <p:blipFill rotWithShape="1">
          <a:blip r:embed="rId4">
            <a:alphaModFix/>
          </a:blip>
          <a:srcRect/>
          <a:stretch/>
        </p:blipFill>
        <p:spPr>
          <a:xfrm>
            <a:off x="10426529" y="5281559"/>
            <a:ext cx="1571660" cy="994286"/>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37"/>
        <p:cNvGrpSpPr/>
        <p:nvPr/>
      </p:nvGrpSpPr>
      <p:grpSpPr>
        <a:xfrm>
          <a:off x="0" y="0"/>
          <a:ext cx="0" cy="0"/>
          <a:chOff x="0" y="0"/>
          <a:chExt cx="0" cy="0"/>
        </a:xfrm>
      </p:grpSpPr>
      <p:sp>
        <p:nvSpPr>
          <p:cNvPr id="438" name="Google Shape;438;p3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sz="4000" dirty="0" err="1"/>
              <a:t>eXtreme</a:t>
            </a:r>
            <a:r>
              <a:rPr lang="es-ES" sz="4000" dirty="0"/>
              <a:t> </a:t>
            </a:r>
            <a:r>
              <a:rPr lang="es-ES" sz="4000" dirty="0" err="1"/>
              <a:t>Programming</a:t>
            </a:r>
            <a:r>
              <a:rPr lang="es-ES" sz="4000" dirty="0"/>
              <a:t> - Prácticas </a:t>
            </a:r>
            <a:endParaRPr sz="4000" dirty="0"/>
          </a:p>
        </p:txBody>
      </p:sp>
      <p:sp>
        <p:nvSpPr>
          <p:cNvPr id="439" name="Google Shape;439;p3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30</a:t>
            </a:fld>
            <a:endParaRPr/>
          </a:p>
        </p:txBody>
      </p:sp>
      <p:sp>
        <p:nvSpPr>
          <p:cNvPr id="440" name="Google Shape;440;p30"/>
          <p:cNvSpPr/>
          <p:nvPr/>
        </p:nvSpPr>
        <p:spPr>
          <a:xfrm>
            <a:off x="939309" y="1476944"/>
            <a:ext cx="10273050" cy="4708981"/>
          </a:xfrm>
          <a:prstGeom prst="rect">
            <a:avLst/>
          </a:prstGeom>
          <a:noFill/>
          <a:ln>
            <a:noFill/>
          </a:ln>
        </p:spPr>
        <p:txBody>
          <a:bodyPr spcFirstLastPara="1" wrap="square" lIns="91425" tIns="45700" rIns="91425" bIns="45700" anchor="ctr" anchorCtr="0">
            <a:spAutoFit/>
          </a:bodyPr>
          <a:lstStyle/>
          <a:p>
            <a:pPr marL="342900" marR="0" lvl="0" indent="-215900" algn="just" rtl="0">
              <a:lnSpc>
                <a:spcPct val="100000"/>
              </a:lnSpc>
              <a:spcBef>
                <a:spcPts val="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60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 Semana de 40-horas: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Se debe trabajar un máximo de 40 horas por semana.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El trabajo extra desmotiva al equipo.</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60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Los proyectos que requieren trabajo extra para intentar cumplir con los plazos suelen al final ser entregados con retraso. En lugar de esto se puede realizar el juego de la planificación para cambiar el ámbito del proyecto o la fecha de entrega.</a:t>
            </a:r>
            <a:endParaRPr sz="1400" b="0" i="0" u="none" strike="noStrike" cap="none" dirty="0">
              <a:solidFill>
                <a:srgbClr val="000000"/>
              </a:solidFill>
              <a:latin typeface="Arial"/>
              <a:ea typeface="Arial"/>
              <a:cs typeface="Arial"/>
              <a:sym typeface="Arial"/>
            </a:endParaRPr>
          </a:p>
          <a:p>
            <a:pPr marL="342900" marR="0" lvl="0" indent="-215900" algn="just" rtl="0">
              <a:lnSpc>
                <a:spcPct val="100000"/>
              </a:lnSpc>
              <a:spcBef>
                <a:spcPts val="60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Cliente en el Lugar de Desarrollo: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El cliente tiene que estar presente y disponible todo el tiempo para el equipo.</a:t>
            </a:r>
            <a:endParaRPr sz="1400" b="0" i="0" u="none" strike="noStrike" cap="none" dirty="0">
              <a:solidFill>
                <a:srgbClr val="000000"/>
              </a:solidFill>
              <a:latin typeface="Arial"/>
              <a:ea typeface="Arial"/>
              <a:cs typeface="Arial"/>
              <a:sym typeface="Arial"/>
            </a:endParaRPr>
          </a:p>
          <a:p>
            <a:pPr marL="800100" marR="0" lvl="1" indent="-215900" algn="just" rtl="0">
              <a:lnSpc>
                <a:spcPct val="100000"/>
              </a:lnSpc>
              <a:spcBef>
                <a:spcPts val="0"/>
              </a:spcBef>
              <a:spcAft>
                <a:spcPts val="0"/>
              </a:spcAft>
              <a:buClr>
                <a:srgbClr val="000000"/>
              </a:buClr>
              <a:buSzPts val="2000"/>
              <a:buFont typeface="Noto Sans Symbols"/>
              <a:buNone/>
            </a:pPr>
            <a:endParaRPr sz="2000" b="0" i="0" u="none" strike="noStrike" cap="none" dirty="0">
              <a:solidFill>
                <a:srgbClr val="000000"/>
              </a:solidFill>
              <a:latin typeface="Arial"/>
              <a:ea typeface="Arial"/>
              <a:cs typeface="Arial"/>
              <a:sym typeface="Arial"/>
            </a:endParaRPr>
          </a:p>
          <a:p>
            <a:pPr marL="342900" marR="0" lvl="0" indent="-342900" algn="just" rtl="0">
              <a:lnSpc>
                <a:spcPct val="100000"/>
              </a:lnSpc>
              <a:spcBef>
                <a:spcPts val="0"/>
              </a:spcBef>
              <a:spcAft>
                <a:spcPts val="0"/>
              </a:spcAft>
              <a:buClr>
                <a:srgbClr val="000000"/>
              </a:buClr>
              <a:buSzPts val="2000"/>
              <a:buFont typeface="Noto Sans Symbols"/>
              <a:buChar char="❑"/>
            </a:pPr>
            <a:r>
              <a:rPr lang="es-ES" sz="2000" b="0" i="0" u="none" strike="noStrike" cap="none" dirty="0">
                <a:solidFill>
                  <a:srgbClr val="000000"/>
                </a:solidFill>
                <a:latin typeface="Arial"/>
                <a:ea typeface="Arial"/>
                <a:cs typeface="Arial"/>
                <a:sym typeface="Arial"/>
              </a:rPr>
              <a:t> Estándares de Codificación: </a:t>
            </a:r>
            <a:endParaRPr sz="1400" b="0" i="0" u="none" strike="noStrike" cap="none" dirty="0">
              <a:solidFill>
                <a:srgbClr val="000000"/>
              </a:solidFill>
              <a:latin typeface="Arial"/>
              <a:ea typeface="Arial"/>
              <a:cs typeface="Arial"/>
              <a:sym typeface="Arial"/>
            </a:endParaRPr>
          </a:p>
          <a:p>
            <a:pPr marL="0" marR="0" lvl="1" indent="0" algn="just" rtl="0">
              <a:lnSpc>
                <a:spcPct val="100000"/>
              </a:lnSpc>
              <a:spcBef>
                <a:spcPts val="0"/>
              </a:spcBef>
              <a:spcAft>
                <a:spcPts val="0"/>
              </a:spcAft>
              <a:buClr>
                <a:srgbClr val="000000"/>
              </a:buClr>
              <a:buSzPts val="2000"/>
              <a:buFont typeface="Arial"/>
              <a:buNone/>
            </a:pPr>
            <a:r>
              <a:rPr lang="es-ES" sz="2000" b="0" i="0" u="none" strike="noStrike" cap="none" dirty="0">
                <a:solidFill>
                  <a:srgbClr val="000000"/>
                </a:solidFill>
                <a:latin typeface="Arial"/>
                <a:ea typeface="Arial"/>
                <a:cs typeface="Arial"/>
                <a:sym typeface="Arial"/>
              </a:rPr>
              <a:t>Los programadores escriben todo el código de acuerdo con reglas que enfatizan la comunicación a través del mismo.</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31"/>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dirty="0"/>
              <a:t>Scrum</a:t>
            </a:r>
            <a:endParaRPr dirty="0"/>
          </a:p>
        </p:txBody>
      </p:sp>
      <p:sp>
        <p:nvSpPr>
          <p:cNvPr id="446" name="Google Shape;446;p31"/>
          <p:cNvSpPr txBox="1">
            <a:spLocks noGrp="1"/>
          </p:cNvSpPr>
          <p:nvPr>
            <p:ph type="body" idx="1"/>
          </p:nvPr>
        </p:nvSpPr>
        <p:spPr>
          <a:xfrm>
            <a:off x="847442" y="2104652"/>
            <a:ext cx="10443410" cy="4023300"/>
          </a:xfrm>
          <a:prstGeom prst="rect">
            <a:avLst/>
          </a:prstGeom>
          <a:noFill/>
          <a:ln>
            <a:noFill/>
          </a:ln>
        </p:spPr>
        <p:txBody>
          <a:bodyPr spcFirstLastPara="1" wrap="square" lIns="0" tIns="45700" rIns="0" bIns="45700" anchor="t" anchorCtr="0">
            <a:normAutofit lnSpcReduction="10000"/>
          </a:bodyPr>
          <a:lstStyle/>
          <a:p>
            <a:pPr marL="457200" lvl="0" indent="-342900" algn="just" rtl="0">
              <a:lnSpc>
                <a:spcPct val="90000"/>
              </a:lnSpc>
              <a:spcBef>
                <a:spcPts val="1195"/>
              </a:spcBef>
              <a:spcAft>
                <a:spcPts val="0"/>
              </a:spcAft>
              <a:buSzPts val="1800"/>
              <a:buChar char=" "/>
            </a:pPr>
            <a:r>
              <a:rPr lang="es-ES" sz="2400" dirty="0">
                <a:solidFill>
                  <a:schemeClr val="dk1"/>
                </a:solidFill>
                <a:latin typeface="Calibri"/>
                <a:ea typeface="Calibri"/>
                <a:cs typeface="Calibri"/>
                <a:sym typeface="Calibri"/>
              </a:rPr>
              <a:t>Es un marco de trabajo utilizado para desarrollar productos complejos donde se aplican de manera regular un conjunto de buenas prácticas para trabajar colaborativamente y obtener el mejor resultado posible de un proyecto</a:t>
            </a:r>
            <a:endParaRPr sz="2400" dirty="0">
              <a:solidFill>
                <a:schemeClr val="dk1"/>
              </a:solidFill>
            </a:endParaRPr>
          </a:p>
          <a:p>
            <a:pPr marL="457200" lvl="0" indent="-342900" algn="just" rtl="0">
              <a:lnSpc>
                <a:spcPct val="90000"/>
              </a:lnSpc>
              <a:spcBef>
                <a:spcPts val="1195"/>
              </a:spcBef>
              <a:spcAft>
                <a:spcPts val="0"/>
              </a:spcAft>
              <a:buSzPts val="1800"/>
              <a:buChar char=" "/>
            </a:pPr>
            <a:r>
              <a:rPr lang="es-ES" sz="2400" dirty="0">
                <a:solidFill>
                  <a:schemeClr val="dk1"/>
                </a:solidFill>
                <a:latin typeface="Calibri"/>
                <a:ea typeface="Calibri"/>
                <a:cs typeface="Calibri"/>
                <a:sym typeface="Calibri"/>
              </a:rPr>
              <a:t>Estas prácticas se apoyan unas a otras y su selección tiene origen en un estudio de la manera de trabajar de equipos altamente productivos.</a:t>
            </a:r>
            <a:endParaRPr dirty="0"/>
          </a:p>
          <a:p>
            <a:pPr marL="457200" lvl="0" indent="-342900" algn="just" rtl="0">
              <a:lnSpc>
                <a:spcPct val="90000"/>
              </a:lnSpc>
              <a:spcBef>
                <a:spcPts val="1195"/>
              </a:spcBef>
              <a:spcAft>
                <a:spcPts val="0"/>
              </a:spcAft>
              <a:buSzPts val="1800"/>
              <a:buChar char=" "/>
            </a:pPr>
            <a:r>
              <a:rPr lang="es-ES" sz="2400" dirty="0">
                <a:solidFill>
                  <a:schemeClr val="dk1"/>
                </a:solidFill>
                <a:latin typeface="Calibri"/>
                <a:ea typeface="Calibri"/>
                <a:cs typeface="Calibri"/>
                <a:sym typeface="Calibri"/>
              </a:rPr>
              <a:t>Scrum se define como “una manera simple de manejar problemas complejos”, proporcionando un paradigma de trabajo que  soporta la innovación y permite que equipos </a:t>
            </a:r>
            <a:r>
              <a:rPr lang="es-ES" sz="2400" dirty="0" err="1">
                <a:solidFill>
                  <a:schemeClr val="dk1"/>
                </a:solidFill>
                <a:latin typeface="Calibri"/>
                <a:ea typeface="Calibri"/>
                <a:cs typeface="Calibri"/>
                <a:sym typeface="Calibri"/>
              </a:rPr>
              <a:t>auto-organizados</a:t>
            </a:r>
            <a:r>
              <a:rPr lang="es-ES" sz="2400" dirty="0">
                <a:solidFill>
                  <a:schemeClr val="dk1"/>
                </a:solidFill>
                <a:latin typeface="Calibri"/>
                <a:ea typeface="Calibri"/>
                <a:cs typeface="Calibri"/>
                <a:sym typeface="Calibri"/>
              </a:rPr>
              <a:t> entreguen resultados de alta calidad en tiempos cortos.  </a:t>
            </a:r>
            <a:endParaRPr dirty="0"/>
          </a:p>
          <a:p>
            <a:pPr marL="457200" lvl="0" indent="-342900" algn="just" rtl="0">
              <a:lnSpc>
                <a:spcPct val="90000"/>
              </a:lnSpc>
              <a:spcBef>
                <a:spcPts val="1195"/>
              </a:spcBef>
              <a:spcAft>
                <a:spcPts val="0"/>
              </a:spcAft>
              <a:buSzPts val="1800"/>
              <a:buChar char=" "/>
            </a:pPr>
            <a:r>
              <a:rPr lang="es-ES" sz="2400" dirty="0">
                <a:solidFill>
                  <a:schemeClr val="dk1"/>
                </a:solidFill>
                <a:latin typeface="Calibri"/>
                <a:ea typeface="Calibri"/>
                <a:cs typeface="Calibri"/>
                <a:sym typeface="Calibri"/>
              </a:rPr>
              <a:t>En Scrum se realizan entregas parciales y regulares del resultado final del proyecto, priorizadas por el beneficio que aportan al receptor del proyecto</a:t>
            </a:r>
            <a:endParaRPr dirty="0"/>
          </a:p>
        </p:txBody>
      </p:sp>
      <p:sp>
        <p:nvSpPr>
          <p:cNvPr id="447" name="Google Shape;447;p31"/>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31</a:t>
            </a:fld>
            <a:endParaRPr/>
          </a:p>
        </p:txBody>
      </p:sp>
      <p:pic>
        <p:nvPicPr>
          <p:cNvPr id="448" name="Google Shape;448;p31" descr="Resultado de imagen para metodologia scrum logo"/>
          <p:cNvPicPr preferRelativeResize="0"/>
          <p:nvPr/>
        </p:nvPicPr>
        <p:blipFill rotWithShape="1">
          <a:blip r:embed="rId3">
            <a:alphaModFix/>
          </a:blip>
          <a:srcRect/>
          <a:stretch/>
        </p:blipFill>
        <p:spPr>
          <a:xfrm>
            <a:off x="8680174" y="33113"/>
            <a:ext cx="2915478" cy="164689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2"/>
        <p:cNvGrpSpPr/>
        <p:nvPr/>
      </p:nvGrpSpPr>
      <p:grpSpPr>
        <a:xfrm>
          <a:off x="0" y="0"/>
          <a:ext cx="0" cy="0"/>
          <a:chOff x="0" y="0"/>
          <a:chExt cx="0" cy="0"/>
        </a:xfrm>
      </p:grpSpPr>
      <p:sp>
        <p:nvSpPr>
          <p:cNvPr id="453" name="Google Shape;453;p3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Scrum - Principios</a:t>
            </a:r>
            <a:endParaRPr/>
          </a:p>
        </p:txBody>
      </p:sp>
      <p:sp>
        <p:nvSpPr>
          <p:cNvPr id="454" name="Google Shape;454;p32"/>
          <p:cNvSpPr txBox="1">
            <a:spLocks noGrp="1"/>
          </p:cNvSpPr>
          <p:nvPr>
            <p:ph type="body" idx="1"/>
          </p:nvPr>
        </p:nvSpPr>
        <p:spPr>
          <a:xfrm>
            <a:off x="1066800" y="2080754"/>
            <a:ext cx="10058400" cy="4023300"/>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400" b="1" dirty="0"/>
              <a:t>Eliminar el desperdicio</a:t>
            </a:r>
            <a:r>
              <a:rPr lang="es-ES" sz="2400" dirty="0"/>
              <a:t>: no generar artefactos, ni perder el tiempo haciendo cosas que no le suman valor al cliente. </a:t>
            </a:r>
            <a:endParaRPr dirty="0"/>
          </a:p>
          <a:p>
            <a:pPr marL="457200" lvl="0" indent="-342900" algn="just" rtl="0">
              <a:lnSpc>
                <a:spcPct val="90000"/>
              </a:lnSpc>
              <a:spcBef>
                <a:spcPts val="1195"/>
              </a:spcBef>
              <a:spcAft>
                <a:spcPts val="0"/>
              </a:spcAft>
              <a:buSzPts val="1800"/>
              <a:buChar char=" "/>
            </a:pPr>
            <a:r>
              <a:rPr lang="es-ES" sz="2400" b="1" dirty="0"/>
              <a:t>Construir la calidad con el producto: </a:t>
            </a:r>
            <a:r>
              <a:rPr lang="es-ES" sz="2400" dirty="0"/>
              <a:t>la idea es inyectar la calidad directamente en el código desde el inicio.</a:t>
            </a:r>
            <a:endParaRPr dirty="0"/>
          </a:p>
          <a:p>
            <a:pPr marL="457200" lvl="0" indent="-342900" algn="just" rtl="0">
              <a:lnSpc>
                <a:spcPct val="90000"/>
              </a:lnSpc>
              <a:spcBef>
                <a:spcPts val="1195"/>
              </a:spcBef>
              <a:spcAft>
                <a:spcPts val="0"/>
              </a:spcAft>
              <a:buSzPts val="1800"/>
              <a:buChar char=" "/>
            </a:pPr>
            <a:r>
              <a:rPr lang="es-ES" sz="2400" b="1" dirty="0"/>
              <a:t>Crear conocimiento:</a:t>
            </a:r>
            <a:r>
              <a:rPr lang="es-ES" sz="2400" dirty="0"/>
              <a:t> En la práctica no se puede tener el conocimiento antes de empezar el desarrollo.</a:t>
            </a:r>
            <a:endParaRPr dirty="0"/>
          </a:p>
          <a:p>
            <a:pPr marL="457200" lvl="0" indent="-342900" algn="just" rtl="0">
              <a:lnSpc>
                <a:spcPct val="90000"/>
              </a:lnSpc>
              <a:spcBef>
                <a:spcPts val="1195"/>
              </a:spcBef>
              <a:spcAft>
                <a:spcPts val="0"/>
              </a:spcAft>
              <a:buSzPts val="1800"/>
              <a:buChar char=" "/>
            </a:pPr>
            <a:r>
              <a:rPr lang="es-ES" sz="2400" b="1" dirty="0"/>
              <a:t>Diferir las decisiones:</a:t>
            </a:r>
            <a:r>
              <a:rPr lang="es-ES" sz="2400" dirty="0"/>
              <a:t> tomar las decisiones en el momento adecuado, esperar hasta ese momento, ya que uno tiene mas información a medida que va pasando el tiempo. Si se puede esperar, mejor.</a:t>
            </a:r>
            <a:endParaRPr dirty="0"/>
          </a:p>
        </p:txBody>
      </p:sp>
      <p:sp>
        <p:nvSpPr>
          <p:cNvPr id="455" name="Google Shape;455;p32"/>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32</a:t>
            </a:fld>
            <a:endParaRPr/>
          </a:p>
        </p:txBody>
      </p:sp>
      <p:pic>
        <p:nvPicPr>
          <p:cNvPr id="456" name="Google Shape;456;p32" descr="Resultado de imagen para metodologia scrum logo"/>
          <p:cNvPicPr preferRelativeResize="0"/>
          <p:nvPr/>
        </p:nvPicPr>
        <p:blipFill rotWithShape="1">
          <a:blip r:embed="rId3">
            <a:alphaModFix/>
          </a:blip>
          <a:srcRect/>
          <a:stretch/>
        </p:blipFill>
        <p:spPr>
          <a:xfrm>
            <a:off x="8555015" y="0"/>
            <a:ext cx="2915478" cy="1646898"/>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33"/>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Scrum - Principios</a:t>
            </a:r>
            <a:endParaRPr/>
          </a:p>
        </p:txBody>
      </p:sp>
      <p:sp>
        <p:nvSpPr>
          <p:cNvPr id="462" name="Google Shape;462;p33"/>
          <p:cNvSpPr txBox="1">
            <a:spLocks noGrp="1"/>
          </p:cNvSpPr>
          <p:nvPr>
            <p:ph type="body" idx="1"/>
          </p:nvPr>
        </p:nvSpPr>
        <p:spPr>
          <a:xfrm>
            <a:off x="1153959" y="2086946"/>
            <a:ext cx="10058400" cy="4023300"/>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400" b="1" dirty="0"/>
              <a:t>Entregar rápido: </a:t>
            </a:r>
            <a:r>
              <a:rPr lang="es-ES" sz="2400" dirty="0"/>
              <a:t>Debe ser una de las ventajas competitivas más  importantes.</a:t>
            </a:r>
            <a:endParaRPr sz="2400" dirty="0"/>
          </a:p>
          <a:p>
            <a:pPr marL="457200" lvl="0" indent="-342900" algn="just" rtl="0">
              <a:lnSpc>
                <a:spcPct val="90000"/>
              </a:lnSpc>
              <a:spcBef>
                <a:spcPts val="1195"/>
              </a:spcBef>
              <a:spcAft>
                <a:spcPts val="0"/>
              </a:spcAft>
              <a:buSzPts val="1800"/>
              <a:buChar char=" "/>
            </a:pPr>
            <a:r>
              <a:rPr lang="es-ES" sz="2400" b="1" dirty="0"/>
              <a:t>Respetar a las personas: </a:t>
            </a:r>
            <a:r>
              <a:rPr lang="es-ES" sz="2400" dirty="0"/>
              <a:t>la gente trabaja mejor cuando se encuentra en un ambiente que la motive y se sienta respetada.</a:t>
            </a:r>
            <a:endParaRPr sz="2400" b="1" dirty="0"/>
          </a:p>
          <a:p>
            <a:pPr marL="457200" lvl="0" indent="-342900" algn="just" rtl="0">
              <a:lnSpc>
                <a:spcPct val="90000"/>
              </a:lnSpc>
              <a:spcBef>
                <a:spcPts val="1195"/>
              </a:spcBef>
              <a:spcAft>
                <a:spcPts val="0"/>
              </a:spcAft>
              <a:buSzPts val="1800"/>
              <a:buChar char=" "/>
            </a:pPr>
            <a:r>
              <a:rPr lang="es-ES" sz="2400" b="1" dirty="0"/>
              <a:t>Optimizar el todo:</a:t>
            </a:r>
            <a:r>
              <a:rPr lang="es-ES" sz="2400" dirty="0"/>
              <a:t> optimizar todo el proceso, ya que el proceso es una unidad, y para lograr tener éxito y avanzar, hay que tratarlo como tal.</a:t>
            </a:r>
            <a:endParaRPr sz="2400" dirty="0"/>
          </a:p>
        </p:txBody>
      </p:sp>
      <p:sp>
        <p:nvSpPr>
          <p:cNvPr id="463" name="Google Shape;463;p33"/>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33</a:t>
            </a:fld>
            <a:endParaRPr/>
          </a:p>
        </p:txBody>
      </p:sp>
      <p:pic>
        <p:nvPicPr>
          <p:cNvPr id="464" name="Google Shape;464;p33" descr="Resultado de imagen para metodologia scrum logo"/>
          <p:cNvPicPr preferRelativeResize="0"/>
          <p:nvPr/>
        </p:nvPicPr>
        <p:blipFill rotWithShape="1">
          <a:blip r:embed="rId3">
            <a:alphaModFix/>
          </a:blip>
          <a:srcRect/>
          <a:stretch/>
        </p:blipFill>
        <p:spPr>
          <a:xfrm>
            <a:off x="8583922" y="33113"/>
            <a:ext cx="2915478" cy="1646898"/>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34"/>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Roles - Scrum</a:t>
            </a:r>
            <a:endParaRPr/>
          </a:p>
        </p:txBody>
      </p:sp>
      <p:sp>
        <p:nvSpPr>
          <p:cNvPr id="470" name="Google Shape;470;p34"/>
          <p:cNvSpPr txBox="1">
            <a:spLocks noGrp="1"/>
          </p:cNvSpPr>
          <p:nvPr>
            <p:ph type="body" idx="1"/>
          </p:nvPr>
        </p:nvSpPr>
        <p:spPr>
          <a:xfrm>
            <a:off x="666242" y="1881408"/>
            <a:ext cx="8037087" cy="4468320"/>
          </a:xfrm>
          <a:prstGeom prst="rect">
            <a:avLst/>
          </a:prstGeom>
          <a:noFill/>
          <a:ln>
            <a:noFill/>
          </a:ln>
        </p:spPr>
        <p:txBody>
          <a:bodyPr spcFirstLastPara="1" wrap="square" lIns="0" tIns="45700" rIns="0" bIns="45700" anchor="t" anchorCtr="0">
            <a:normAutofit fontScale="92500" lnSpcReduction="10000"/>
          </a:bodyPr>
          <a:lstStyle/>
          <a:p>
            <a:pPr marL="457200" lvl="0" indent="-342899" algn="just" rtl="0">
              <a:lnSpc>
                <a:spcPct val="90000"/>
              </a:lnSpc>
              <a:spcBef>
                <a:spcPts val="1195"/>
              </a:spcBef>
              <a:spcAft>
                <a:spcPts val="0"/>
              </a:spcAft>
              <a:buSzPct val="81081"/>
              <a:buChar char=" "/>
            </a:pPr>
            <a:r>
              <a:rPr lang="es-ES" sz="2400" dirty="0"/>
              <a:t>El </a:t>
            </a:r>
            <a:r>
              <a:rPr lang="es-ES" sz="2400" b="1" dirty="0" err="1"/>
              <a:t>Product</a:t>
            </a:r>
            <a:r>
              <a:rPr lang="es-ES" sz="2400" b="1" dirty="0"/>
              <a:t> </a:t>
            </a:r>
            <a:r>
              <a:rPr lang="es-ES" sz="2400" b="1" dirty="0" err="1"/>
              <a:t>Owner</a:t>
            </a:r>
            <a:r>
              <a:rPr lang="es-ES" sz="2400" b="1" dirty="0"/>
              <a:t> (Propietario) </a:t>
            </a:r>
            <a:r>
              <a:rPr lang="es-ES" sz="2400" dirty="0"/>
              <a:t>conoce y marca las prioridades del proyecto o producto.</a:t>
            </a:r>
            <a:endParaRPr dirty="0"/>
          </a:p>
          <a:p>
            <a:pPr marL="457200" lvl="0" indent="-342899" algn="just" rtl="0">
              <a:lnSpc>
                <a:spcPct val="90000"/>
              </a:lnSpc>
              <a:spcBef>
                <a:spcPts val="1195"/>
              </a:spcBef>
              <a:spcAft>
                <a:spcPts val="0"/>
              </a:spcAft>
              <a:buSzPct val="81081"/>
              <a:buChar char=" "/>
            </a:pPr>
            <a:r>
              <a:rPr lang="es-ES" sz="2400" dirty="0"/>
              <a:t>El </a:t>
            </a:r>
            <a:r>
              <a:rPr lang="es-ES" sz="2400" b="1" dirty="0"/>
              <a:t>Scrum Master (Jefe)</a:t>
            </a:r>
            <a:r>
              <a:rPr lang="es-ES" sz="2400" dirty="0"/>
              <a:t> es la persona que asegura el seguimiento de la metodología guiando las reuniones y ayudando al equipo ante cualquier problema que pueda aparecer. Su responsabilidad es entre otras, la de hacer de paraguas ante las presiones externas.</a:t>
            </a:r>
            <a:endParaRPr dirty="0"/>
          </a:p>
          <a:p>
            <a:pPr marL="457200" lvl="0" indent="-342899" algn="just" rtl="0">
              <a:lnSpc>
                <a:spcPct val="90000"/>
              </a:lnSpc>
              <a:spcBef>
                <a:spcPts val="1195"/>
              </a:spcBef>
              <a:spcAft>
                <a:spcPts val="0"/>
              </a:spcAft>
              <a:buSzPct val="81081"/>
              <a:buChar char=" "/>
            </a:pPr>
            <a:r>
              <a:rPr lang="es-ES" sz="2400" dirty="0"/>
              <a:t>El </a:t>
            </a:r>
            <a:r>
              <a:rPr lang="es-ES" sz="2400" b="1" dirty="0"/>
              <a:t>Scrum </a:t>
            </a:r>
            <a:r>
              <a:rPr lang="es-ES" sz="2400" b="1" dirty="0" err="1"/>
              <a:t>Team</a:t>
            </a:r>
            <a:r>
              <a:rPr lang="es-ES" sz="2400" b="1" dirty="0"/>
              <a:t> (Equipo)</a:t>
            </a:r>
            <a:r>
              <a:rPr lang="es-ES" sz="2400" dirty="0"/>
              <a:t> son las personas responsables de implementar la funcionalidad o funcionalidades elegidas por el </a:t>
            </a:r>
            <a:r>
              <a:rPr lang="es-ES" sz="2400" dirty="0" err="1"/>
              <a:t>Product</a:t>
            </a:r>
            <a:r>
              <a:rPr lang="es-ES" sz="2400" dirty="0"/>
              <a:t> </a:t>
            </a:r>
            <a:r>
              <a:rPr lang="es-ES" sz="2400" dirty="0" err="1"/>
              <a:t>Owner</a:t>
            </a:r>
            <a:r>
              <a:rPr lang="es-ES" sz="2400" dirty="0"/>
              <a:t>.</a:t>
            </a:r>
            <a:endParaRPr dirty="0"/>
          </a:p>
          <a:p>
            <a:pPr marL="457200" lvl="0" indent="-342899" algn="just" rtl="0">
              <a:lnSpc>
                <a:spcPct val="90000"/>
              </a:lnSpc>
              <a:spcBef>
                <a:spcPts val="1195"/>
              </a:spcBef>
              <a:spcAft>
                <a:spcPts val="0"/>
              </a:spcAft>
              <a:buSzPct val="81081"/>
              <a:buChar char=" "/>
            </a:pPr>
            <a:r>
              <a:rPr lang="es-ES" sz="2400" dirty="0"/>
              <a:t>Los </a:t>
            </a:r>
            <a:r>
              <a:rPr lang="es-ES" sz="2400" b="1" dirty="0"/>
              <a:t>Usuarios o Cliente</a:t>
            </a:r>
            <a:r>
              <a:rPr lang="es-ES" sz="2400" dirty="0"/>
              <a:t>, son los beneficiarios finales del producto, y son quienes, viendo los progresos, pueden aportar ideas, sugerencias o necesidades.</a:t>
            </a:r>
            <a:endParaRPr dirty="0"/>
          </a:p>
        </p:txBody>
      </p:sp>
      <p:sp>
        <p:nvSpPr>
          <p:cNvPr id="471" name="Google Shape;471;p34"/>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34</a:t>
            </a:fld>
            <a:endParaRPr/>
          </a:p>
        </p:txBody>
      </p:sp>
      <p:sp>
        <p:nvSpPr>
          <p:cNvPr id="472" name="Google Shape;472;p34"/>
          <p:cNvSpPr/>
          <p:nvPr/>
        </p:nvSpPr>
        <p:spPr>
          <a:xfrm>
            <a:off x="9178925" y="974728"/>
            <a:ext cx="1187451" cy="9191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34"/>
          <p:cNvSpPr/>
          <p:nvPr/>
        </p:nvSpPr>
        <p:spPr>
          <a:xfrm>
            <a:off x="9178925" y="2249491"/>
            <a:ext cx="1187451" cy="12604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34"/>
          <p:cNvSpPr/>
          <p:nvPr/>
        </p:nvSpPr>
        <p:spPr>
          <a:xfrm>
            <a:off x="9326565" y="5194300"/>
            <a:ext cx="1044575" cy="87788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34"/>
          <p:cNvSpPr/>
          <p:nvPr/>
        </p:nvSpPr>
        <p:spPr>
          <a:xfrm>
            <a:off x="9178928" y="3578228"/>
            <a:ext cx="1331913" cy="12049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76" name="Google Shape;476;p34" descr="https://rajatbhalla.files.wordpress.com/2014/07/scrum-roles2.png"/>
          <p:cNvPicPr preferRelativeResize="0"/>
          <p:nvPr/>
        </p:nvPicPr>
        <p:blipFill rotWithShape="1">
          <a:blip r:embed="rId3">
            <a:alphaModFix/>
          </a:blip>
          <a:srcRect l="6688" t="10785" r="8043" b="4122"/>
          <a:stretch/>
        </p:blipFill>
        <p:spPr>
          <a:xfrm>
            <a:off x="8703329" y="2460941"/>
            <a:ext cx="3488672" cy="3422331"/>
          </a:xfrm>
          <a:prstGeom prst="rect">
            <a:avLst/>
          </a:prstGeom>
          <a:noFill/>
          <a:ln>
            <a:noFill/>
          </a:ln>
        </p:spPr>
      </p:pic>
      <p:pic>
        <p:nvPicPr>
          <p:cNvPr id="477" name="Google Shape;477;p34" descr="Resultado de imagen para metodologia scrum logo"/>
          <p:cNvPicPr preferRelativeResize="0"/>
          <p:nvPr/>
        </p:nvPicPr>
        <p:blipFill rotWithShape="1">
          <a:blip r:embed="rId4">
            <a:alphaModFix/>
          </a:blip>
          <a:srcRect/>
          <a:stretch/>
        </p:blipFill>
        <p:spPr>
          <a:xfrm>
            <a:off x="8387145" y="25040"/>
            <a:ext cx="2915478" cy="164689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35"/>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Artefactos - Scrum</a:t>
            </a:r>
            <a:endParaRPr/>
          </a:p>
        </p:txBody>
      </p:sp>
      <p:sp>
        <p:nvSpPr>
          <p:cNvPr id="483" name="Google Shape;483;p35"/>
          <p:cNvSpPr txBox="1">
            <a:spLocks noGrp="1"/>
          </p:cNvSpPr>
          <p:nvPr>
            <p:ph type="body" idx="1"/>
          </p:nvPr>
        </p:nvSpPr>
        <p:spPr>
          <a:xfrm>
            <a:off x="599407" y="2294876"/>
            <a:ext cx="7152778" cy="3766185"/>
          </a:xfrm>
          <a:prstGeom prst="rect">
            <a:avLst/>
          </a:prstGeom>
          <a:noFill/>
          <a:ln>
            <a:noFill/>
          </a:ln>
        </p:spPr>
        <p:txBody>
          <a:bodyPr spcFirstLastPara="1" wrap="square" lIns="0" tIns="45700" rIns="0" bIns="45700" anchor="t" anchorCtr="0">
            <a:normAutofit lnSpcReduction="10000"/>
          </a:bodyPr>
          <a:lstStyle/>
          <a:p>
            <a:pPr marL="457200" lvl="0" indent="-342900" algn="just" rtl="0">
              <a:lnSpc>
                <a:spcPct val="90000"/>
              </a:lnSpc>
              <a:spcBef>
                <a:spcPts val="1195"/>
              </a:spcBef>
              <a:spcAft>
                <a:spcPts val="0"/>
              </a:spcAft>
              <a:buSzPts val="1800"/>
              <a:buChar char=" "/>
            </a:pPr>
            <a:r>
              <a:rPr lang="es-ES" sz="2400" b="1" dirty="0" err="1"/>
              <a:t>Product</a:t>
            </a:r>
            <a:r>
              <a:rPr lang="es-ES" sz="2400" b="1" dirty="0"/>
              <a:t> Backlog: </a:t>
            </a:r>
            <a:r>
              <a:rPr lang="es-ES" sz="2400" dirty="0"/>
              <a:t>es la lista maestra que contiene toda la funcionalidad deseada en el producto. La característica más importante es que la funcionalidad se encuentra ordenada por un orden de prioridad.</a:t>
            </a:r>
            <a:endParaRPr sz="2400" dirty="0"/>
          </a:p>
          <a:p>
            <a:pPr marL="457200" lvl="0" indent="-342900" algn="just" rtl="0">
              <a:lnSpc>
                <a:spcPct val="90000"/>
              </a:lnSpc>
              <a:spcBef>
                <a:spcPts val="1195"/>
              </a:spcBef>
              <a:spcAft>
                <a:spcPts val="0"/>
              </a:spcAft>
              <a:buSzPts val="1800"/>
              <a:buChar char=" "/>
            </a:pPr>
            <a:r>
              <a:rPr lang="es-ES" sz="2400" b="1" dirty="0"/>
              <a:t>Sprint Backlog:</a:t>
            </a:r>
            <a:r>
              <a:rPr lang="es-ES" sz="2400" dirty="0"/>
              <a:t> es la lista que contiene toda la funcionalidad que el equipo se comprometió a desarrollar durante un Sprint determinado.</a:t>
            </a:r>
            <a:endParaRPr sz="2400" dirty="0"/>
          </a:p>
          <a:p>
            <a:pPr marL="457200" lvl="0" indent="-342900" algn="just" rtl="0">
              <a:lnSpc>
                <a:spcPct val="90000"/>
              </a:lnSpc>
              <a:spcBef>
                <a:spcPts val="1195"/>
              </a:spcBef>
              <a:spcAft>
                <a:spcPts val="0"/>
              </a:spcAft>
              <a:buSzPts val="1800"/>
              <a:buChar char=" "/>
            </a:pPr>
            <a:r>
              <a:rPr lang="es-ES" sz="2400" b="1" dirty="0" err="1"/>
              <a:t>Burndown</a:t>
            </a:r>
            <a:r>
              <a:rPr lang="es-ES" sz="2400" b="1" dirty="0"/>
              <a:t> Chart:</a:t>
            </a:r>
            <a:r>
              <a:rPr lang="es-ES" sz="2400" dirty="0"/>
              <a:t> muestra un acumulativo del trabajo hecho, día-a-día.</a:t>
            </a:r>
            <a:endParaRPr dirty="0"/>
          </a:p>
          <a:p>
            <a:pPr marL="457200" lvl="0" indent="-342900" algn="just" rtl="0">
              <a:lnSpc>
                <a:spcPct val="90000"/>
              </a:lnSpc>
              <a:spcBef>
                <a:spcPts val="1195"/>
              </a:spcBef>
              <a:spcAft>
                <a:spcPts val="0"/>
              </a:spcAft>
              <a:buSzPts val="1800"/>
              <a:buChar char=" "/>
            </a:pPr>
            <a:r>
              <a:rPr lang="es-ES" sz="2400" dirty="0"/>
              <a:t>Entre otros… </a:t>
            </a:r>
            <a:endParaRPr sz="2400" dirty="0"/>
          </a:p>
          <a:p>
            <a:pPr marL="457200" lvl="0" indent="-228600" algn="just" rtl="0">
              <a:lnSpc>
                <a:spcPct val="90000"/>
              </a:lnSpc>
              <a:spcBef>
                <a:spcPts val="1195"/>
              </a:spcBef>
              <a:spcAft>
                <a:spcPts val="0"/>
              </a:spcAft>
              <a:buSzPts val="1800"/>
              <a:buNone/>
            </a:pPr>
            <a:endParaRPr sz="2400" dirty="0"/>
          </a:p>
        </p:txBody>
      </p:sp>
      <p:sp>
        <p:nvSpPr>
          <p:cNvPr id="484" name="Google Shape;484;p35"/>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35</a:t>
            </a:fld>
            <a:endParaRPr/>
          </a:p>
        </p:txBody>
      </p:sp>
      <p:pic>
        <p:nvPicPr>
          <p:cNvPr id="485" name="Google Shape;485;p35" descr="http://4.bp.blogspot.com/-HamVDwDzGLc/TzNJS7MdGpI/AAAAAAAAAGc/2WC29WtvgKw/s1600/sprint_backlog_17641B8F.png"/>
          <p:cNvPicPr preferRelativeResize="0"/>
          <p:nvPr/>
        </p:nvPicPr>
        <p:blipFill rotWithShape="1">
          <a:blip r:embed="rId3">
            <a:alphaModFix/>
          </a:blip>
          <a:srcRect l="3637" r="4052"/>
          <a:stretch/>
        </p:blipFill>
        <p:spPr>
          <a:xfrm>
            <a:off x="7806160" y="2230602"/>
            <a:ext cx="4385840" cy="3645481"/>
          </a:xfrm>
          <a:prstGeom prst="rect">
            <a:avLst/>
          </a:prstGeom>
          <a:noFill/>
          <a:ln>
            <a:noFill/>
          </a:ln>
        </p:spPr>
      </p:pic>
      <p:pic>
        <p:nvPicPr>
          <p:cNvPr id="486" name="Google Shape;486;p35" descr="Resultado de imagen para metodologia scrum logo"/>
          <p:cNvPicPr preferRelativeResize="0"/>
          <p:nvPr/>
        </p:nvPicPr>
        <p:blipFill rotWithShape="1">
          <a:blip r:embed="rId4">
            <a:alphaModFix/>
          </a:blip>
          <a:srcRect/>
          <a:stretch/>
        </p:blipFill>
        <p:spPr>
          <a:xfrm>
            <a:off x="8381711" y="0"/>
            <a:ext cx="2915478" cy="1646898"/>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0"/>
        <p:cNvGrpSpPr/>
        <p:nvPr/>
      </p:nvGrpSpPr>
      <p:grpSpPr>
        <a:xfrm>
          <a:off x="0" y="0"/>
          <a:ext cx="0" cy="0"/>
          <a:chOff x="0" y="0"/>
          <a:chExt cx="0" cy="0"/>
        </a:xfrm>
      </p:grpSpPr>
      <p:sp>
        <p:nvSpPr>
          <p:cNvPr id="491" name="Google Shape;491;p36"/>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dirty="0"/>
              <a:t>Scrum - Proceso</a:t>
            </a:r>
            <a:endParaRPr dirty="0"/>
          </a:p>
        </p:txBody>
      </p:sp>
      <p:sp>
        <p:nvSpPr>
          <p:cNvPr id="492" name="Google Shape;492;p36"/>
          <p:cNvSpPr txBox="1">
            <a:spLocks noGrp="1"/>
          </p:cNvSpPr>
          <p:nvPr>
            <p:ph type="body" idx="1"/>
          </p:nvPr>
        </p:nvSpPr>
        <p:spPr>
          <a:xfrm>
            <a:off x="666753" y="2026726"/>
            <a:ext cx="10545606" cy="4023300"/>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800" dirty="0"/>
              <a:t>Este </a:t>
            </a:r>
            <a:r>
              <a:rPr lang="es-ES" sz="2800" u="sng" dirty="0"/>
              <a:t>solapamiento de fases </a:t>
            </a:r>
            <a:r>
              <a:rPr lang="es-ES" sz="2800" dirty="0"/>
              <a:t>se puede asemejar a un scrum de rugby, en el cual todos los jugadores (o roles, en nuestro caso), trabajan juntos para lograr un objetivo.</a:t>
            </a:r>
            <a:endParaRPr sz="2800" dirty="0"/>
          </a:p>
        </p:txBody>
      </p:sp>
      <p:sp>
        <p:nvSpPr>
          <p:cNvPr id="493" name="Google Shape;493;p36"/>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36</a:t>
            </a:fld>
            <a:endParaRPr/>
          </a:p>
        </p:txBody>
      </p:sp>
      <p:sp>
        <p:nvSpPr>
          <p:cNvPr id="494" name="Google Shape;494;p36" descr="_44181384_eng_sa_scrum416"/>
          <p:cNvSpPr/>
          <p:nvPr/>
        </p:nvSpPr>
        <p:spPr>
          <a:xfrm>
            <a:off x="3881441" y="1928813"/>
            <a:ext cx="3629025" cy="26098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95" name="Google Shape;495;p36" descr="_44181384_eng_sa_scrum416"/>
          <p:cNvPicPr preferRelativeResize="0"/>
          <p:nvPr/>
        </p:nvPicPr>
        <p:blipFill rotWithShape="1">
          <a:blip r:embed="rId3">
            <a:alphaModFix/>
          </a:blip>
          <a:srcRect/>
          <a:stretch/>
        </p:blipFill>
        <p:spPr>
          <a:xfrm>
            <a:off x="4125043" y="3538089"/>
            <a:ext cx="3629025" cy="2609850"/>
          </a:xfrm>
          <a:prstGeom prst="rect">
            <a:avLst/>
          </a:prstGeom>
          <a:noFill/>
          <a:ln>
            <a:noFill/>
          </a:ln>
        </p:spPr>
      </p:pic>
      <p:pic>
        <p:nvPicPr>
          <p:cNvPr id="496" name="Google Shape;496;p36" descr="Resultado de imagen para metodologia scrum logo"/>
          <p:cNvPicPr preferRelativeResize="0"/>
          <p:nvPr/>
        </p:nvPicPr>
        <p:blipFill rotWithShape="1">
          <a:blip r:embed="rId4">
            <a:alphaModFix/>
          </a:blip>
          <a:srcRect/>
          <a:stretch/>
        </p:blipFill>
        <p:spPr>
          <a:xfrm>
            <a:off x="8442720" y="-2716"/>
            <a:ext cx="2915478" cy="1646898"/>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00"/>
        <p:cNvGrpSpPr/>
        <p:nvPr/>
      </p:nvGrpSpPr>
      <p:grpSpPr>
        <a:xfrm>
          <a:off x="0" y="0"/>
          <a:ext cx="0" cy="0"/>
          <a:chOff x="0" y="0"/>
          <a:chExt cx="0" cy="0"/>
        </a:xfrm>
      </p:grpSpPr>
      <p:sp>
        <p:nvSpPr>
          <p:cNvPr id="501" name="Google Shape;501;p37"/>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Scrum - Proceso</a:t>
            </a:r>
            <a:endParaRPr/>
          </a:p>
        </p:txBody>
      </p:sp>
      <p:sp>
        <p:nvSpPr>
          <p:cNvPr id="502" name="Google Shape;502;p37"/>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Arial"/>
                <a:ea typeface="Arial"/>
                <a:cs typeface="Arial"/>
                <a:sym typeface="Arial"/>
              </a:rPr>
              <a:t>Ingeniería de Software I          </a:t>
            </a:r>
            <a:endParaRPr sz="1400" b="0" i="0" u="none" strike="noStrike" cap="none">
              <a:solidFill>
                <a:srgbClr val="000000"/>
              </a:solidFill>
              <a:latin typeface="Arial"/>
              <a:ea typeface="Arial"/>
              <a:cs typeface="Arial"/>
              <a:sym typeface="Arial"/>
            </a:endParaRPr>
          </a:p>
        </p:txBody>
      </p:sp>
      <p:sp>
        <p:nvSpPr>
          <p:cNvPr id="503" name="Google Shape;503;p37"/>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37</a:t>
            </a:fld>
            <a:endParaRPr/>
          </a:p>
        </p:txBody>
      </p:sp>
      <p:pic>
        <p:nvPicPr>
          <p:cNvPr id="504" name="Google Shape;504;p37" descr="Resultado de imagen para metodologia scrum logo"/>
          <p:cNvPicPr preferRelativeResize="0"/>
          <p:nvPr/>
        </p:nvPicPr>
        <p:blipFill rotWithShape="1">
          <a:blip r:embed="rId3">
            <a:alphaModFix/>
          </a:blip>
          <a:srcRect/>
          <a:stretch/>
        </p:blipFill>
        <p:spPr>
          <a:xfrm>
            <a:off x="8442720" y="-14698"/>
            <a:ext cx="2915478" cy="1646898"/>
          </a:xfrm>
          <a:prstGeom prst="rect">
            <a:avLst/>
          </a:prstGeom>
          <a:noFill/>
          <a:ln>
            <a:noFill/>
          </a:ln>
        </p:spPr>
      </p:pic>
      <p:pic>
        <p:nvPicPr>
          <p:cNvPr id="505" name="Google Shape;505;p37"/>
          <p:cNvPicPr preferRelativeResize="0"/>
          <p:nvPr/>
        </p:nvPicPr>
        <p:blipFill rotWithShape="1">
          <a:blip r:embed="rId4">
            <a:alphaModFix/>
          </a:blip>
          <a:srcRect/>
          <a:stretch/>
        </p:blipFill>
        <p:spPr>
          <a:xfrm>
            <a:off x="1743693" y="1864555"/>
            <a:ext cx="7848872" cy="4100910"/>
          </a:xfrm>
          <a:prstGeom prst="rect">
            <a:avLst/>
          </a:prstGeom>
          <a:noFill/>
          <a:ln>
            <a:noFill/>
          </a:ln>
        </p:spPr>
      </p:pic>
      <p:sp>
        <p:nvSpPr>
          <p:cNvPr id="506" name="Google Shape;506;p37"/>
          <p:cNvSpPr/>
          <p:nvPr/>
        </p:nvSpPr>
        <p:spPr>
          <a:xfrm>
            <a:off x="642862" y="2473224"/>
            <a:ext cx="2818588" cy="982875"/>
          </a:xfrm>
          <a:prstGeom prst="wedgeRoundRectCallout">
            <a:avLst>
              <a:gd name="adj1" fmla="val -4937"/>
              <a:gd name="adj2" fmla="val 178497"/>
              <a:gd name="adj3" fmla="val 16667"/>
            </a:avLst>
          </a:prstGeom>
          <a:solidFill>
            <a:schemeClr val="dk2"/>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1" u="none" strike="noStrike" cap="none" dirty="0">
                <a:solidFill>
                  <a:srgbClr val="000000"/>
                </a:solidFill>
                <a:latin typeface="Calibri"/>
                <a:ea typeface="Calibri"/>
                <a:cs typeface="Calibri"/>
                <a:sym typeface="Calibri"/>
              </a:rPr>
              <a:t>Lista priorizada de funcionalidades desde la perspectiva del cliente</a:t>
            </a:r>
            <a:endParaRPr sz="1400" b="0" i="1" u="none" strike="noStrike" cap="none" dirty="0">
              <a:solidFill>
                <a:schemeClr val="dk1"/>
              </a:solidFill>
              <a:sym typeface="Arial"/>
            </a:endParaRPr>
          </a:p>
        </p:txBody>
      </p:sp>
      <p:sp>
        <p:nvSpPr>
          <p:cNvPr id="507" name="Google Shape;507;p37"/>
          <p:cNvSpPr/>
          <p:nvPr/>
        </p:nvSpPr>
        <p:spPr>
          <a:xfrm>
            <a:off x="3112168" y="1124900"/>
            <a:ext cx="2935238" cy="1532442"/>
          </a:xfrm>
          <a:prstGeom prst="wedgeRoundRectCallout">
            <a:avLst>
              <a:gd name="adj1" fmla="val -2466"/>
              <a:gd name="adj2" fmla="val 176027"/>
              <a:gd name="adj3" fmla="val 16667"/>
            </a:avLst>
          </a:prstGeom>
          <a:solidFill>
            <a:srgbClr val="D9EFD2"/>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1" u="none" strike="noStrike" cap="none" dirty="0">
                <a:solidFill>
                  <a:srgbClr val="000000"/>
                </a:solidFill>
                <a:latin typeface="Calibri"/>
                <a:ea typeface="Calibri"/>
                <a:cs typeface="Calibri"/>
                <a:sym typeface="Calibri"/>
              </a:rPr>
              <a:t>Subconjunto de requerimientos del </a:t>
            </a:r>
            <a:r>
              <a:rPr lang="es-ES" sz="1800" b="0" i="1" u="none" strike="noStrike" cap="none" dirty="0" err="1">
                <a:solidFill>
                  <a:srgbClr val="000000"/>
                </a:solidFill>
                <a:latin typeface="Calibri"/>
                <a:ea typeface="Calibri"/>
                <a:cs typeface="Calibri"/>
                <a:sym typeface="Calibri"/>
              </a:rPr>
              <a:t>Product</a:t>
            </a:r>
            <a:r>
              <a:rPr lang="es-ES" sz="1800" b="0" i="1" u="none" strike="noStrike" cap="none" dirty="0">
                <a:solidFill>
                  <a:srgbClr val="000000"/>
                </a:solidFill>
                <a:latin typeface="Calibri"/>
                <a:ea typeface="Calibri"/>
                <a:cs typeface="Calibri"/>
                <a:sym typeface="Calibri"/>
              </a:rPr>
              <a:t> Backlog seleccionados para la iteración actual y su plan de tareas de desarrollo</a:t>
            </a:r>
            <a:endParaRPr sz="1400" b="0" i="1" u="none" strike="noStrike" cap="none" dirty="0">
              <a:solidFill>
                <a:schemeClr val="dk1"/>
              </a:solidFill>
              <a:sym typeface="Arial"/>
            </a:endParaRPr>
          </a:p>
        </p:txBody>
      </p:sp>
      <p:sp>
        <p:nvSpPr>
          <p:cNvPr id="508" name="Google Shape;508;p37"/>
          <p:cNvSpPr/>
          <p:nvPr/>
        </p:nvSpPr>
        <p:spPr>
          <a:xfrm>
            <a:off x="642862" y="5725696"/>
            <a:ext cx="2818588" cy="995583"/>
          </a:xfrm>
          <a:prstGeom prst="wedgeRoundRectCallout">
            <a:avLst>
              <a:gd name="adj1" fmla="val 42390"/>
              <a:gd name="adj2" fmla="val -104548"/>
              <a:gd name="adj3" fmla="val 16667"/>
            </a:avLst>
          </a:prstGeom>
          <a:solidFill>
            <a:srgbClr val="B5E1E7"/>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1" u="none" strike="noStrike" cap="none" dirty="0">
                <a:solidFill>
                  <a:srgbClr val="000000"/>
                </a:solidFill>
                <a:latin typeface="Calibri"/>
                <a:ea typeface="Calibri"/>
                <a:cs typeface="Calibri"/>
                <a:sym typeface="Calibri"/>
              </a:rPr>
              <a:t>Se planifica la entrega, en el tiempo acordado para la duración del sprint</a:t>
            </a:r>
            <a:endParaRPr sz="1400" b="0" i="1" u="none" strike="noStrike" cap="none" dirty="0">
              <a:solidFill>
                <a:schemeClr val="dk1"/>
              </a:solidFill>
              <a:sym typeface="Arial"/>
            </a:endParaRPr>
          </a:p>
        </p:txBody>
      </p:sp>
      <p:sp>
        <p:nvSpPr>
          <p:cNvPr id="509" name="Google Shape;509;p37"/>
          <p:cNvSpPr/>
          <p:nvPr/>
        </p:nvSpPr>
        <p:spPr>
          <a:xfrm>
            <a:off x="7817670" y="980615"/>
            <a:ext cx="3540528" cy="1450801"/>
          </a:xfrm>
          <a:prstGeom prst="wedgeRoundRectCallout">
            <a:avLst>
              <a:gd name="adj1" fmla="val -37662"/>
              <a:gd name="adj2" fmla="val 86577"/>
              <a:gd name="adj3" fmla="val 16667"/>
            </a:avLst>
          </a:prstGeom>
          <a:solidFill>
            <a:srgbClr val="D9E188"/>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s-ES" sz="1800" b="0" i="1" u="none" strike="noStrike" cap="none" dirty="0">
                <a:solidFill>
                  <a:srgbClr val="000000"/>
                </a:solidFill>
                <a:latin typeface="Calibri"/>
                <a:ea typeface="Calibri"/>
                <a:cs typeface="Calibri"/>
                <a:sym typeface="Calibri"/>
              </a:rPr>
              <a:t>Reunión ágil, corta, de 15 a 30 minutos de duración en un lugar y hora convenida. El objetivo de estas reuniones es dar visibilidad a los avances diarios</a:t>
            </a:r>
            <a:endParaRPr sz="1400" b="0" i="1" u="none" strike="noStrike" cap="none" dirty="0">
              <a:solidFill>
                <a:schemeClr val="lt1"/>
              </a:solidFill>
              <a:sym typeface="Arial"/>
            </a:endParaRPr>
          </a:p>
        </p:txBody>
      </p:sp>
      <p:sp>
        <p:nvSpPr>
          <p:cNvPr id="510" name="Google Shape;510;p37"/>
          <p:cNvSpPr/>
          <p:nvPr/>
        </p:nvSpPr>
        <p:spPr>
          <a:xfrm>
            <a:off x="9592565" y="2823834"/>
            <a:ext cx="2599435" cy="2460560"/>
          </a:xfrm>
          <a:prstGeom prst="wedgeRoundRectCallout">
            <a:avLst>
              <a:gd name="adj1" fmla="val -63486"/>
              <a:gd name="adj2" fmla="val -3208"/>
              <a:gd name="adj3" fmla="val 16667"/>
            </a:avLst>
          </a:prstGeom>
          <a:solidFill>
            <a:srgbClr val="92D050"/>
          </a:solidFill>
          <a:ln w="25400" cap="flat" cmpd="sng">
            <a:solidFill>
              <a:srgbClr val="234218"/>
            </a:solidFill>
            <a:prstDash val="solid"/>
            <a:round/>
            <a:headEnd type="none" w="sm" len="sm"/>
            <a:tailEnd type="none" w="sm" len="sm"/>
          </a:ln>
        </p:spPr>
        <p:txBody>
          <a:bodyPr spcFirstLastPara="1" wrap="square" lIns="0" tIns="45700" rIns="0" bIns="45700" anchor="ctr" anchorCtr="0">
            <a:noAutofit/>
          </a:bodyPr>
          <a:lstStyle/>
          <a:p>
            <a:pPr marL="6350" marR="0" lvl="0" indent="-6350" algn="ctr" defTabSz="977900" rtl="0">
              <a:lnSpc>
                <a:spcPct val="111000"/>
              </a:lnSpc>
              <a:spcBef>
                <a:spcPts val="0"/>
              </a:spcBef>
              <a:spcAft>
                <a:spcPts val="0"/>
              </a:spcAft>
              <a:buClr>
                <a:srgbClr val="000000"/>
              </a:buClr>
              <a:buSzPts val="1800"/>
              <a:buFont typeface="Arial"/>
              <a:buNone/>
              <a:tabLst>
                <a:tab pos="801688" algn="l"/>
                <a:tab pos="2070100" algn="l"/>
              </a:tabLst>
            </a:pPr>
            <a:r>
              <a:rPr lang="es-ES" sz="1800" b="0" i="1" u="none" strike="noStrike" cap="none" dirty="0">
                <a:solidFill>
                  <a:srgbClr val="000000"/>
                </a:solidFill>
                <a:latin typeface="Calibri"/>
                <a:ea typeface="Calibri"/>
                <a:cs typeface="Calibri"/>
                <a:sym typeface="Calibri"/>
              </a:rPr>
              <a:t>Se lleva a cabo al final del Sprint, y se muestra lo implementado en dicha iteración. Se evalúan cada uno de los requerimientos implementados del Sprint Backlog. </a:t>
            </a:r>
            <a:endParaRPr sz="1400" b="0" i="1" u="none" strike="noStrike" cap="none" dirty="0">
              <a:solidFill>
                <a:srgbClr val="000000"/>
              </a:solidFill>
              <a:sym typeface="Arial"/>
            </a:endParaRPr>
          </a:p>
        </p:txBody>
      </p:sp>
      <p:sp>
        <p:nvSpPr>
          <p:cNvPr id="511" name="Google Shape;511;p37"/>
          <p:cNvSpPr/>
          <p:nvPr/>
        </p:nvSpPr>
        <p:spPr>
          <a:xfrm>
            <a:off x="4905623" y="5291619"/>
            <a:ext cx="3824929" cy="1477917"/>
          </a:xfrm>
          <a:prstGeom prst="wedgeRoundRectCallout">
            <a:avLst>
              <a:gd name="adj1" fmla="val 56903"/>
              <a:gd name="adj2" fmla="val -49631"/>
              <a:gd name="adj3" fmla="val 16667"/>
            </a:avLst>
          </a:prstGeom>
          <a:solidFill>
            <a:srgbClr val="D1E7A7"/>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6350" marR="0" lvl="0" indent="-6350" algn="ctr" rtl="0">
              <a:lnSpc>
                <a:spcPct val="111000"/>
              </a:lnSpc>
              <a:spcBef>
                <a:spcPts val="0"/>
              </a:spcBef>
              <a:spcAft>
                <a:spcPts val="0"/>
              </a:spcAft>
              <a:buClr>
                <a:srgbClr val="000000"/>
              </a:buClr>
              <a:buSzPts val="1800"/>
              <a:buFont typeface="Arial"/>
              <a:buNone/>
            </a:pPr>
            <a:r>
              <a:rPr lang="es-ES" sz="1800" b="0" i="1" u="none" strike="noStrike" cap="none" dirty="0">
                <a:solidFill>
                  <a:srgbClr val="000000"/>
                </a:solidFill>
                <a:latin typeface="Calibri"/>
                <a:ea typeface="Calibri"/>
                <a:cs typeface="Calibri"/>
                <a:sym typeface="Calibri"/>
              </a:rPr>
              <a:t>Evento donde se toma en cuenta los resultados del Sprint, discutidos previamente en la Sprint </a:t>
            </a:r>
            <a:r>
              <a:rPr lang="es-ES" sz="1800" b="0" i="1" u="none" strike="noStrike" cap="none" dirty="0" err="1">
                <a:solidFill>
                  <a:srgbClr val="000000"/>
                </a:solidFill>
                <a:latin typeface="Calibri"/>
                <a:ea typeface="Calibri"/>
                <a:cs typeface="Calibri"/>
                <a:sym typeface="Calibri"/>
              </a:rPr>
              <a:t>Review</a:t>
            </a:r>
            <a:r>
              <a:rPr lang="es-ES" sz="1800" b="0" i="1" u="none" strike="noStrike" cap="none" dirty="0">
                <a:solidFill>
                  <a:srgbClr val="000000"/>
                </a:solidFill>
                <a:latin typeface="Calibri"/>
                <a:ea typeface="Calibri"/>
                <a:cs typeface="Calibri"/>
                <a:sym typeface="Calibri"/>
              </a:rPr>
              <a:t>. Es una reunión de lecciones aprendidas</a:t>
            </a:r>
            <a:endParaRPr sz="1400" b="0" i="1" u="none" strike="noStrike" cap="none" dirty="0">
              <a:solidFill>
                <a:srgbClr val="000000"/>
              </a:solidFil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0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38"/>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Scrum - Proceso</a:t>
            </a:r>
            <a:endParaRPr/>
          </a:p>
        </p:txBody>
      </p:sp>
      <p:sp>
        <p:nvSpPr>
          <p:cNvPr id="517" name="Google Shape;517;p38"/>
          <p:cNvSpPr txBox="1">
            <a:spLocks noGrp="1"/>
          </p:cNvSpPr>
          <p:nvPr>
            <p:ph type="body" idx="1"/>
          </p:nvPr>
        </p:nvSpPr>
        <p:spPr>
          <a:xfrm>
            <a:off x="676276" y="2270001"/>
            <a:ext cx="10753725" cy="3766185"/>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400" dirty="0"/>
              <a:t>Scrum es </a:t>
            </a:r>
            <a:r>
              <a:rPr lang="es-ES" sz="2400" b="1" u="sng" dirty="0"/>
              <a:t>iterativo e incremental </a:t>
            </a:r>
            <a:endParaRPr dirty="0"/>
          </a:p>
          <a:p>
            <a:pPr marL="457200" lvl="0" indent="-342900" algn="just" rtl="0">
              <a:lnSpc>
                <a:spcPct val="90000"/>
              </a:lnSpc>
              <a:spcBef>
                <a:spcPts val="1195"/>
              </a:spcBef>
              <a:spcAft>
                <a:spcPts val="0"/>
              </a:spcAft>
              <a:buSzPts val="1800"/>
              <a:buChar char=" "/>
            </a:pPr>
            <a:r>
              <a:rPr lang="es-ES" sz="2400" dirty="0"/>
              <a:t>Se busca poder atacar todos los problemas que surgen durante el desarrollo del proyecto.</a:t>
            </a:r>
            <a:endParaRPr dirty="0"/>
          </a:p>
          <a:p>
            <a:pPr marL="457200" lvl="0" indent="-342900" algn="just" rtl="0">
              <a:lnSpc>
                <a:spcPct val="90000"/>
              </a:lnSpc>
              <a:spcBef>
                <a:spcPts val="1195"/>
              </a:spcBef>
              <a:spcAft>
                <a:spcPts val="0"/>
              </a:spcAft>
              <a:buSzPts val="1800"/>
              <a:buChar char=" "/>
            </a:pPr>
            <a:r>
              <a:rPr lang="es-ES" sz="2400" dirty="0"/>
              <a:t>El nombre Scrum se debe a que, durante los </a:t>
            </a:r>
            <a:r>
              <a:rPr lang="es-ES" sz="2400" dirty="0" err="1"/>
              <a:t>Sprints</a:t>
            </a:r>
            <a:r>
              <a:rPr lang="es-ES" sz="2400" dirty="0"/>
              <a:t>, lo que serían las fases de desarrollo, se solapan, de manera que no es un proceso de cascada por cada iteración, si no que tenemos todas estas etapas juntas que se ejecutan una y otra vez, hasta que se crea suficiente. </a:t>
            </a:r>
            <a:endParaRPr dirty="0"/>
          </a:p>
          <a:p>
            <a:pPr marL="457200" lvl="0" indent="-228600" algn="just" rtl="0">
              <a:lnSpc>
                <a:spcPct val="90000"/>
              </a:lnSpc>
              <a:spcBef>
                <a:spcPts val="1195"/>
              </a:spcBef>
              <a:spcAft>
                <a:spcPts val="0"/>
              </a:spcAft>
              <a:buSzPts val="1800"/>
              <a:buNone/>
            </a:pPr>
            <a:endParaRPr sz="2400" dirty="0"/>
          </a:p>
        </p:txBody>
      </p:sp>
      <p:sp>
        <p:nvSpPr>
          <p:cNvPr id="518" name="Google Shape;518;p38"/>
          <p:cNvSpPr txBox="1">
            <a:spLocks noGrp="1"/>
          </p:cNvSpPr>
          <p:nvPr>
            <p:ph type="ftr" idx="11"/>
          </p:nvPr>
        </p:nvSpPr>
        <p:spPr>
          <a:xfrm>
            <a:off x="3686185" y="6459787"/>
            <a:ext cx="4822800" cy="365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Arial"/>
                <a:ea typeface="Arial"/>
                <a:cs typeface="Arial"/>
                <a:sym typeface="Arial"/>
              </a:rPr>
              <a:t>Ingeniería de Software I          </a:t>
            </a:r>
            <a:endParaRPr sz="1400" b="0" i="0" u="none" strike="noStrike" cap="none">
              <a:solidFill>
                <a:srgbClr val="000000"/>
              </a:solidFill>
              <a:latin typeface="Arial"/>
              <a:ea typeface="Arial"/>
              <a:cs typeface="Arial"/>
              <a:sym typeface="Arial"/>
            </a:endParaRPr>
          </a:p>
        </p:txBody>
      </p:sp>
      <p:sp>
        <p:nvSpPr>
          <p:cNvPr id="519" name="Google Shape;519;p38"/>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38</a:t>
            </a:fld>
            <a:endParaRPr/>
          </a:p>
        </p:txBody>
      </p:sp>
      <p:sp>
        <p:nvSpPr>
          <p:cNvPr id="520" name="Google Shape;520;p38"/>
          <p:cNvSpPr/>
          <p:nvPr/>
        </p:nvSpPr>
        <p:spPr>
          <a:xfrm>
            <a:off x="1425575" y="3245128"/>
            <a:ext cx="295274" cy="369332"/>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Clr>
                <a:srgbClr val="000000"/>
              </a:buClr>
              <a:buSzPts val="1400"/>
              <a:buFont typeface="Arial"/>
              <a:buNone/>
            </a:pPr>
            <a:r>
              <a:rPr lang="es-E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pic>
        <p:nvPicPr>
          <p:cNvPr id="521" name="Google Shape;521;p38" descr="Resultado de imagen para metodologia scrum logo"/>
          <p:cNvPicPr preferRelativeResize="0"/>
          <p:nvPr/>
        </p:nvPicPr>
        <p:blipFill rotWithShape="1">
          <a:blip r:embed="rId3">
            <a:alphaModFix/>
          </a:blip>
          <a:srcRect/>
          <a:stretch/>
        </p:blipFill>
        <p:spPr>
          <a:xfrm>
            <a:off x="8442720" y="-1635"/>
            <a:ext cx="2915478" cy="16468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39"/>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¿Cuándo usar Scrum?</a:t>
            </a:r>
            <a:endParaRPr/>
          </a:p>
        </p:txBody>
      </p:sp>
      <p:sp>
        <p:nvSpPr>
          <p:cNvPr id="527" name="Google Shape;527;p39"/>
          <p:cNvSpPr txBox="1">
            <a:spLocks noGrp="1"/>
          </p:cNvSpPr>
          <p:nvPr>
            <p:ph type="body" idx="1"/>
          </p:nvPr>
        </p:nvSpPr>
        <p:spPr>
          <a:xfrm>
            <a:off x="888732" y="2086946"/>
            <a:ext cx="10266947" cy="4023300"/>
          </a:xfrm>
          <a:prstGeom prst="rect">
            <a:avLst/>
          </a:prstGeom>
          <a:noFill/>
          <a:ln>
            <a:noFill/>
          </a:ln>
        </p:spPr>
        <p:txBody>
          <a:bodyPr spcFirstLastPara="1" wrap="square" lIns="0" tIns="45700" rIns="0" bIns="45700" anchor="t" anchorCtr="0">
            <a:normAutofit/>
          </a:bodyPr>
          <a:lstStyle/>
          <a:p>
            <a:pPr marL="457200" lvl="0" indent="-342900" algn="just" rtl="0">
              <a:lnSpc>
                <a:spcPct val="90000"/>
              </a:lnSpc>
              <a:spcBef>
                <a:spcPts val="1195"/>
              </a:spcBef>
              <a:spcAft>
                <a:spcPts val="0"/>
              </a:spcAft>
              <a:buSzPts val="1800"/>
              <a:buChar char=" "/>
            </a:pPr>
            <a:r>
              <a:rPr lang="es-ES" sz="2400" dirty="0"/>
              <a:t>Scrum está pensado para ser aplicado en proyectos en donde el “caos” es una constante, aquellos proyectos en los que tenemos requerimientos dinámicos, y que tenemos que implementar tecnología de punta. </a:t>
            </a:r>
            <a:endParaRPr dirty="0"/>
          </a:p>
          <a:p>
            <a:pPr marL="457200" lvl="0" indent="-342900" algn="just" rtl="0">
              <a:lnSpc>
                <a:spcPct val="90000"/>
              </a:lnSpc>
              <a:spcBef>
                <a:spcPts val="1195"/>
              </a:spcBef>
              <a:spcAft>
                <a:spcPts val="0"/>
              </a:spcAft>
              <a:buSzPts val="1800"/>
              <a:buChar char=" "/>
            </a:pPr>
            <a:r>
              <a:rPr lang="es-ES" sz="2400" dirty="0"/>
              <a:t>Esos proyectos difíciles, que con los enfoques tradicionales se hace imposible llegar a buen puerto.</a:t>
            </a:r>
            <a:endParaRPr dirty="0"/>
          </a:p>
        </p:txBody>
      </p:sp>
      <p:sp>
        <p:nvSpPr>
          <p:cNvPr id="528" name="Google Shape;528;p39"/>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39</a:t>
            </a:fld>
            <a:endParaRPr/>
          </a:p>
        </p:txBody>
      </p:sp>
      <p:pic>
        <p:nvPicPr>
          <p:cNvPr id="529" name="Google Shape;529;p39" descr="Resultado de imagen para metodologia scrum logo"/>
          <p:cNvPicPr preferRelativeResize="0"/>
          <p:nvPr/>
        </p:nvPicPr>
        <p:blipFill rotWithShape="1">
          <a:blip r:embed="rId3">
            <a:alphaModFix/>
          </a:blip>
          <a:srcRect/>
          <a:stretch/>
        </p:blipFill>
        <p:spPr>
          <a:xfrm>
            <a:off x="8442720" y="33113"/>
            <a:ext cx="2915478" cy="1646898"/>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pic>
        <p:nvPicPr>
          <p:cNvPr id="534" name="Google Shape;534;p40"/>
          <p:cNvPicPr preferRelativeResize="0"/>
          <p:nvPr/>
        </p:nvPicPr>
        <p:blipFill rotWithShape="1">
          <a:blip r:embed="rId3">
            <a:alphaModFix/>
          </a:blip>
          <a:srcRect/>
          <a:stretch/>
        </p:blipFill>
        <p:spPr>
          <a:xfrm>
            <a:off x="9241790" y="137801"/>
            <a:ext cx="1678745" cy="1381125"/>
          </a:xfrm>
          <a:prstGeom prst="rect">
            <a:avLst/>
          </a:prstGeom>
          <a:noFill/>
          <a:ln>
            <a:noFill/>
          </a:ln>
        </p:spPr>
      </p:pic>
      <p:sp>
        <p:nvSpPr>
          <p:cNvPr id="535" name="Google Shape;535;p40"/>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KANBAN</a:t>
            </a:r>
            <a:endParaRPr/>
          </a:p>
        </p:txBody>
      </p:sp>
      <p:sp>
        <p:nvSpPr>
          <p:cNvPr id="536" name="Google Shape;536;p40"/>
          <p:cNvSpPr txBox="1">
            <a:spLocks noGrp="1"/>
          </p:cNvSpPr>
          <p:nvPr>
            <p:ph type="body" idx="1"/>
          </p:nvPr>
        </p:nvSpPr>
        <p:spPr>
          <a:xfrm>
            <a:off x="676657" y="2011680"/>
            <a:ext cx="10479024" cy="4153624"/>
          </a:xfrm>
          <a:prstGeom prst="rect">
            <a:avLst/>
          </a:prstGeom>
          <a:noFill/>
          <a:ln>
            <a:noFill/>
          </a:ln>
        </p:spPr>
        <p:txBody>
          <a:bodyPr spcFirstLastPara="1" wrap="square" lIns="0" tIns="45700" rIns="0" bIns="45700" anchor="t" anchorCtr="0">
            <a:noAutofit/>
          </a:bodyPr>
          <a:lstStyle/>
          <a:p>
            <a:pPr marL="457200" lvl="0" indent="-342900" algn="just" rtl="0">
              <a:lnSpc>
                <a:spcPct val="90000"/>
              </a:lnSpc>
              <a:spcBef>
                <a:spcPts val="1195"/>
              </a:spcBef>
              <a:spcAft>
                <a:spcPts val="0"/>
              </a:spcAft>
              <a:buSzPts val="1800"/>
              <a:buChar char=" "/>
            </a:pPr>
            <a:r>
              <a:rPr lang="es-ES" sz="2400" dirty="0">
                <a:solidFill>
                  <a:srgbClr val="000000"/>
                </a:solidFill>
                <a:latin typeface="Calibri"/>
                <a:ea typeface="Calibri"/>
                <a:cs typeface="Calibri"/>
                <a:sym typeface="Calibri"/>
              </a:rPr>
              <a:t>Es un enfoque Lean de desarrollo de software ágil. </a:t>
            </a:r>
            <a:endParaRPr sz="2400" dirty="0"/>
          </a:p>
          <a:p>
            <a:pPr marL="457200" lvl="0" indent="-342900" algn="just" rtl="0">
              <a:lnSpc>
                <a:spcPct val="90000"/>
              </a:lnSpc>
              <a:spcBef>
                <a:spcPts val="1195"/>
              </a:spcBef>
              <a:spcAft>
                <a:spcPts val="0"/>
              </a:spcAft>
              <a:buSzPts val="1800"/>
              <a:buChar char=" "/>
            </a:pPr>
            <a:r>
              <a:rPr lang="es-ES" sz="2400" dirty="0">
                <a:solidFill>
                  <a:srgbClr val="000000"/>
                </a:solidFill>
                <a:latin typeface="Calibri"/>
                <a:ea typeface="Calibri"/>
                <a:cs typeface="Calibri"/>
                <a:sym typeface="Calibri"/>
              </a:rPr>
              <a:t>Literalmente, Kanban es una palabra japonesa que significa "tarjeta visual". En Toyota, Kanban es el término que se utiliza para el sistema de señalización visual y física que une todo el sistema de producción Lean.</a:t>
            </a:r>
            <a:endParaRPr sz="2400" dirty="0"/>
          </a:p>
          <a:p>
            <a:pPr marL="457200" lvl="0" indent="-342900" algn="just" rtl="0">
              <a:lnSpc>
                <a:spcPct val="90000"/>
              </a:lnSpc>
              <a:spcBef>
                <a:spcPts val="1195"/>
              </a:spcBef>
              <a:spcAft>
                <a:spcPts val="0"/>
              </a:spcAft>
              <a:buSzPts val="1800"/>
              <a:buChar char=" "/>
            </a:pPr>
            <a:r>
              <a:rPr lang="es-ES" sz="2400" dirty="0">
                <a:solidFill>
                  <a:srgbClr val="000000"/>
                </a:solidFill>
                <a:latin typeface="Calibri"/>
                <a:ea typeface="Calibri"/>
                <a:cs typeface="Calibri"/>
                <a:sym typeface="Calibri"/>
              </a:rPr>
              <a:t> Kanban se presenta como una herramienta de gestión que prescribe solo 3 prácticas: </a:t>
            </a:r>
            <a:endParaRPr sz="2400" dirty="0"/>
          </a:p>
          <a:p>
            <a:pPr marL="914400" lvl="1" indent="-342900" algn="just" rtl="0">
              <a:lnSpc>
                <a:spcPct val="90000"/>
              </a:lnSpc>
              <a:spcBef>
                <a:spcPts val="199"/>
              </a:spcBef>
              <a:spcAft>
                <a:spcPts val="0"/>
              </a:spcAft>
              <a:buSzPts val="1800"/>
              <a:buFont typeface="Noto Sans Symbols"/>
              <a:buChar char="▪"/>
            </a:pPr>
            <a:r>
              <a:rPr lang="es-ES" sz="2400" dirty="0">
                <a:solidFill>
                  <a:srgbClr val="000000"/>
                </a:solidFill>
                <a:latin typeface="Calibri"/>
                <a:ea typeface="Calibri"/>
                <a:cs typeface="Calibri"/>
                <a:sym typeface="Calibri"/>
              </a:rPr>
              <a:t>limitar el trabajo en curso </a:t>
            </a:r>
            <a:endParaRPr sz="2400" dirty="0"/>
          </a:p>
          <a:p>
            <a:pPr marL="914400" lvl="1" indent="-342900" algn="just" rtl="0">
              <a:lnSpc>
                <a:spcPct val="90000"/>
              </a:lnSpc>
              <a:spcBef>
                <a:spcPts val="199"/>
              </a:spcBef>
              <a:spcAft>
                <a:spcPts val="0"/>
              </a:spcAft>
              <a:buSzPts val="1800"/>
              <a:buFont typeface="Noto Sans Symbols"/>
              <a:buChar char="▪"/>
            </a:pPr>
            <a:r>
              <a:rPr lang="es-ES" sz="2400" dirty="0">
                <a:solidFill>
                  <a:srgbClr val="000000"/>
                </a:solidFill>
                <a:latin typeface="Calibri"/>
                <a:ea typeface="Calibri"/>
                <a:cs typeface="Calibri"/>
                <a:sym typeface="Calibri"/>
              </a:rPr>
              <a:t>visualizar el flujo de trabajo</a:t>
            </a:r>
            <a:endParaRPr sz="2400" dirty="0"/>
          </a:p>
          <a:p>
            <a:pPr marL="914400" lvl="1" indent="-342900" algn="just" rtl="0">
              <a:lnSpc>
                <a:spcPct val="90000"/>
              </a:lnSpc>
              <a:spcBef>
                <a:spcPts val="199"/>
              </a:spcBef>
              <a:spcAft>
                <a:spcPts val="0"/>
              </a:spcAft>
              <a:buSzPts val="1800"/>
              <a:buFont typeface="Noto Sans Symbols"/>
              <a:buChar char="▪"/>
            </a:pPr>
            <a:r>
              <a:rPr lang="es-ES" sz="2400" dirty="0">
                <a:solidFill>
                  <a:srgbClr val="000000"/>
                </a:solidFill>
                <a:latin typeface="Calibri"/>
                <a:ea typeface="Calibri"/>
                <a:cs typeface="Calibri"/>
                <a:sym typeface="Calibri"/>
              </a:rPr>
              <a:t>medir el tiempo promedio de entrega. </a:t>
            </a:r>
            <a:endParaRPr sz="2400" dirty="0"/>
          </a:p>
          <a:p>
            <a:pPr marL="3429" lvl="1" indent="0" algn="just" rtl="0">
              <a:lnSpc>
                <a:spcPct val="90000"/>
              </a:lnSpc>
              <a:spcBef>
                <a:spcPts val="199"/>
              </a:spcBef>
              <a:spcAft>
                <a:spcPts val="0"/>
              </a:spcAft>
              <a:buSzPts val="1800"/>
              <a:buNone/>
            </a:pPr>
            <a:endParaRPr sz="2400" dirty="0">
              <a:solidFill>
                <a:srgbClr val="000000"/>
              </a:solidFill>
              <a:latin typeface="Calibri"/>
              <a:ea typeface="Calibri"/>
              <a:cs typeface="Calibri"/>
              <a:sym typeface="Calibri"/>
            </a:endParaRPr>
          </a:p>
          <a:p>
            <a:pPr marL="3429" lvl="1" indent="0" algn="just" rtl="0">
              <a:lnSpc>
                <a:spcPct val="90000"/>
              </a:lnSpc>
              <a:spcBef>
                <a:spcPts val="199"/>
              </a:spcBef>
              <a:spcAft>
                <a:spcPts val="0"/>
              </a:spcAft>
              <a:buSzPts val="1800"/>
              <a:buNone/>
            </a:pPr>
            <a:r>
              <a:rPr lang="es-ES" sz="2400" dirty="0">
                <a:solidFill>
                  <a:srgbClr val="000000"/>
                </a:solidFill>
                <a:latin typeface="Calibri"/>
                <a:ea typeface="Calibri"/>
                <a:cs typeface="Calibri"/>
                <a:sym typeface="Calibri"/>
              </a:rPr>
              <a:t>     Esto la convierte en una herramienta simple, pero a la vez muy potente</a:t>
            </a:r>
            <a:endParaRPr sz="2400" dirty="0"/>
          </a:p>
        </p:txBody>
      </p:sp>
      <p:sp>
        <p:nvSpPr>
          <p:cNvPr id="537" name="Google Shape;537;p40"/>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40</a:t>
            </a:fld>
            <a:endParaRPr/>
          </a:p>
        </p:txBody>
      </p:sp>
      <p:sp>
        <p:nvSpPr>
          <p:cNvPr id="538" name="Google Shape;538;p40"/>
          <p:cNvSpPr/>
          <p:nvPr/>
        </p:nvSpPr>
        <p:spPr>
          <a:xfrm>
            <a:off x="6883438" y="2276872"/>
            <a:ext cx="4536502" cy="2448272"/>
          </a:xfrm>
          <a:prstGeom prst="wedgeRectCallout">
            <a:avLst>
              <a:gd name="adj1" fmla="val -136263"/>
              <a:gd name="adj2" fmla="val -45430"/>
            </a:avLst>
          </a:prstGeom>
          <a:solidFill>
            <a:srgbClr val="B6E0A6"/>
          </a:solidFill>
          <a:ln w="25400" cap="flat" cmpd="sng">
            <a:solidFill>
              <a:srgbClr val="23421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s-ES" sz="1800" i="1" u="none" strike="noStrike" cap="none" dirty="0">
                <a:solidFill>
                  <a:schemeClr val="tx1"/>
                </a:solidFill>
                <a:latin typeface="Calibri" panose="020F0502020204030204" pitchFamily="34" charset="0"/>
                <a:ea typeface="Raleway"/>
                <a:cs typeface="Calibri" panose="020F0502020204030204" pitchFamily="34" charset="0"/>
                <a:sym typeface="Raleway"/>
              </a:rPr>
              <a:t>Filosofía que hace hincapié en la eliminación de residuos o de no valor añadido a través de la mejora continua para agilizar las operaciones. Está centrado en el cliente y enfatiza el concepto de eliminar cualquier actividad que no agregue valor a la creación o entrega de un producto o servicio. Lean se centra en ofrecer una mayor calidad, reducir el tiempo de ciclo y reducir los costos</a:t>
            </a:r>
            <a:r>
              <a:rPr lang="es-ES" sz="1400" b="0" i="0" u="none" strike="noStrike" cap="none" dirty="0">
                <a:solidFill>
                  <a:srgbClr val="58595B"/>
                </a:solidFill>
                <a:latin typeface="Raleway"/>
                <a:ea typeface="Raleway"/>
                <a:cs typeface="Raleway"/>
                <a:sym typeface="Raleway"/>
              </a:rPr>
              <a:t>.</a:t>
            </a:r>
            <a:endParaRPr sz="1400" b="0" i="0" u="none" strike="noStrike" cap="none" dirty="0">
              <a:solidFill>
                <a:schemeClr val="lt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41"/>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KANBAN</a:t>
            </a:r>
            <a:endParaRPr/>
          </a:p>
        </p:txBody>
      </p:sp>
      <p:sp>
        <p:nvSpPr>
          <p:cNvPr id="544" name="Google Shape;544;p41"/>
          <p:cNvSpPr txBox="1">
            <a:spLocks noGrp="1"/>
          </p:cNvSpPr>
          <p:nvPr>
            <p:ph type="body" idx="1"/>
          </p:nvPr>
        </p:nvSpPr>
        <p:spPr>
          <a:xfrm>
            <a:off x="1097280" y="1719779"/>
            <a:ext cx="10115079" cy="4081616"/>
          </a:xfrm>
          <a:prstGeom prst="rect">
            <a:avLst/>
          </a:prstGeom>
          <a:noFill/>
          <a:ln>
            <a:noFill/>
          </a:ln>
        </p:spPr>
        <p:txBody>
          <a:bodyPr spcFirstLastPara="1" wrap="square" lIns="0" tIns="45700" rIns="0" bIns="45700" anchor="t" anchorCtr="0">
            <a:noAutofit/>
          </a:bodyPr>
          <a:lstStyle/>
          <a:p>
            <a:pPr marL="0" lvl="0" indent="0" algn="just" rtl="0">
              <a:lnSpc>
                <a:spcPct val="111000"/>
              </a:lnSpc>
              <a:spcBef>
                <a:spcPts val="1195"/>
              </a:spcBef>
              <a:spcAft>
                <a:spcPts val="0"/>
              </a:spcAft>
              <a:buSzPts val="1800"/>
              <a:buNone/>
            </a:pPr>
            <a:r>
              <a:rPr lang="es-ES" sz="2100" dirty="0">
                <a:solidFill>
                  <a:srgbClr val="000000"/>
                </a:solidFill>
                <a:latin typeface="Calibri"/>
                <a:ea typeface="Calibri"/>
                <a:cs typeface="Calibri"/>
                <a:sym typeface="Calibri"/>
              </a:rPr>
              <a:t>Esta metodología ha ganado popularidad en el mantenimiento de multiproyectos de diferentes características.</a:t>
            </a:r>
            <a:endParaRPr sz="2100" dirty="0"/>
          </a:p>
          <a:p>
            <a:pPr marL="0" lvl="0" indent="0" algn="just" rtl="0">
              <a:lnSpc>
                <a:spcPct val="111000"/>
              </a:lnSpc>
              <a:spcBef>
                <a:spcPts val="1220"/>
              </a:spcBef>
              <a:spcAft>
                <a:spcPts val="0"/>
              </a:spcAft>
              <a:buSzPts val="1800"/>
              <a:buNone/>
            </a:pPr>
            <a:r>
              <a:rPr lang="es-ES" sz="2100" dirty="0">
                <a:solidFill>
                  <a:srgbClr val="000000"/>
                </a:solidFill>
                <a:latin typeface="Calibri"/>
                <a:ea typeface="Calibri"/>
                <a:cs typeface="Calibri"/>
                <a:sym typeface="Calibri"/>
              </a:rPr>
              <a:t>Kanban trata de administrar el flujo de trabajo. Inicialmente, no reemplaza nada que la </a:t>
            </a:r>
            <a:r>
              <a:rPr lang="es-ES" sz="2100" dirty="0" err="1">
                <a:solidFill>
                  <a:srgbClr val="000000"/>
                </a:solidFill>
                <a:latin typeface="Calibri"/>
                <a:ea typeface="Calibri"/>
                <a:cs typeface="Calibri"/>
                <a:sym typeface="Calibri"/>
              </a:rPr>
              <a:t>rganización</a:t>
            </a:r>
            <a:r>
              <a:rPr lang="es-ES" sz="2100" dirty="0">
                <a:solidFill>
                  <a:srgbClr val="000000"/>
                </a:solidFill>
                <a:latin typeface="Calibri"/>
                <a:ea typeface="Calibri"/>
                <a:cs typeface="Calibri"/>
                <a:sym typeface="Calibri"/>
              </a:rPr>
              <a:t> haga, simplemente impulsa el cambio. </a:t>
            </a:r>
            <a:endParaRPr sz="2100" dirty="0"/>
          </a:p>
          <a:p>
            <a:pPr marL="0" lvl="0" indent="0" algn="just" rtl="0">
              <a:lnSpc>
                <a:spcPct val="111000"/>
              </a:lnSpc>
              <a:spcBef>
                <a:spcPts val="1220"/>
              </a:spcBef>
              <a:spcAft>
                <a:spcPts val="0"/>
              </a:spcAft>
              <a:buSzPts val="1800"/>
              <a:buNone/>
            </a:pPr>
            <a:r>
              <a:rPr lang="es-ES" sz="2100" dirty="0">
                <a:solidFill>
                  <a:srgbClr val="000000"/>
                </a:solidFill>
                <a:latin typeface="Calibri"/>
                <a:ea typeface="Calibri"/>
                <a:cs typeface="Calibri"/>
                <a:sym typeface="Calibri"/>
              </a:rPr>
              <a:t>A diferencias de otras metodologías no define ningún rol y no prescribe una secuencia de pasos definidos para llevar a cabo el desarrollo del proyecto. Su implementación es sencilla (3 prácticas) </a:t>
            </a:r>
            <a:endParaRPr sz="2100" dirty="0"/>
          </a:p>
          <a:p>
            <a:pPr marL="0" lvl="0" indent="0" algn="just" rtl="0">
              <a:lnSpc>
                <a:spcPct val="111000"/>
              </a:lnSpc>
              <a:spcBef>
                <a:spcPts val="1220"/>
              </a:spcBef>
              <a:spcAft>
                <a:spcPts val="0"/>
              </a:spcAft>
              <a:buSzPts val="1800"/>
              <a:buNone/>
            </a:pPr>
            <a:r>
              <a:rPr lang="es-ES" sz="2100" dirty="0">
                <a:solidFill>
                  <a:srgbClr val="000000"/>
                </a:solidFill>
                <a:latin typeface="Calibri"/>
                <a:ea typeface="Calibri"/>
                <a:cs typeface="Calibri"/>
                <a:sym typeface="Calibri"/>
              </a:rPr>
              <a:t>Es habitual combinar en las prácticas de otras metodologías ágiles </a:t>
            </a:r>
            <a:r>
              <a:rPr lang="es-ES" sz="2100" b="1" i="1" u="sng" dirty="0">
                <a:solidFill>
                  <a:srgbClr val="000000"/>
                </a:solidFill>
                <a:latin typeface="Calibri"/>
                <a:ea typeface="Calibri"/>
                <a:cs typeface="Calibri"/>
                <a:sym typeface="Calibri"/>
              </a:rPr>
              <a:t>los tableros Kanban </a:t>
            </a:r>
            <a:r>
              <a:rPr lang="es-ES" sz="2100" dirty="0">
                <a:solidFill>
                  <a:srgbClr val="000000"/>
                </a:solidFill>
                <a:latin typeface="Calibri"/>
                <a:ea typeface="Calibri"/>
                <a:cs typeface="Calibri"/>
                <a:sym typeface="Calibri"/>
              </a:rPr>
              <a:t>que son la herramienta ágil por excelencia de esta metodología, donde se visualizan las tareas a realizar, las realizadas y lo pendiente. Estos, son una herramienta para el control visual del sistema que ayuda a un equipo a visualizar explícitamente el proceso de desarrollo. </a:t>
            </a:r>
            <a:endParaRPr sz="2100" dirty="0"/>
          </a:p>
          <a:p>
            <a:pPr marL="0" lvl="0" indent="0" algn="l" rtl="0">
              <a:lnSpc>
                <a:spcPct val="90000"/>
              </a:lnSpc>
              <a:spcBef>
                <a:spcPts val="1220"/>
              </a:spcBef>
              <a:spcAft>
                <a:spcPts val="0"/>
              </a:spcAft>
              <a:buSzPts val="1800"/>
              <a:buNone/>
            </a:pPr>
            <a:endParaRPr dirty="0"/>
          </a:p>
        </p:txBody>
      </p:sp>
      <p:sp>
        <p:nvSpPr>
          <p:cNvPr id="545" name="Google Shape;545;p41"/>
          <p:cNvSpPr txBox="1">
            <a:spLocks noGrp="1"/>
          </p:cNvSpPr>
          <p:nvPr>
            <p:ph type="sldNum" idx="12"/>
          </p:nvPr>
        </p:nvSpPr>
        <p:spPr>
          <a:xfrm>
            <a:off x="9900459" y="6459787"/>
            <a:ext cx="13119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41</a:t>
            </a:fld>
            <a:endParaRPr/>
          </a:p>
        </p:txBody>
      </p:sp>
      <p:pic>
        <p:nvPicPr>
          <p:cNvPr id="546" name="Google Shape;546;p41"/>
          <p:cNvPicPr preferRelativeResize="0"/>
          <p:nvPr/>
        </p:nvPicPr>
        <p:blipFill rotWithShape="1">
          <a:blip r:embed="rId3">
            <a:alphaModFix/>
          </a:blip>
          <a:srcRect/>
          <a:stretch/>
        </p:blipFill>
        <p:spPr>
          <a:xfrm>
            <a:off x="9241790" y="137801"/>
            <a:ext cx="1678745" cy="13811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42"/>
          <p:cNvSpPr txBox="1">
            <a:spLocks noGrp="1"/>
          </p:cNvSpPr>
          <p:nvPr>
            <p:ph type="title"/>
          </p:nvPr>
        </p:nvSpPr>
        <p:spPr>
          <a:xfrm>
            <a:off x="1097280" y="286605"/>
            <a:ext cx="10058400" cy="1450800"/>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1800"/>
              <a:buNone/>
            </a:pPr>
            <a:r>
              <a:rPr lang="es-ES"/>
              <a:t>KANBAN</a:t>
            </a:r>
            <a:endParaRPr/>
          </a:p>
        </p:txBody>
      </p:sp>
      <p:sp>
        <p:nvSpPr>
          <p:cNvPr id="552" name="Google Shape;552;p42"/>
          <p:cNvSpPr txBox="1">
            <a:spLocks noGrp="1"/>
          </p:cNvSpPr>
          <p:nvPr>
            <p:ph type="body" idx="1"/>
          </p:nvPr>
        </p:nvSpPr>
        <p:spPr>
          <a:xfrm>
            <a:off x="1097280" y="1886209"/>
            <a:ext cx="10058400" cy="4081616"/>
          </a:xfrm>
          <a:prstGeom prst="rect">
            <a:avLst/>
          </a:prstGeom>
          <a:noFill/>
          <a:ln>
            <a:noFill/>
          </a:ln>
        </p:spPr>
        <p:txBody>
          <a:bodyPr spcFirstLastPara="1" wrap="square" lIns="0" tIns="45700" rIns="0" bIns="45700" anchor="t" anchorCtr="0">
            <a:normAutofit/>
          </a:bodyPr>
          <a:lstStyle/>
          <a:p>
            <a:pPr marL="0" lvl="0" indent="0" algn="just" rtl="0">
              <a:lnSpc>
                <a:spcPct val="111000"/>
              </a:lnSpc>
              <a:spcBef>
                <a:spcPts val="1195"/>
              </a:spcBef>
              <a:spcAft>
                <a:spcPts val="0"/>
              </a:spcAft>
              <a:buSzPct val="117647"/>
              <a:buNone/>
            </a:pPr>
            <a:r>
              <a:rPr lang="es-ES" sz="1800" dirty="0">
                <a:solidFill>
                  <a:srgbClr val="000000"/>
                </a:solidFill>
                <a:latin typeface="Calibri"/>
                <a:ea typeface="Calibri"/>
                <a:cs typeface="Calibri"/>
                <a:sym typeface="Calibri"/>
              </a:rPr>
              <a:t>A primera vista, el tablero Kanban se asemeja a un proceso en cascada. Pero en la práctica, evita explícitamente los problemas de un proceso de estas características mediante la aplicación de lotes pequeños de trabajo y el desarrollo incremental. </a:t>
            </a:r>
            <a:endParaRPr sz="1800" dirty="0"/>
          </a:p>
          <a:p>
            <a:pPr marL="0" lvl="0" indent="0" algn="just" rtl="0">
              <a:lnSpc>
                <a:spcPct val="111000"/>
              </a:lnSpc>
              <a:spcBef>
                <a:spcPts val="1220"/>
              </a:spcBef>
              <a:spcAft>
                <a:spcPts val="0"/>
              </a:spcAft>
              <a:buSzPct val="117647"/>
              <a:buNone/>
            </a:pPr>
            <a:r>
              <a:rPr lang="es-ES" sz="1800" dirty="0">
                <a:solidFill>
                  <a:srgbClr val="000000"/>
                </a:solidFill>
                <a:latin typeface="Calibri"/>
                <a:ea typeface="Calibri"/>
                <a:cs typeface="Calibri"/>
                <a:sym typeface="Calibri"/>
              </a:rPr>
              <a:t>Está compuesto por una serie de columnas que representan los diversos estados que atraviesa un requerimiento durante el proceso de desarrollo. Las tarjetas se mueven de un estado a otro mostrando la evolución hasta que haya sido aceptado por el cliente.</a:t>
            </a:r>
            <a:endParaRPr sz="1800" dirty="0"/>
          </a:p>
          <a:p>
            <a:pPr marL="0" lvl="0" indent="0" algn="just" rtl="0">
              <a:lnSpc>
                <a:spcPct val="111000"/>
              </a:lnSpc>
              <a:spcBef>
                <a:spcPts val="1220"/>
              </a:spcBef>
              <a:spcAft>
                <a:spcPts val="0"/>
              </a:spcAft>
              <a:buSzPct val="117647"/>
              <a:buNone/>
            </a:pPr>
            <a:r>
              <a:rPr lang="es-ES" sz="1800" dirty="0">
                <a:solidFill>
                  <a:srgbClr val="000000"/>
                </a:solidFill>
                <a:latin typeface="Calibri"/>
                <a:ea typeface="Calibri"/>
                <a:cs typeface="Calibri"/>
                <a:sym typeface="Calibri"/>
              </a:rPr>
              <a:t>Cada columna tendrá un límite para el trabajo en curso. Cuando una tarea es completada en una columna, esta se mueve a la siguiente. De esta forma, se crea un espacio libre en la columna actual representando capacidad de trabajo disponible. El equipo entonces toma una tarea terminada desde el estado anterior y la desplaza hacia el estado actual, ya que hay capacidad para procesarla. </a:t>
            </a:r>
            <a:endParaRPr sz="1800" dirty="0"/>
          </a:p>
          <a:p>
            <a:pPr marL="0" lvl="0" indent="0" algn="l" rtl="0">
              <a:lnSpc>
                <a:spcPct val="90000"/>
              </a:lnSpc>
              <a:spcBef>
                <a:spcPts val="1220"/>
              </a:spcBef>
              <a:spcAft>
                <a:spcPts val="0"/>
              </a:spcAft>
              <a:buSzPct val="100840"/>
              <a:buNone/>
            </a:pPr>
            <a:endParaRPr sz="1800" dirty="0"/>
          </a:p>
        </p:txBody>
      </p:sp>
      <p:sp>
        <p:nvSpPr>
          <p:cNvPr id="553" name="Google Shape;553;p42"/>
          <p:cNvSpPr txBox="1">
            <a:spLocks noGrp="1"/>
          </p:cNvSpPr>
          <p:nvPr>
            <p:ph type="sldNum" idx="12"/>
          </p:nvPr>
        </p:nvSpPr>
        <p:spPr>
          <a:xfrm>
            <a:off x="9175418" y="3046037"/>
            <a:ext cx="2926080" cy="1397039"/>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s-ES"/>
              <a:t>42</a:t>
            </a:fld>
            <a:endParaRPr/>
          </a:p>
        </p:txBody>
      </p:sp>
      <p:pic>
        <p:nvPicPr>
          <p:cNvPr id="554" name="Google Shape;554;p42"/>
          <p:cNvPicPr preferRelativeResize="0"/>
          <p:nvPr/>
        </p:nvPicPr>
        <p:blipFill rotWithShape="1">
          <a:blip r:embed="rId3">
            <a:alphaModFix/>
          </a:blip>
          <a:srcRect l="4590" t="6175" r="4057" b="6054"/>
          <a:stretch/>
        </p:blipFill>
        <p:spPr>
          <a:xfrm>
            <a:off x="6509499" y="3744556"/>
            <a:ext cx="5119090" cy="2425415"/>
          </a:xfrm>
          <a:prstGeom prst="rect">
            <a:avLst/>
          </a:prstGeom>
          <a:solidFill>
            <a:schemeClr val="accent3"/>
          </a:solidFill>
          <a:ln>
            <a:noFill/>
          </a:ln>
        </p:spPr>
      </p:pic>
      <p:pic>
        <p:nvPicPr>
          <p:cNvPr id="555" name="Google Shape;555;p42"/>
          <p:cNvPicPr preferRelativeResize="0"/>
          <p:nvPr/>
        </p:nvPicPr>
        <p:blipFill rotWithShape="1">
          <a:blip r:embed="rId4">
            <a:alphaModFix/>
          </a:blip>
          <a:srcRect/>
          <a:stretch/>
        </p:blipFill>
        <p:spPr>
          <a:xfrm>
            <a:off x="9241790" y="137801"/>
            <a:ext cx="1678745" cy="1381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Retrospección">
  <a:themeElements>
    <a:clrScheme name="Verde">
      <a:dk1>
        <a:srgbClr val="000000"/>
      </a:dk1>
      <a:lt1>
        <a:srgbClr val="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3468</Words>
  <Application>Microsoft Office PowerPoint</Application>
  <PresentationFormat>Panorámica</PresentationFormat>
  <Paragraphs>304</Paragraphs>
  <Slides>42</Slides>
  <Notes>42</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42</vt:i4>
      </vt:variant>
    </vt:vector>
  </HeadingPairs>
  <TitlesOfParts>
    <vt:vector size="48" baseType="lpstr">
      <vt:lpstr>Noto Sans Symbols</vt:lpstr>
      <vt:lpstr>Arial</vt:lpstr>
      <vt:lpstr>Calibri</vt:lpstr>
      <vt:lpstr>Raleway</vt:lpstr>
      <vt:lpstr>Retrospección</vt:lpstr>
      <vt:lpstr>Retrospección</vt:lpstr>
      <vt:lpstr>Ingeniería de Software I </vt:lpstr>
      <vt:lpstr>Metodologías Ágiles</vt:lpstr>
      <vt:lpstr>Metodologías Ágiles Introducción</vt:lpstr>
      <vt:lpstr>Metodologías Ágiles Introducción</vt:lpstr>
      <vt:lpstr>Reseña...</vt:lpstr>
      <vt:lpstr>Un Poco De Historia...</vt:lpstr>
      <vt:lpstr>Valores...</vt:lpstr>
      <vt:lpstr>Principios</vt:lpstr>
      <vt:lpstr>Principios...</vt:lpstr>
      <vt:lpstr>Principios...</vt:lpstr>
      <vt:lpstr>Comparación Ágil vs. No Ágil </vt:lpstr>
      <vt:lpstr>Desventajas</vt:lpstr>
      <vt:lpstr>Desventajas</vt:lpstr>
      <vt:lpstr>Principales Metodologías Agiles </vt:lpstr>
      <vt:lpstr>eXtreme Programming</vt:lpstr>
      <vt:lpstr>eXtreme Programming</vt:lpstr>
      <vt:lpstr>Presentación de PowerPoint</vt:lpstr>
      <vt:lpstr>eXtreme Programming - Características</vt:lpstr>
      <vt:lpstr>XP - Roles </vt:lpstr>
      <vt:lpstr>XP - Roles</vt:lpstr>
      <vt:lpstr>XP - Proceso</vt:lpstr>
      <vt:lpstr>XP - Proceso</vt:lpstr>
      <vt:lpstr>XP - Proceso</vt:lpstr>
      <vt:lpstr>XP - Proceso</vt:lpstr>
      <vt:lpstr>XP - Proceso</vt:lpstr>
      <vt:lpstr>XP - Proceso</vt:lpstr>
      <vt:lpstr>XP - Proceso</vt:lpstr>
      <vt:lpstr>eXtreme Programming - Prácticas </vt:lpstr>
      <vt:lpstr>eXtreme Programming - Prácticas </vt:lpstr>
      <vt:lpstr>eXtreme Programming - Prácticas </vt:lpstr>
      <vt:lpstr>Scrum</vt:lpstr>
      <vt:lpstr>Scrum - Principios</vt:lpstr>
      <vt:lpstr>Scrum - Principios</vt:lpstr>
      <vt:lpstr>Roles - Scrum</vt:lpstr>
      <vt:lpstr>Artefactos - Scrum</vt:lpstr>
      <vt:lpstr>Scrum - Proceso</vt:lpstr>
      <vt:lpstr>Scrum - Proceso</vt:lpstr>
      <vt:lpstr>Scrum - Proceso</vt:lpstr>
      <vt:lpstr>¿Cuándo usar Scrum?</vt:lpstr>
      <vt:lpstr>KANBAN</vt:lpstr>
      <vt:lpstr>KANBAN</vt:lpstr>
      <vt:lpstr>KANBAN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Ariel</dc:creator>
  <cp:lastModifiedBy>Rocio Muñoz</cp:lastModifiedBy>
  <cp:revision>15</cp:revision>
  <dcterms:created xsi:type="dcterms:W3CDTF">2011-08-01T13:16:26Z</dcterms:created>
  <dcterms:modified xsi:type="dcterms:W3CDTF">2025-10-21T00:48:39Z</dcterms:modified>
</cp:coreProperties>
</file>